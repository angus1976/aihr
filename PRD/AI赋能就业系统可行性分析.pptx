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82" r:id="rId21"/>
    <p:sldId id="283" r:id="rId22"/>
    <p:sldId id="285" r:id="rId23"/>
    <p:sldId id="286" r:id="rId24"/>
    <p:sldId id="28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5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12700"/>
            <a:ext cx="12192000" cy="6857999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t="-9260" b="-9260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9372599" y="2272192"/>
            <a:ext cx="1409700" cy="2198208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-28213" t="-24205" r="-218918" b="-24205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>
            <a:off x="10782298" y="2272192"/>
            <a:ext cx="1409700" cy="2198208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-212998" t="-117022" r="-194622" b="-1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>
            <a:off x="7962900" y="2272192"/>
            <a:ext cx="1409700" cy="2198208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-66951" r="-66951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6553199" y="2272192"/>
            <a:ext cx="1409700" cy="2198208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217" r="-134119"/>
            </a:stretch>
          </a:blipFill>
          <a:ln>
            <a:prstDash val="solid"/>
            <a:headEnd type="none"/>
            <a:tailEnd type="none"/>
          </a:ln>
        </p:spPr>
      </p:sp>
      <p:cxnSp>
        <p:nvCxnSpPr>
          <p:cNvPr id="8" name="Connector 8"/>
          <p:cNvCxnSpPr/>
          <p:nvPr/>
        </p:nvCxnSpPr>
        <p:spPr>
          <a:xfrm flipH="1">
            <a:off x="7962900" y="0"/>
            <a:ext cx="0" cy="6858000"/>
          </a:xfrm>
          <a:prstGeom prst="line">
            <a:avLst/>
          </a:prstGeom>
          <a:ln w="6350">
            <a:solidFill>
              <a:srgbClr val="768394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cxnSp>
      <p:cxnSp>
        <p:nvCxnSpPr>
          <p:cNvPr id="9" name="Connector 9"/>
          <p:cNvCxnSpPr/>
          <p:nvPr/>
        </p:nvCxnSpPr>
        <p:spPr>
          <a:xfrm flipH="1">
            <a:off x="6553199" y="0"/>
            <a:ext cx="0" cy="6858000"/>
          </a:xfrm>
          <a:prstGeom prst="line">
            <a:avLst/>
          </a:prstGeom>
          <a:ln w="6350">
            <a:solidFill>
              <a:srgbClr val="768394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cxnSp>
      <p:cxnSp>
        <p:nvCxnSpPr>
          <p:cNvPr id="10" name="Connector 10"/>
          <p:cNvCxnSpPr/>
          <p:nvPr/>
        </p:nvCxnSpPr>
        <p:spPr>
          <a:xfrm flipH="1">
            <a:off x="9372600" y="0"/>
            <a:ext cx="0" cy="6858000"/>
          </a:xfrm>
          <a:prstGeom prst="line">
            <a:avLst/>
          </a:prstGeom>
          <a:ln w="6350">
            <a:solidFill>
              <a:srgbClr val="768394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cxnSp>
      <p:cxnSp>
        <p:nvCxnSpPr>
          <p:cNvPr id="11" name="Connector 11"/>
          <p:cNvCxnSpPr/>
          <p:nvPr/>
        </p:nvCxnSpPr>
        <p:spPr>
          <a:xfrm flipH="1">
            <a:off x="10782300" y="0"/>
            <a:ext cx="0" cy="6858000"/>
          </a:xfrm>
          <a:prstGeom prst="line">
            <a:avLst/>
          </a:prstGeom>
          <a:ln w="6350">
            <a:solidFill>
              <a:srgbClr val="768394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372599" y="2272192"/>
            <a:ext cx="1409700" cy="2198208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-28213" t="-24205" r="-218918" b="-24205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10782298" y="2272192"/>
            <a:ext cx="1409700" cy="2198208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-212998" t="-117022" r="-194622" b="-1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7962900" y="2272192"/>
            <a:ext cx="1409700" cy="2198208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-66951" r="-66951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>
            <a:off x="6553199" y="2272192"/>
            <a:ext cx="1409700" cy="2198208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217" r="-134119"/>
            </a:stretch>
          </a:blipFill>
          <a:ln>
            <a:prstDash val="solid"/>
            <a:headEnd type="none"/>
            <a:tailEnd type="none"/>
          </a:ln>
        </p:spPr>
      </p:sp>
      <p:cxnSp>
        <p:nvCxnSpPr>
          <p:cNvPr id="6" name="Connector 6"/>
          <p:cNvCxnSpPr/>
          <p:nvPr/>
        </p:nvCxnSpPr>
        <p:spPr>
          <a:xfrm flipH="1">
            <a:off x="7962900" y="0"/>
            <a:ext cx="0" cy="6858000"/>
          </a:xfrm>
          <a:prstGeom prst="line">
            <a:avLst/>
          </a:prstGeom>
          <a:ln w="6350">
            <a:solidFill>
              <a:srgbClr val="768394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cxnSp>
      <p:cxnSp>
        <p:nvCxnSpPr>
          <p:cNvPr id="7" name="Connector 7"/>
          <p:cNvCxnSpPr/>
          <p:nvPr/>
        </p:nvCxnSpPr>
        <p:spPr>
          <a:xfrm flipH="1">
            <a:off x="6553199" y="0"/>
            <a:ext cx="0" cy="6858000"/>
          </a:xfrm>
          <a:prstGeom prst="line">
            <a:avLst/>
          </a:prstGeom>
          <a:ln w="6350">
            <a:solidFill>
              <a:srgbClr val="768394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cxnSp>
      <p:cxnSp>
        <p:nvCxnSpPr>
          <p:cNvPr id="8" name="Connector 8"/>
          <p:cNvCxnSpPr/>
          <p:nvPr/>
        </p:nvCxnSpPr>
        <p:spPr>
          <a:xfrm flipH="1">
            <a:off x="9372600" y="0"/>
            <a:ext cx="0" cy="6858000"/>
          </a:xfrm>
          <a:prstGeom prst="line">
            <a:avLst/>
          </a:prstGeom>
          <a:ln w="6350">
            <a:solidFill>
              <a:srgbClr val="768394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cxnSp>
      <p:cxnSp>
        <p:nvCxnSpPr>
          <p:cNvPr id="9" name="Connector 9"/>
          <p:cNvCxnSpPr/>
          <p:nvPr/>
        </p:nvCxnSpPr>
        <p:spPr>
          <a:xfrm flipH="1">
            <a:off x="10782300" y="0"/>
            <a:ext cx="0" cy="6858000"/>
          </a:xfrm>
          <a:prstGeom prst="line">
            <a:avLst/>
          </a:prstGeom>
          <a:ln w="6350">
            <a:solidFill>
              <a:srgbClr val="768394">
                <a:alpha val="100000"/>
                <a:lumMod val="20000"/>
                <a:lumOff val="80000"/>
              </a:srgbClr>
            </a:solidFill>
            <a:prstDash val="solid"/>
            <a:headEnd type="none"/>
            <a:tailEnd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000000">
                <a:alpha val="100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12700"/>
            <a:ext cx="12192000" cy="6857999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t="-9260" b="-9260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6096000" y="1140825"/>
            <a:ext cx="1221015" cy="1903984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-28213" t="-24205" r="-218918" b="-24205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>
            <a:off x="7317015" y="1483189"/>
            <a:ext cx="1221015" cy="1903984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-212998" t="-117022" r="-194622" b="-1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>
            <a:off x="4874986" y="1483189"/>
            <a:ext cx="1221015" cy="1903984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-66951" r="-66951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3653970" y="1140825"/>
            <a:ext cx="1221015" cy="1903984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 l="217" r="-134119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7" Type="http://schemas.openxmlformats.org/officeDocument/2006/relationships/slideLayout" Target="../slideLayouts/slideLayout6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tags" Target="../tags/tag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2.xml"/></Relationships>
</file>

<file path=ppt/slides/_rels/slide9.xml.rels><?xml version="1.0" encoding="UTF-8" standalone="yes"?>
<Relationships xmlns="http://schemas.openxmlformats.org/package/2006/relationships"><Relationship Id="rId99" Type="http://schemas.openxmlformats.org/officeDocument/2006/relationships/tags" Target="../tags/tag153.xml"/><Relationship Id="rId98" Type="http://schemas.openxmlformats.org/officeDocument/2006/relationships/tags" Target="../tags/tag152.xml"/><Relationship Id="rId97" Type="http://schemas.openxmlformats.org/officeDocument/2006/relationships/tags" Target="../tags/tag151.xml"/><Relationship Id="rId96" Type="http://schemas.openxmlformats.org/officeDocument/2006/relationships/tags" Target="../tags/tag150.xml"/><Relationship Id="rId95" Type="http://schemas.openxmlformats.org/officeDocument/2006/relationships/tags" Target="../tags/tag149.xml"/><Relationship Id="rId94" Type="http://schemas.openxmlformats.org/officeDocument/2006/relationships/tags" Target="../tags/tag148.xml"/><Relationship Id="rId93" Type="http://schemas.openxmlformats.org/officeDocument/2006/relationships/tags" Target="../tags/tag147.xml"/><Relationship Id="rId92" Type="http://schemas.openxmlformats.org/officeDocument/2006/relationships/tags" Target="../tags/tag146.xml"/><Relationship Id="rId91" Type="http://schemas.openxmlformats.org/officeDocument/2006/relationships/tags" Target="../tags/tag145.xml"/><Relationship Id="rId90" Type="http://schemas.openxmlformats.org/officeDocument/2006/relationships/tags" Target="../tags/tag144.xml"/><Relationship Id="rId9" Type="http://schemas.openxmlformats.org/officeDocument/2006/relationships/tags" Target="../tags/tag63.xml"/><Relationship Id="rId89" Type="http://schemas.openxmlformats.org/officeDocument/2006/relationships/tags" Target="../tags/tag143.xml"/><Relationship Id="rId88" Type="http://schemas.openxmlformats.org/officeDocument/2006/relationships/tags" Target="../tags/tag142.xml"/><Relationship Id="rId87" Type="http://schemas.openxmlformats.org/officeDocument/2006/relationships/tags" Target="../tags/tag141.xml"/><Relationship Id="rId86" Type="http://schemas.openxmlformats.org/officeDocument/2006/relationships/tags" Target="../tags/tag140.xml"/><Relationship Id="rId85" Type="http://schemas.openxmlformats.org/officeDocument/2006/relationships/tags" Target="../tags/tag139.xml"/><Relationship Id="rId84" Type="http://schemas.openxmlformats.org/officeDocument/2006/relationships/tags" Target="../tags/tag138.xml"/><Relationship Id="rId83" Type="http://schemas.openxmlformats.org/officeDocument/2006/relationships/tags" Target="../tags/tag137.xml"/><Relationship Id="rId82" Type="http://schemas.openxmlformats.org/officeDocument/2006/relationships/tags" Target="../tags/tag136.xml"/><Relationship Id="rId81" Type="http://schemas.openxmlformats.org/officeDocument/2006/relationships/tags" Target="../tags/tag135.xml"/><Relationship Id="rId80" Type="http://schemas.openxmlformats.org/officeDocument/2006/relationships/tags" Target="../tags/tag134.xml"/><Relationship Id="rId8" Type="http://schemas.openxmlformats.org/officeDocument/2006/relationships/tags" Target="../tags/tag62.xml"/><Relationship Id="rId79" Type="http://schemas.openxmlformats.org/officeDocument/2006/relationships/tags" Target="../tags/tag133.xml"/><Relationship Id="rId78" Type="http://schemas.openxmlformats.org/officeDocument/2006/relationships/tags" Target="../tags/tag132.xml"/><Relationship Id="rId77" Type="http://schemas.openxmlformats.org/officeDocument/2006/relationships/tags" Target="../tags/tag131.xml"/><Relationship Id="rId76" Type="http://schemas.openxmlformats.org/officeDocument/2006/relationships/tags" Target="../tags/tag130.xml"/><Relationship Id="rId75" Type="http://schemas.openxmlformats.org/officeDocument/2006/relationships/tags" Target="../tags/tag129.xml"/><Relationship Id="rId74" Type="http://schemas.openxmlformats.org/officeDocument/2006/relationships/tags" Target="../tags/tag128.xml"/><Relationship Id="rId73" Type="http://schemas.openxmlformats.org/officeDocument/2006/relationships/tags" Target="../tags/tag127.xml"/><Relationship Id="rId72" Type="http://schemas.openxmlformats.org/officeDocument/2006/relationships/tags" Target="../tags/tag126.xml"/><Relationship Id="rId71" Type="http://schemas.openxmlformats.org/officeDocument/2006/relationships/tags" Target="../tags/tag125.xml"/><Relationship Id="rId70" Type="http://schemas.openxmlformats.org/officeDocument/2006/relationships/tags" Target="../tags/tag124.xml"/><Relationship Id="rId7" Type="http://schemas.openxmlformats.org/officeDocument/2006/relationships/tags" Target="../tags/tag61.xml"/><Relationship Id="rId69" Type="http://schemas.openxmlformats.org/officeDocument/2006/relationships/tags" Target="../tags/tag123.xml"/><Relationship Id="rId68" Type="http://schemas.openxmlformats.org/officeDocument/2006/relationships/tags" Target="../tags/tag122.xml"/><Relationship Id="rId67" Type="http://schemas.openxmlformats.org/officeDocument/2006/relationships/tags" Target="../tags/tag121.xml"/><Relationship Id="rId66" Type="http://schemas.openxmlformats.org/officeDocument/2006/relationships/tags" Target="../tags/tag120.xml"/><Relationship Id="rId65" Type="http://schemas.openxmlformats.org/officeDocument/2006/relationships/tags" Target="../tags/tag119.xml"/><Relationship Id="rId64" Type="http://schemas.openxmlformats.org/officeDocument/2006/relationships/tags" Target="../tags/tag118.xml"/><Relationship Id="rId63" Type="http://schemas.openxmlformats.org/officeDocument/2006/relationships/tags" Target="../tags/tag117.xml"/><Relationship Id="rId62" Type="http://schemas.openxmlformats.org/officeDocument/2006/relationships/tags" Target="../tags/tag116.xml"/><Relationship Id="rId61" Type="http://schemas.openxmlformats.org/officeDocument/2006/relationships/tags" Target="../tags/tag115.xml"/><Relationship Id="rId60" Type="http://schemas.openxmlformats.org/officeDocument/2006/relationships/tags" Target="../tags/tag114.xml"/><Relationship Id="rId6" Type="http://schemas.openxmlformats.org/officeDocument/2006/relationships/tags" Target="../tags/tag60.xml"/><Relationship Id="rId59" Type="http://schemas.openxmlformats.org/officeDocument/2006/relationships/tags" Target="../tags/tag113.xml"/><Relationship Id="rId58" Type="http://schemas.openxmlformats.org/officeDocument/2006/relationships/tags" Target="../tags/tag112.xml"/><Relationship Id="rId57" Type="http://schemas.openxmlformats.org/officeDocument/2006/relationships/tags" Target="../tags/tag111.xml"/><Relationship Id="rId56" Type="http://schemas.openxmlformats.org/officeDocument/2006/relationships/tags" Target="../tags/tag110.xml"/><Relationship Id="rId55" Type="http://schemas.openxmlformats.org/officeDocument/2006/relationships/tags" Target="../tags/tag109.xml"/><Relationship Id="rId54" Type="http://schemas.openxmlformats.org/officeDocument/2006/relationships/tags" Target="../tags/tag108.xml"/><Relationship Id="rId53" Type="http://schemas.openxmlformats.org/officeDocument/2006/relationships/tags" Target="../tags/tag107.xml"/><Relationship Id="rId52" Type="http://schemas.openxmlformats.org/officeDocument/2006/relationships/tags" Target="../tags/tag106.xml"/><Relationship Id="rId51" Type="http://schemas.openxmlformats.org/officeDocument/2006/relationships/tags" Target="../tags/tag105.xml"/><Relationship Id="rId50" Type="http://schemas.openxmlformats.org/officeDocument/2006/relationships/tags" Target="../tags/tag104.xml"/><Relationship Id="rId5" Type="http://schemas.openxmlformats.org/officeDocument/2006/relationships/tags" Target="../tags/tag59.xml"/><Relationship Id="rId49" Type="http://schemas.openxmlformats.org/officeDocument/2006/relationships/tags" Target="../tags/tag103.xml"/><Relationship Id="rId48" Type="http://schemas.openxmlformats.org/officeDocument/2006/relationships/tags" Target="../tags/tag102.xml"/><Relationship Id="rId47" Type="http://schemas.openxmlformats.org/officeDocument/2006/relationships/tags" Target="../tags/tag101.xml"/><Relationship Id="rId46" Type="http://schemas.openxmlformats.org/officeDocument/2006/relationships/tags" Target="../tags/tag100.xml"/><Relationship Id="rId45" Type="http://schemas.openxmlformats.org/officeDocument/2006/relationships/tags" Target="../tags/tag99.xml"/><Relationship Id="rId44" Type="http://schemas.openxmlformats.org/officeDocument/2006/relationships/tags" Target="../tags/tag98.xml"/><Relationship Id="rId43" Type="http://schemas.openxmlformats.org/officeDocument/2006/relationships/tags" Target="../tags/tag97.xml"/><Relationship Id="rId42" Type="http://schemas.openxmlformats.org/officeDocument/2006/relationships/tags" Target="../tags/tag96.xml"/><Relationship Id="rId41" Type="http://schemas.openxmlformats.org/officeDocument/2006/relationships/tags" Target="../tags/tag95.xml"/><Relationship Id="rId40" Type="http://schemas.openxmlformats.org/officeDocument/2006/relationships/tags" Target="../tags/tag94.xml"/><Relationship Id="rId4" Type="http://schemas.openxmlformats.org/officeDocument/2006/relationships/tags" Target="../tags/tag58.xml"/><Relationship Id="rId39" Type="http://schemas.openxmlformats.org/officeDocument/2006/relationships/tags" Target="../tags/tag93.xml"/><Relationship Id="rId38" Type="http://schemas.openxmlformats.org/officeDocument/2006/relationships/tags" Target="../tags/tag92.xml"/><Relationship Id="rId37" Type="http://schemas.openxmlformats.org/officeDocument/2006/relationships/tags" Target="../tags/tag91.xml"/><Relationship Id="rId36" Type="http://schemas.openxmlformats.org/officeDocument/2006/relationships/tags" Target="../tags/tag90.xml"/><Relationship Id="rId35" Type="http://schemas.openxmlformats.org/officeDocument/2006/relationships/tags" Target="../tags/tag89.xml"/><Relationship Id="rId34" Type="http://schemas.openxmlformats.org/officeDocument/2006/relationships/tags" Target="../tags/tag88.xml"/><Relationship Id="rId33" Type="http://schemas.openxmlformats.org/officeDocument/2006/relationships/tags" Target="../tags/tag87.xml"/><Relationship Id="rId32" Type="http://schemas.openxmlformats.org/officeDocument/2006/relationships/tags" Target="../tags/tag86.xml"/><Relationship Id="rId31" Type="http://schemas.openxmlformats.org/officeDocument/2006/relationships/tags" Target="../tags/tag85.xml"/><Relationship Id="rId30" Type="http://schemas.openxmlformats.org/officeDocument/2006/relationships/tags" Target="../tags/tag84.xml"/><Relationship Id="rId3" Type="http://schemas.openxmlformats.org/officeDocument/2006/relationships/tags" Target="../tags/tag57.xml"/><Relationship Id="rId29" Type="http://schemas.openxmlformats.org/officeDocument/2006/relationships/tags" Target="../tags/tag83.xml"/><Relationship Id="rId28" Type="http://schemas.openxmlformats.org/officeDocument/2006/relationships/tags" Target="../tags/tag82.xml"/><Relationship Id="rId27" Type="http://schemas.openxmlformats.org/officeDocument/2006/relationships/tags" Target="../tags/tag81.xml"/><Relationship Id="rId26" Type="http://schemas.openxmlformats.org/officeDocument/2006/relationships/tags" Target="../tags/tag80.xml"/><Relationship Id="rId25" Type="http://schemas.openxmlformats.org/officeDocument/2006/relationships/tags" Target="../tags/tag79.xml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6" Type="http://schemas.openxmlformats.org/officeDocument/2006/relationships/slideLayout" Target="../slideLayouts/slideLayout6.xml"/><Relationship Id="rId215" Type="http://schemas.openxmlformats.org/officeDocument/2006/relationships/tags" Target="../tags/tag269.xml"/><Relationship Id="rId214" Type="http://schemas.openxmlformats.org/officeDocument/2006/relationships/tags" Target="../tags/tag268.xml"/><Relationship Id="rId213" Type="http://schemas.openxmlformats.org/officeDocument/2006/relationships/tags" Target="../tags/tag267.xml"/><Relationship Id="rId212" Type="http://schemas.openxmlformats.org/officeDocument/2006/relationships/tags" Target="../tags/tag266.xml"/><Relationship Id="rId211" Type="http://schemas.openxmlformats.org/officeDocument/2006/relationships/tags" Target="../tags/tag265.xml"/><Relationship Id="rId210" Type="http://schemas.openxmlformats.org/officeDocument/2006/relationships/tags" Target="../tags/tag264.xml"/><Relationship Id="rId21" Type="http://schemas.openxmlformats.org/officeDocument/2006/relationships/tags" Target="../tags/tag75.xml"/><Relationship Id="rId209" Type="http://schemas.openxmlformats.org/officeDocument/2006/relationships/tags" Target="../tags/tag263.xml"/><Relationship Id="rId208" Type="http://schemas.openxmlformats.org/officeDocument/2006/relationships/tags" Target="../tags/tag262.xml"/><Relationship Id="rId207" Type="http://schemas.openxmlformats.org/officeDocument/2006/relationships/tags" Target="../tags/tag261.xml"/><Relationship Id="rId206" Type="http://schemas.openxmlformats.org/officeDocument/2006/relationships/tags" Target="../tags/tag260.xml"/><Relationship Id="rId205" Type="http://schemas.openxmlformats.org/officeDocument/2006/relationships/tags" Target="../tags/tag259.xml"/><Relationship Id="rId204" Type="http://schemas.openxmlformats.org/officeDocument/2006/relationships/tags" Target="../tags/tag258.xml"/><Relationship Id="rId203" Type="http://schemas.openxmlformats.org/officeDocument/2006/relationships/tags" Target="../tags/tag257.xml"/><Relationship Id="rId202" Type="http://schemas.openxmlformats.org/officeDocument/2006/relationships/tags" Target="../tags/tag256.xml"/><Relationship Id="rId201" Type="http://schemas.openxmlformats.org/officeDocument/2006/relationships/tags" Target="../tags/tag255.xml"/><Relationship Id="rId200" Type="http://schemas.openxmlformats.org/officeDocument/2006/relationships/tags" Target="../tags/tag254.xml"/><Relationship Id="rId20" Type="http://schemas.openxmlformats.org/officeDocument/2006/relationships/tags" Target="../tags/tag74.xml"/><Relationship Id="rId2" Type="http://schemas.openxmlformats.org/officeDocument/2006/relationships/tags" Target="../tags/tag56.xml"/><Relationship Id="rId199" Type="http://schemas.openxmlformats.org/officeDocument/2006/relationships/tags" Target="../tags/tag253.xml"/><Relationship Id="rId198" Type="http://schemas.openxmlformats.org/officeDocument/2006/relationships/tags" Target="../tags/tag252.xml"/><Relationship Id="rId197" Type="http://schemas.openxmlformats.org/officeDocument/2006/relationships/tags" Target="../tags/tag251.xml"/><Relationship Id="rId196" Type="http://schemas.openxmlformats.org/officeDocument/2006/relationships/tags" Target="../tags/tag250.xml"/><Relationship Id="rId195" Type="http://schemas.openxmlformats.org/officeDocument/2006/relationships/tags" Target="../tags/tag249.xml"/><Relationship Id="rId194" Type="http://schemas.openxmlformats.org/officeDocument/2006/relationships/tags" Target="../tags/tag248.xml"/><Relationship Id="rId193" Type="http://schemas.openxmlformats.org/officeDocument/2006/relationships/tags" Target="../tags/tag247.xml"/><Relationship Id="rId192" Type="http://schemas.openxmlformats.org/officeDocument/2006/relationships/tags" Target="../tags/tag246.xml"/><Relationship Id="rId191" Type="http://schemas.openxmlformats.org/officeDocument/2006/relationships/tags" Target="../tags/tag245.xml"/><Relationship Id="rId190" Type="http://schemas.openxmlformats.org/officeDocument/2006/relationships/tags" Target="../tags/tag244.xml"/><Relationship Id="rId19" Type="http://schemas.openxmlformats.org/officeDocument/2006/relationships/tags" Target="../tags/tag73.xml"/><Relationship Id="rId189" Type="http://schemas.openxmlformats.org/officeDocument/2006/relationships/tags" Target="../tags/tag243.xml"/><Relationship Id="rId188" Type="http://schemas.openxmlformats.org/officeDocument/2006/relationships/tags" Target="../tags/tag242.xml"/><Relationship Id="rId187" Type="http://schemas.openxmlformats.org/officeDocument/2006/relationships/tags" Target="../tags/tag241.xml"/><Relationship Id="rId186" Type="http://schemas.openxmlformats.org/officeDocument/2006/relationships/tags" Target="../tags/tag240.xml"/><Relationship Id="rId185" Type="http://schemas.openxmlformats.org/officeDocument/2006/relationships/tags" Target="../tags/tag239.xml"/><Relationship Id="rId184" Type="http://schemas.openxmlformats.org/officeDocument/2006/relationships/tags" Target="../tags/tag238.xml"/><Relationship Id="rId183" Type="http://schemas.openxmlformats.org/officeDocument/2006/relationships/tags" Target="../tags/tag237.xml"/><Relationship Id="rId182" Type="http://schemas.openxmlformats.org/officeDocument/2006/relationships/tags" Target="../tags/tag236.xml"/><Relationship Id="rId181" Type="http://schemas.openxmlformats.org/officeDocument/2006/relationships/tags" Target="../tags/tag235.xml"/><Relationship Id="rId180" Type="http://schemas.openxmlformats.org/officeDocument/2006/relationships/tags" Target="../tags/tag234.xml"/><Relationship Id="rId18" Type="http://schemas.openxmlformats.org/officeDocument/2006/relationships/tags" Target="../tags/tag72.xml"/><Relationship Id="rId179" Type="http://schemas.openxmlformats.org/officeDocument/2006/relationships/tags" Target="../tags/tag233.xml"/><Relationship Id="rId178" Type="http://schemas.openxmlformats.org/officeDocument/2006/relationships/tags" Target="../tags/tag232.xml"/><Relationship Id="rId177" Type="http://schemas.openxmlformats.org/officeDocument/2006/relationships/tags" Target="../tags/tag231.xml"/><Relationship Id="rId176" Type="http://schemas.openxmlformats.org/officeDocument/2006/relationships/tags" Target="../tags/tag230.xml"/><Relationship Id="rId175" Type="http://schemas.openxmlformats.org/officeDocument/2006/relationships/tags" Target="../tags/tag229.xml"/><Relationship Id="rId174" Type="http://schemas.openxmlformats.org/officeDocument/2006/relationships/tags" Target="../tags/tag228.xml"/><Relationship Id="rId173" Type="http://schemas.openxmlformats.org/officeDocument/2006/relationships/tags" Target="../tags/tag227.xml"/><Relationship Id="rId172" Type="http://schemas.openxmlformats.org/officeDocument/2006/relationships/tags" Target="../tags/tag226.xml"/><Relationship Id="rId171" Type="http://schemas.openxmlformats.org/officeDocument/2006/relationships/tags" Target="../tags/tag225.xml"/><Relationship Id="rId170" Type="http://schemas.openxmlformats.org/officeDocument/2006/relationships/tags" Target="../tags/tag224.xml"/><Relationship Id="rId17" Type="http://schemas.openxmlformats.org/officeDocument/2006/relationships/tags" Target="../tags/tag71.xml"/><Relationship Id="rId169" Type="http://schemas.openxmlformats.org/officeDocument/2006/relationships/tags" Target="../tags/tag223.xml"/><Relationship Id="rId168" Type="http://schemas.openxmlformats.org/officeDocument/2006/relationships/tags" Target="../tags/tag222.xml"/><Relationship Id="rId167" Type="http://schemas.openxmlformats.org/officeDocument/2006/relationships/tags" Target="../tags/tag221.xml"/><Relationship Id="rId166" Type="http://schemas.openxmlformats.org/officeDocument/2006/relationships/tags" Target="../tags/tag220.xml"/><Relationship Id="rId165" Type="http://schemas.openxmlformats.org/officeDocument/2006/relationships/tags" Target="../tags/tag219.xml"/><Relationship Id="rId164" Type="http://schemas.openxmlformats.org/officeDocument/2006/relationships/tags" Target="../tags/tag218.xml"/><Relationship Id="rId163" Type="http://schemas.openxmlformats.org/officeDocument/2006/relationships/tags" Target="../tags/tag217.xml"/><Relationship Id="rId162" Type="http://schemas.openxmlformats.org/officeDocument/2006/relationships/tags" Target="../tags/tag216.xml"/><Relationship Id="rId161" Type="http://schemas.openxmlformats.org/officeDocument/2006/relationships/tags" Target="../tags/tag215.xml"/><Relationship Id="rId160" Type="http://schemas.openxmlformats.org/officeDocument/2006/relationships/tags" Target="../tags/tag214.xml"/><Relationship Id="rId16" Type="http://schemas.openxmlformats.org/officeDocument/2006/relationships/tags" Target="../tags/tag70.xml"/><Relationship Id="rId159" Type="http://schemas.openxmlformats.org/officeDocument/2006/relationships/tags" Target="../tags/tag213.xml"/><Relationship Id="rId158" Type="http://schemas.openxmlformats.org/officeDocument/2006/relationships/tags" Target="../tags/tag212.xml"/><Relationship Id="rId157" Type="http://schemas.openxmlformats.org/officeDocument/2006/relationships/tags" Target="../tags/tag211.xml"/><Relationship Id="rId156" Type="http://schemas.openxmlformats.org/officeDocument/2006/relationships/tags" Target="../tags/tag210.xml"/><Relationship Id="rId155" Type="http://schemas.openxmlformats.org/officeDocument/2006/relationships/tags" Target="../tags/tag209.xml"/><Relationship Id="rId154" Type="http://schemas.openxmlformats.org/officeDocument/2006/relationships/tags" Target="../tags/tag208.xml"/><Relationship Id="rId153" Type="http://schemas.openxmlformats.org/officeDocument/2006/relationships/tags" Target="../tags/tag207.xml"/><Relationship Id="rId152" Type="http://schemas.openxmlformats.org/officeDocument/2006/relationships/tags" Target="../tags/tag206.xml"/><Relationship Id="rId151" Type="http://schemas.openxmlformats.org/officeDocument/2006/relationships/tags" Target="../tags/tag205.xml"/><Relationship Id="rId150" Type="http://schemas.openxmlformats.org/officeDocument/2006/relationships/tags" Target="../tags/tag204.xml"/><Relationship Id="rId15" Type="http://schemas.openxmlformats.org/officeDocument/2006/relationships/tags" Target="../tags/tag69.xml"/><Relationship Id="rId149" Type="http://schemas.openxmlformats.org/officeDocument/2006/relationships/tags" Target="../tags/tag203.xml"/><Relationship Id="rId148" Type="http://schemas.openxmlformats.org/officeDocument/2006/relationships/tags" Target="../tags/tag202.xml"/><Relationship Id="rId147" Type="http://schemas.openxmlformats.org/officeDocument/2006/relationships/tags" Target="../tags/tag201.xml"/><Relationship Id="rId146" Type="http://schemas.openxmlformats.org/officeDocument/2006/relationships/tags" Target="../tags/tag200.xml"/><Relationship Id="rId145" Type="http://schemas.openxmlformats.org/officeDocument/2006/relationships/tags" Target="../tags/tag199.xml"/><Relationship Id="rId144" Type="http://schemas.openxmlformats.org/officeDocument/2006/relationships/tags" Target="../tags/tag198.xml"/><Relationship Id="rId143" Type="http://schemas.openxmlformats.org/officeDocument/2006/relationships/tags" Target="../tags/tag197.xml"/><Relationship Id="rId142" Type="http://schemas.openxmlformats.org/officeDocument/2006/relationships/tags" Target="../tags/tag196.xml"/><Relationship Id="rId141" Type="http://schemas.openxmlformats.org/officeDocument/2006/relationships/tags" Target="../tags/tag195.xml"/><Relationship Id="rId140" Type="http://schemas.openxmlformats.org/officeDocument/2006/relationships/tags" Target="../tags/tag194.xml"/><Relationship Id="rId14" Type="http://schemas.openxmlformats.org/officeDocument/2006/relationships/tags" Target="../tags/tag68.xml"/><Relationship Id="rId139" Type="http://schemas.openxmlformats.org/officeDocument/2006/relationships/tags" Target="../tags/tag193.xml"/><Relationship Id="rId138" Type="http://schemas.openxmlformats.org/officeDocument/2006/relationships/tags" Target="../tags/tag192.xml"/><Relationship Id="rId137" Type="http://schemas.openxmlformats.org/officeDocument/2006/relationships/tags" Target="../tags/tag191.xml"/><Relationship Id="rId136" Type="http://schemas.openxmlformats.org/officeDocument/2006/relationships/tags" Target="../tags/tag190.xml"/><Relationship Id="rId135" Type="http://schemas.openxmlformats.org/officeDocument/2006/relationships/tags" Target="../tags/tag189.xml"/><Relationship Id="rId134" Type="http://schemas.openxmlformats.org/officeDocument/2006/relationships/tags" Target="../tags/tag188.xml"/><Relationship Id="rId133" Type="http://schemas.openxmlformats.org/officeDocument/2006/relationships/tags" Target="../tags/tag187.xml"/><Relationship Id="rId132" Type="http://schemas.openxmlformats.org/officeDocument/2006/relationships/tags" Target="../tags/tag186.xml"/><Relationship Id="rId131" Type="http://schemas.openxmlformats.org/officeDocument/2006/relationships/tags" Target="../tags/tag185.xml"/><Relationship Id="rId130" Type="http://schemas.openxmlformats.org/officeDocument/2006/relationships/tags" Target="../tags/tag184.xml"/><Relationship Id="rId13" Type="http://schemas.openxmlformats.org/officeDocument/2006/relationships/tags" Target="../tags/tag67.xml"/><Relationship Id="rId129" Type="http://schemas.openxmlformats.org/officeDocument/2006/relationships/tags" Target="../tags/tag183.xml"/><Relationship Id="rId128" Type="http://schemas.openxmlformats.org/officeDocument/2006/relationships/tags" Target="../tags/tag182.xml"/><Relationship Id="rId127" Type="http://schemas.openxmlformats.org/officeDocument/2006/relationships/tags" Target="../tags/tag181.xml"/><Relationship Id="rId126" Type="http://schemas.openxmlformats.org/officeDocument/2006/relationships/tags" Target="../tags/tag180.xml"/><Relationship Id="rId125" Type="http://schemas.openxmlformats.org/officeDocument/2006/relationships/tags" Target="../tags/tag179.xml"/><Relationship Id="rId124" Type="http://schemas.openxmlformats.org/officeDocument/2006/relationships/tags" Target="../tags/tag178.xml"/><Relationship Id="rId123" Type="http://schemas.openxmlformats.org/officeDocument/2006/relationships/tags" Target="../tags/tag177.xml"/><Relationship Id="rId122" Type="http://schemas.openxmlformats.org/officeDocument/2006/relationships/tags" Target="../tags/tag176.xml"/><Relationship Id="rId121" Type="http://schemas.openxmlformats.org/officeDocument/2006/relationships/tags" Target="../tags/tag175.xml"/><Relationship Id="rId120" Type="http://schemas.openxmlformats.org/officeDocument/2006/relationships/tags" Target="../tags/tag174.xml"/><Relationship Id="rId12" Type="http://schemas.openxmlformats.org/officeDocument/2006/relationships/tags" Target="../tags/tag66.xml"/><Relationship Id="rId119" Type="http://schemas.openxmlformats.org/officeDocument/2006/relationships/tags" Target="../tags/tag173.xml"/><Relationship Id="rId118" Type="http://schemas.openxmlformats.org/officeDocument/2006/relationships/tags" Target="../tags/tag172.xml"/><Relationship Id="rId117" Type="http://schemas.openxmlformats.org/officeDocument/2006/relationships/tags" Target="../tags/tag171.xml"/><Relationship Id="rId116" Type="http://schemas.openxmlformats.org/officeDocument/2006/relationships/tags" Target="../tags/tag170.xml"/><Relationship Id="rId115" Type="http://schemas.openxmlformats.org/officeDocument/2006/relationships/tags" Target="../tags/tag169.xml"/><Relationship Id="rId114" Type="http://schemas.openxmlformats.org/officeDocument/2006/relationships/tags" Target="../tags/tag168.xml"/><Relationship Id="rId113" Type="http://schemas.openxmlformats.org/officeDocument/2006/relationships/tags" Target="../tags/tag167.xml"/><Relationship Id="rId112" Type="http://schemas.openxmlformats.org/officeDocument/2006/relationships/tags" Target="../tags/tag166.xml"/><Relationship Id="rId111" Type="http://schemas.openxmlformats.org/officeDocument/2006/relationships/tags" Target="../tags/tag165.xml"/><Relationship Id="rId110" Type="http://schemas.openxmlformats.org/officeDocument/2006/relationships/tags" Target="../tags/tag164.xml"/><Relationship Id="rId11" Type="http://schemas.openxmlformats.org/officeDocument/2006/relationships/tags" Target="../tags/tag65.xml"/><Relationship Id="rId109" Type="http://schemas.openxmlformats.org/officeDocument/2006/relationships/tags" Target="../tags/tag163.xml"/><Relationship Id="rId108" Type="http://schemas.openxmlformats.org/officeDocument/2006/relationships/tags" Target="../tags/tag162.xml"/><Relationship Id="rId107" Type="http://schemas.openxmlformats.org/officeDocument/2006/relationships/tags" Target="../tags/tag161.xml"/><Relationship Id="rId106" Type="http://schemas.openxmlformats.org/officeDocument/2006/relationships/tags" Target="../tags/tag160.xml"/><Relationship Id="rId105" Type="http://schemas.openxmlformats.org/officeDocument/2006/relationships/tags" Target="../tags/tag159.xml"/><Relationship Id="rId104" Type="http://schemas.openxmlformats.org/officeDocument/2006/relationships/tags" Target="../tags/tag158.xml"/><Relationship Id="rId103" Type="http://schemas.openxmlformats.org/officeDocument/2006/relationships/tags" Target="../tags/tag157.xml"/><Relationship Id="rId102" Type="http://schemas.openxmlformats.org/officeDocument/2006/relationships/tags" Target="../tags/tag156.xml"/><Relationship Id="rId101" Type="http://schemas.openxmlformats.org/officeDocument/2006/relationships/tags" Target="../tags/tag155.xml"/><Relationship Id="rId100" Type="http://schemas.openxmlformats.org/officeDocument/2006/relationships/tags" Target="../tags/tag154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78.xml"/><Relationship Id="rId8" Type="http://schemas.openxmlformats.org/officeDocument/2006/relationships/tags" Target="../tags/tag277.xml"/><Relationship Id="rId7" Type="http://schemas.openxmlformats.org/officeDocument/2006/relationships/tags" Target="../tags/tag276.xml"/><Relationship Id="rId6" Type="http://schemas.openxmlformats.org/officeDocument/2006/relationships/tags" Target="../tags/tag275.xml"/><Relationship Id="rId5" Type="http://schemas.openxmlformats.org/officeDocument/2006/relationships/tags" Target="../tags/tag274.xml"/><Relationship Id="rId4" Type="http://schemas.openxmlformats.org/officeDocument/2006/relationships/tags" Target="../tags/tag273.xml"/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282.xml"/><Relationship Id="rId12" Type="http://schemas.openxmlformats.org/officeDocument/2006/relationships/tags" Target="../tags/tag281.xml"/><Relationship Id="rId11" Type="http://schemas.openxmlformats.org/officeDocument/2006/relationships/tags" Target="../tags/tag280.xml"/><Relationship Id="rId10" Type="http://schemas.openxmlformats.org/officeDocument/2006/relationships/tags" Target="../tags/tag279.xml"/><Relationship Id="rId1" Type="http://schemas.openxmlformats.org/officeDocument/2006/relationships/tags" Target="../tags/tag27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91.xml"/><Relationship Id="rId8" Type="http://schemas.openxmlformats.org/officeDocument/2006/relationships/tags" Target="../tags/tag290.xml"/><Relationship Id="rId7" Type="http://schemas.openxmlformats.org/officeDocument/2006/relationships/tags" Target="../tags/tag289.xml"/><Relationship Id="rId6" Type="http://schemas.openxmlformats.org/officeDocument/2006/relationships/tags" Target="../tags/tag288.xml"/><Relationship Id="rId5" Type="http://schemas.openxmlformats.org/officeDocument/2006/relationships/tags" Target="../tags/tag287.xml"/><Relationship Id="rId4" Type="http://schemas.openxmlformats.org/officeDocument/2006/relationships/tags" Target="../tags/tag286.xml"/><Relationship Id="rId32" Type="http://schemas.openxmlformats.org/officeDocument/2006/relationships/slideLayout" Target="../slideLayouts/slideLayout6.xml"/><Relationship Id="rId31" Type="http://schemas.openxmlformats.org/officeDocument/2006/relationships/tags" Target="../tags/tag313.xml"/><Relationship Id="rId30" Type="http://schemas.openxmlformats.org/officeDocument/2006/relationships/tags" Target="../tags/tag312.xml"/><Relationship Id="rId3" Type="http://schemas.openxmlformats.org/officeDocument/2006/relationships/tags" Target="../tags/tag285.xml"/><Relationship Id="rId29" Type="http://schemas.openxmlformats.org/officeDocument/2006/relationships/tags" Target="../tags/tag311.xml"/><Relationship Id="rId28" Type="http://schemas.openxmlformats.org/officeDocument/2006/relationships/tags" Target="../tags/tag310.xml"/><Relationship Id="rId27" Type="http://schemas.openxmlformats.org/officeDocument/2006/relationships/tags" Target="../tags/tag309.xml"/><Relationship Id="rId26" Type="http://schemas.openxmlformats.org/officeDocument/2006/relationships/tags" Target="../tags/tag308.xml"/><Relationship Id="rId25" Type="http://schemas.openxmlformats.org/officeDocument/2006/relationships/tags" Target="../tags/tag307.xml"/><Relationship Id="rId24" Type="http://schemas.openxmlformats.org/officeDocument/2006/relationships/tags" Target="../tags/tag306.xml"/><Relationship Id="rId23" Type="http://schemas.openxmlformats.org/officeDocument/2006/relationships/tags" Target="../tags/tag305.xml"/><Relationship Id="rId22" Type="http://schemas.openxmlformats.org/officeDocument/2006/relationships/tags" Target="../tags/tag304.xml"/><Relationship Id="rId21" Type="http://schemas.openxmlformats.org/officeDocument/2006/relationships/tags" Target="../tags/tag303.xml"/><Relationship Id="rId20" Type="http://schemas.openxmlformats.org/officeDocument/2006/relationships/tags" Target="../tags/tag302.xml"/><Relationship Id="rId2" Type="http://schemas.openxmlformats.org/officeDocument/2006/relationships/tags" Target="../tags/tag284.xml"/><Relationship Id="rId19" Type="http://schemas.openxmlformats.org/officeDocument/2006/relationships/tags" Target="../tags/tag301.xml"/><Relationship Id="rId18" Type="http://schemas.openxmlformats.org/officeDocument/2006/relationships/tags" Target="../tags/tag300.xml"/><Relationship Id="rId17" Type="http://schemas.openxmlformats.org/officeDocument/2006/relationships/tags" Target="../tags/tag299.xml"/><Relationship Id="rId16" Type="http://schemas.openxmlformats.org/officeDocument/2006/relationships/tags" Target="../tags/tag298.xml"/><Relationship Id="rId15" Type="http://schemas.openxmlformats.org/officeDocument/2006/relationships/tags" Target="../tags/tag297.xml"/><Relationship Id="rId14" Type="http://schemas.openxmlformats.org/officeDocument/2006/relationships/tags" Target="../tags/tag296.xml"/><Relationship Id="rId13" Type="http://schemas.openxmlformats.org/officeDocument/2006/relationships/tags" Target="../tags/tag295.xml"/><Relationship Id="rId12" Type="http://schemas.openxmlformats.org/officeDocument/2006/relationships/tags" Target="../tags/tag294.xml"/><Relationship Id="rId11" Type="http://schemas.openxmlformats.org/officeDocument/2006/relationships/tags" Target="../tags/tag293.xml"/><Relationship Id="rId10" Type="http://schemas.openxmlformats.org/officeDocument/2006/relationships/tags" Target="../tags/tag292.xml"/><Relationship Id="rId1" Type="http://schemas.openxmlformats.org/officeDocument/2006/relationships/tags" Target="../tags/tag28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21.xml"/><Relationship Id="rId8" Type="http://schemas.openxmlformats.org/officeDocument/2006/relationships/tags" Target="../tags/tag320.xml"/><Relationship Id="rId7" Type="http://schemas.openxmlformats.org/officeDocument/2006/relationships/tags" Target="../tags/tag319.xml"/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4" Type="http://schemas.openxmlformats.org/officeDocument/2006/relationships/tags" Target="../tags/tag316.xml"/><Relationship Id="rId3" Type="http://schemas.openxmlformats.org/officeDocument/2006/relationships/image" Target="../media/image3.jpeg"/><Relationship Id="rId23" Type="http://schemas.openxmlformats.org/officeDocument/2006/relationships/slideLayout" Target="../slideLayouts/slideLayout6.xml"/><Relationship Id="rId22" Type="http://schemas.openxmlformats.org/officeDocument/2006/relationships/tags" Target="../tags/tag334.xml"/><Relationship Id="rId21" Type="http://schemas.openxmlformats.org/officeDocument/2006/relationships/tags" Target="../tags/tag333.xml"/><Relationship Id="rId20" Type="http://schemas.openxmlformats.org/officeDocument/2006/relationships/tags" Target="../tags/tag332.xml"/><Relationship Id="rId2" Type="http://schemas.openxmlformats.org/officeDocument/2006/relationships/tags" Target="../tags/tag315.xml"/><Relationship Id="rId19" Type="http://schemas.openxmlformats.org/officeDocument/2006/relationships/tags" Target="../tags/tag331.xml"/><Relationship Id="rId18" Type="http://schemas.openxmlformats.org/officeDocument/2006/relationships/tags" Target="../tags/tag330.xml"/><Relationship Id="rId17" Type="http://schemas.openxmlformats.org/officeDocument/2006/relationships/tags" Target="../tags/tag329.xml"/><Relationship Id="rId16" Type="http://schemas.openxmlformats.org/officeDocument/2006/relationships/tags" Target="../tags/tag328.xml"/><Relationship Id="rId15" Type="http://schemas.openxmlformats.org/officeDocument/2006/relationships/tags" Target="../tags/tag327.xml"/><Relationship Id="rId14" Type="http://schemas.openxmlformats.org/officeDocument/2006/relationships/tags" Target="../tags/tag326.xml"/><Relationship Id="rId13" Type="http://schemas.openxmlformats.org/officeDocument/2006/relationships/tags" Target="../tags/tag325.xml"/><Relationship Id="rId12" Type="http://schemas.openxmlformats.org/officeDocument/2006/relationships/tags" Target="../tags/tag324.xml"/><Relationship Id="rId11" Type="http://schemas.openxmlformats.org/officeDocument/2006/relationships/tags" Target="../tags/tag323.xml"/><Relationship Id="rId10" Type="http://schemas.openxmlformats.org/officeDocument/2006/relationships/tags" Target="../tags/tag322.xml"/><Relationship Id="rId1" Type="http://schemas.openxmlformats.org/officeDocument/2006/relationships/tags" Target="../tags/tag31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43.xml"/><Relationship Id="rId8" Type="http://schemas.openxmlformats.org/officeDocument/2006/relationships/tags" Target="../tags/tag342.xml"/><Relationship Id="rId7" Type="http://schemas.openxmlformats.org/officeDocument/2006/relationships/tags" Target="../tags/tag341.xml"/><Relationship Id="rId6" Type="http://schemas.openxmlformats.org/officeDocument/2006/relationships/tags" Target="../tags/tag340.xml"/><Relationship Id="rId5" Type="http://schemas.openxmlformats.org/officeDocument/2006/relationships/tags" Target="../tags/tag339.xml"/><Relationship Id="rId4" Type="http://schemas.openxmlformats.org/officeDocument/2006/relationships/tags" Target="../tags/tag338.xml"/><Relationship Id="rId3" Type="http://schemas.openxmlformats.org/officeDocument/2006/relationships/tags" Target="../tags/tag337.xml"/><Relationship Id="rId22" Type="http://schemas.openxmlformats.org/officeDocument/2006/relationships/slideLayout" Target="../slideLayouts/slideLayout6.xml"/><Relationship Id="rId21" Type="http://schemas.openxmlformats.org/officeDocument/2006/relationships/tags" Target="../tags/tag355.xml"/><Relationship Id="rId20" Type="http://schemas.openxmlformats.org/officeDocument/2006/relationships/tags" Target="../tags/tag354.xml"/><Relationship Id="rId2" Type="http://schemas.openxmlformats.org/officeDocument/2006/relationships/tags" Target="../tags/tag336.xml"/><Relationship Id="rId19" Type="http://schemas.openxmlformats.org/officeDocument/2006/relationships/tags" Target="../tags/tag353.xml"/><Relationship Id="rId18" Type="http://schemas.openxmlformats.org/officeDocument/2006/relationships/tags" Target="../tags/tag352.xml"/><Relationship Id="rId17" Type="http://schemas.openxmlformats.org/officeDocument/2006/relationships/tags" Target="../tags/tag351.xml"/><Relationship Id="rId16" Type="http://schemas.openxmlformats.org/officeDocument/2006/relationships/tags" Target="../tags/tag350.xml"/><Relationship Id="rId15" Type="http://schemas.openxmlformats.org/officeDocument/2006/relationships/tags" Target="../tags/tag349.xml"/><Relationship Id="rId14" Type="http://schemas.openxmlformats.org/officeDocument/2006/relationships/tags" Target="../tags/tag348.xml"/><Relationship Id="rId13" Type="http://schemas.openxmlformats.org/officeDocument/2006/relationships/tags" Target="../tags/tag347.xml"/><Relationship Id="rId12" Type="http://schemas.openxmlformats.org/officeDocument/2006/relationships/tags" Target="../tags/tag346.xml"/><Relationship Id="rId11" Type="http://schemas.openxmlformats.org/officeDocument/2006/relationships/tags" Target="../tags/tag345.xml"/><Relationship Id="rId10" Type="http://schemas.openxmlformats.org/officeDocument/2006/relationships/tags" Target="../tags/tag344.xml"/><Relationship Id="rId1" Type="http://schemas.openxmlformats.org/officeDocument/2006/relationships/tags" Target="../tags/tag33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64.xml"/><Relationship Id="rId8" Type="http://schemas.openxmlformats.org/officeDocument/2006/relationships/tags" Target="../tags/tag363.xml"/><Relationship Id="rId7" Type="http://schemas.openxmlformats.org/officeDocument/2006/relationships/tags" Target="../tags/tag362.xml"/><Relationship Id="rId6" Type="http://schemas.openxmlformats.org/officeDocument/2006/relationships/tags" Target="../tags/tag361.xml"/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6" Type="http://schemas.openxmlformats.org/officeDocument/2006/relationships/slideLayout" Target="../slideLayouts/slideLayout6.xml"/><Relationship Id="rId15" Type="http://schemas.openxmlformats.org/officeDocument/2006/relationships/tags" Target="../tags/tag370.xml"/><Relationship Id="rId14" Type="http://schemas.openxmlformats.org/officeDocument/2006/relationships/tags" Target="../tags/tag369.xml"/><Relationship Id="rId13" Type="http://schemas.openxmlformats.org/officeDocument/2006/relationships/tags" Target="../tags/tag368.xml"/><Relationship Id="rId12" Type="http://schemas.openxmlformats.org/officeDocument/2006/relationships/tags" Target="../tags/tag367.xml"/><Relationship Id="rId11" Type="http://schemas.openxmlformats.org/officeDocument/2006/relationships/tags" Target="../tags/tag366.xml"/><Relationship Id="rId10" Type="http://schemas.openxmlformats.org/officeDocument/2006/relationships/tags" Target="../tags/tag365.xml"/><Relationship Id="rId1" Type="http://schemas.openxmlformats.org/officeDocument/2006/relationships/tags" Target="../tags/tag35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79.xml"/><Relationship Id="rId8" Type="http://schemas.openxmlformats.org/officeDocument/2006/relationships/tags" Target="../tags/tag378.xml"/><Relationship Id="rId7" Type="http://schemas.openxmlformats.org/officeDocument/2006/relationships/tags" Target="../tags/tag377.xml"/><Relationship Id="rId6" Type="http://schemas.openxmlformats.org/officeDocument/2006/relationships/tags" Target="../tags/tag376.xml"/><Relationship Id="rId5" Type="http://schemas.openxmlformats.org/officeDocument/2006/relationships/tags" Target="../tags/tag375.xml"/><Relationship Id="rId4" Type="http://schemas.openxmlformats.org/officeDocument/2006/relationships/tags" Target="../tags/tag374.xml"/><Relationship Id="rId3" Type="http://schemas.openxmlformats.org/officeDocument/2006/relationships/tags" Target="../tags/tag373.xml"/><Relationship Id="rId20" Type="http://schemas.openxmlformats.org/officeDocument/2006/relationships/slideLayout" Target="../slideLayouts/slideLayout6.xml"/><Relationship Id="rId2" Type="http://schemas.openxmlformats.org/officeDocument/2006/relationships/tags" Target="../tags/tag372.xml"/><Relationship Id="rId19" Type="http://schemas.openxmlformats.org/officeDocument/2006/relationships/tags" Target="../tags/tag389.xml"/><Relationship Id="rId18" Type="http://schemas.openxmlformats.org/officeDocument/2006/relationships/tags" Target="../tags/tag388.xml"/><Relationship Id="rId17" Type="http://schemas.openxmlformats.org/officeDocument/2006/relationships/tags" Target="../tags/tag387.xml"/><Relationship Id="rId16" Type="http://schemas.openxmlformats.org/officeDocument/2006/relationships/tags" Target="../tags/tag386.xml"/><Relationship Id="rId15" Type="http://schemas.openxmlformats.org/officeDocument/2006/relationships/tags" Target="../tags/tag385.xml"/><Relationship Id="rId14" Type="http://schemas.openxmlformats.org/officeDocument/2006/relationships/tags" Target="../tags/tag384.xml"/><Relationship Id="rId13" Type="http://schemas.openxmlformats.org/officeDocument/2006/relationships/tags" Target="../tags/tag383.xml"/><Relationship Id="rId12" Type="http://schemas.openxmlformats.org/officeDocument/2006/relationships/tags" Target="../tags/tag382.xml"/><Relationship Id="rId11" Type="http://schemas.openxmlformats.org/officeDocument/2006/relationships/tags" Target="../tags/tag381.xml"/><Relationship Id="rId10" Type="http://schemas.openxmlformats.org/officeDocument/2006/relationships/tags" Target="../tags/tag380.xml"/><Relationship Id="rId1" Type="http://schemas.openxmlformats.org/officeDocument/2006/relationships/tags" Target="../tags/tag37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98.xml"/><Relationship Id="rId8" Type="http://schemas.openxmlformats.org/officeDocument/2006/relationships/tags" Target="../tags/tag397.xml"/><Relationship Id="rId7" Type="http://schemas.openxmlformats.org/officeDocument/2006/relationships/tags" Target="../tags/tag396.xml"/><Relationship Id="rId6" Type="http://schemas.openxmlformats.org/officeDocument/2006/relationships/tags" Target="../tags/tag395.xml"/><Relationship Id="rId5" Type="http://schemas.openxmlformats.org/officeDocument/2006/relationships/tags" Target="../tags/tag394.xml"/><Relationship Id="rId4" Type="http://schemas.openxmlformats.org/officeDocument/2006/relationships/tags" Target="../tags/tag393.xml"/><Relationship Id="rId3" Type="http://schemas.openxmlformats.org/officeDocument/2006/relationships/tags" Target="../tags/tag392.xml"/><Relationship Id="rId2" Type="http://schemas.openxmlformats.org/officeDocument/2006/relationships/tags" Target="../tags/tag391.xml"/><Relationship Id="rId15" Type="http://schemas.openxmlformats.org/officeDocument/2006/relationships/slideLayout" Target="../slideLayouts/slideLayout6.xml"/><Relationship Id="rId14" Type="http://schemas.openxmlformats.org/officeDocument/2006/relationships/tags" Target="../tags/tag403.xml"/><Relationship Id="rId13" Type="http://schemas.openxmlformats.org/officeDocument/2006/relationships/tags" Target="../tags/tag402.xml"/><Relationship Id="rId12" Type="http://schemas.openxmlformats.org/officeDocument/2006/relationships/tags" Target="../tags/tag401.xml"/><Relationship Id="rId11" Type="http://schemas.openxmlformats.org/officeDocument/2006/relationships/tags" Target="../tags/tag400.xml"/><Relationship Id="rId10" Type="http://schemas.openxmlformats.org/officeDocument/2006/relationships/tags" Target="../tags/tag399.xml"/><Relationship Id="rId1" Type="http://schemas.openxmlformats.org/officeDocument/2006/relationships/tags" Target="../tags/tag39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410.xml"/><Relationship Id="rId6" Type="http://schemas.openxmlformats.org/officeDocument/2006/relationships/tags" Target="../tags/tag409.xml"/><Relationship Id="rId5" Type="http://schemas.openxmlformats.org/officeDocument/2006/relationships/tags" Target="../tags/tag408.xml"/><Relationship Id="rId4" Type="http://schemas.openxmlformats.org/officeDocument/2006/relationships/tags" Target="../tags/tag407.xml"/><Relationship Id="rId3" Type="http://schemas.openxmlformats.org/officeDocument/2006/relationships/tags" Target="../tags/tag406.xml"/><Relationship Id="rId2" Type="http://schemas.openxmlformats.org/officeDocument/2006/relationships/tags" Target="../tags/tag405.xml"/><Relationship Id="rId1" Type="http://schemas.openxmlformats.org/officeDocument/2006/relationships/tags" Target="../tags/tag40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49210"/>
            <a:ext cx="5815044" cy="227978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4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AI</a:t>
            </a:r>
            <a:r>
              <a:rPr lang="zh-CN" altLang="en-US" sz="4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智能</a:t>
            </a:r>
            <a:r>
              <a:rPr lang="zh-CN" altLang="en-US" sz="4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就业服务平台</a:t>
            </a:r>
            <a:endParaRPr lang="zh-CN" altLang="en-US" sz="4800" b="1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60400" y="3429000"/>
            <a:ext cx="6557010" cy="17475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构建结果导向的AI</a:t>
            </a:r>
            <a:r>
              <a:rPr lang="zh-CN" altLang="en-US" sz="24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全流程</a:t>
            </a:r>
            <a:r>
              <a:rPr lang="en-US" sz="24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求职解决方案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caed9d6-c0d5-402d-a13c-963d60d56e8c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-635" y="368300"/>
            <a:ext cx="13259435" cy="4305311"/>
            <a:chOff x="-1067435" y="1130300"/>
            <a:chExt cx="13259435" cy="4305311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>
              <a:off x="-1067435" y="3406775"/>
              <a:ext cx="13259435" cy="1076325"/>
            </a:xfrm>
            <a:prstGeom prst="rect">
              <a:avLst/>
            </a:prstGeom>
            <a:solidFill>
              <a:srgbClr val="4A58DA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>
              <p:custDataLst>
                <p:tags r:id="rId3"/>
              </p:custDataLst>
            </p:nvPr>
          </p:nvSpPr>
          <p:spPr>
            <a:xfrm flipV="1">
              <a:off x="660400" y="3935730"/>
              <a:ext cx="8539480" cy="76200"/>
            </a:xfrm>
            <a:prstGeom prst="straightConnector1">
              <a:avLst/>
            </a:prstGeom>
            <a:ln w="6350">
              <a:gradFill>
                <a:gsLst>
                  <a:gs pos="0">
                    <a:srgbClr val="4A58DA">
                      <a:alpha val="0"/>
                    </a:srgbClr>
                  </a:gs>
                  <a:gs pos="100000">
                    <a:srgbClr val="4A58DA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triangl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666750" y="3650127"/>
              <a:ext cx="2108228" cy="1785484"/>
              <a:chOff x="666750" y="3650127"/>
              <a:chExt cx="2108228" cy="1785484"/>
            </a:xfrm>
          </p:grpSpPr>
          <p:sp>
            <p:nvSpPr>
              <p:cNvPr id="7" name="TextBox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411803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4A58DA">
                      <a:alpha val="100000"/>
                      <a:lumMod val="60000"/>
                      <a:lumOff val="40000"/>
                    </a:srgbClr>
                  </a:gs>
                  <a:gs pos="75000">
                    <a:srgbClr val="4A58DA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grpSp>
            <p:nvGrpSpPr>
              <p:cNvPr id="8" name="Group 8"/>
              <p:cNvGrpSpPr/>
              <p:nvPr/>
            </p:nvGrpSpPr>
            <p:grpSpPr>
              <a:xfrm rot="0">
                <a:off x="666750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9" name="TextBox 9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市场痛点与机遇</a:t>
                  </a:r>
                  <a:endParaRPr lang="en-US" sz="1100"/>
                </a:p>
              </p:txBody>
            </p:sp>
            <p:sp>
              <p:nvSpPr>
                <p:cNvPr id="10" name="AutoShape 10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4A58DA">
                          <a:alpha val="0"/>
                        </a:srgbClr>
                      </a:gs>
                      <a:gs pos="100000">
                        <a:srgbClr val="4A58DA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11" name="Group 11"/>
            <p:cNvGrpSpPr/>
            <p:nvPr/>
          </p:nvGrpSpPr>
          <p:grpSpPr>
            <a:xfrm rot="0">
              <a:off x="2439383" y="2441361"/>
              <a:ext cx="2108228" cy="1795270"/>
              <a:chOff x="2439383" y="2441361"/>
              <a:chExt cx="2108228" cy="1795270"/>
            </a:xfrm>
          </p:grpSpPr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200245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DCDCDC">
                      <a:alpha val="100000"/>
                      <a:lumMod val="60000"/>
                      <a:lumOff val="40000"/>
                    </a:srgbClr>
                  </a:gs>
                  <a:gs pos="75000">
                    <a:srgbClr val="DCDCDC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grpSp>
            <p:nvGrpSpPr>
              <p:cNvPr id="13" name="Group 13"/>
              <p:cNvGrpSpPr/>
              <p:nvPr/>
            </p:nvGrpSpPr>
            <p:grpSpPr>
              <a:xfrm rot="0">
                <a:off x="2439383" y="2441361"/>
                <a:ext cx="2108228" cy="1210971"/>
                <a:chOff x="2011912" y="5316110"/>
                <a:chExt cx="2108228" cy="1210971"/>
              </a:xfrm>
            </p:grpSpPr>
            <p:sp>
              <p:nvSpPr>
                <p:cNvPr id="14" name="TextBox 14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2011912" y="5316110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商业模式与定位</a:t>
                  </a:r>
                  <a:endParaRPr lang="en-US" sz="1100"/>
                </a:p>
              </p:txBody>
            </p:sp>
            <p:sp>
              <p:nvSpPr>
                <p:cNvPr id="15" name="AutoShape 15"/>
                <p:cNvSpPr/>
                <p:nvPr>
                  <p:custDataLst>
                    <p:tags r:id="rId9"/>
                  </p:custDataLst>
                </p:nvPr>
              </p:nvSpPr>
              <p:spPr>
                <a:xfrm flipV="1">
                  <a:off x="3077456" y="613918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4A58DA">
                          <a:alpha val="0"/>
                        </a:srgbClr>
                      </a:gs>
                      <a:gs pos="100000">
                        <a:srgbClr val="4A58DA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sp>
          <p:nvSpPr>
            <p:cNvPr id="16" name="AutoShape 16"/>
            <p:cNvSpPr/>
            <p:nvPr/>
          </p:nvSpPr>
          <p:spPr>
            <a:xfrm>
              <a:off x="666750" y="1130300"/>
              <a:ext cx="10858500" cy="100291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</p:sp>
        <p:grpSp>
          <p:nvGrpSpPr>
            <p:cNvPr id="17" name="Group 17"/>
            <p:cNvGrpSpPr/>
            <p:nvPr/>
          </p:nvGrpSpPr>
          <p:grpSpPr>
            <a:xfrm rot="0">
              <a:off x="4436082" y="3643777"/>
              <a:ext cx="2108228" cy="1785484"/>
              <a:chOff x="4436082" y="3643777"/>
              <a:chExt cx="2108228" cy="1785484"/>
            </a:xfrm>
          </p:grpSpPr>
          <p:sp>
            <p:nvSpPr>
              <p:cNvPr id="18" name="TextBox 18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213477" y="364377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4A58DA">
                      <a:alpha val="100000"/>
                      <a:lumMod val="60000"/>
                      <a:lumOff val="40000"/>
                    </a:srgbClr>
                  </a:gs>
                  <a:gs pos="75000">
                    <a:srgbClr val="4A58DA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 rot="0">
                <a:off x="4436082" y="4241745"/>
                <a:ext cx="2108228" cy="1187516"/>
                <a:chOff x="2354812" y="4606406"/>
                <a:chExt cx="2108228" cy="1187516"/>
              </a:xfrm>
            </p:grpSpPr>
            <p:sp>
              <p:nvSpPr>
                <p:cNvPr id="20" name="TextBox 20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2354812" y="5084498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运营闭环设计</a:t>
                  </a:r>
                  <a:endParaRPr lang="en-US" sz="1100"/>
                </a:p>
              </p:txBody>
            </p:sp>
            <p:sp>
              <p:nvSpPr>
                <p:cNvPr id="21" name="AutoShape 21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3425436" y="4606406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4A58DA">
                          <a:alpha val="0"/>
                        </a:srgbClr>
                      </a:gs>
                      <a:gs pos="100000">
                        <a:srgbClr val="4A58DA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22" name="Group 22"/>
            <p:cNvGrpSpPr/>
            <p:nvPr/>
          </p:nvGrpSpPr>
          <p:grpSpPr>
            <a:xfrm rot="0">
              <a:off x="6671587" y="2441361"/>
              <a:ext cx="2108228" cy="1795270"/>
              <a:chOff x="6671587" y="2441361"/>
              <a:chExt cx="2108228" cy="1795270"/>
            </a:xfrm>
          </p:grpSpPr>
          <p:sp>
            <p:nvSpPr>
              <p:cNvPr id="23" name="TextBox 2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432449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DCDCDC">
                      <a:alpha val="100000"/>
                      <a:lumMod val="60000"/>
                      <a:lumOff val="40000"/>
                    </a:srgbClr>
                  </a:gs>
                  <a:gs pos="75000">
                    <a:srgbClr val="DCDCDC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 rot="0">
                <a:off x="6671587" y="2441361"/>
                <a:ext cx="2108228" cy="1205891"/>
                <a:chOff x="2890752" y="5316110"/>
                <a:chExt cx="2108228" cy="1205891"/>
              </a:xfrm>
            </p:grpSpPr>
            <p:sp>
              <p:nvSpPr>
                <p:cNvPr id="25" name="TextBox 25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2890752" y="5316110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AI赋能挑战与对策</a:t>
                  </a:r>
                  <a:endParaRPr lang="en-US" sz="1800" b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6" name="AutoShape 26"/>
                <p:cNvSpPr/>
                <p:nvPr>
                  <p:custDataLst>
                    <p:tags r:id="rId15"/>
                  </p:custDataLst>
                </p:nvPr>
              </p:nvSpPr>
              <p:spPr>
                <a:xfrm flipV="1">
                  <a:off x="39448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4A58DA">
                          <a:alpha val="0"/>
                        </a:srgbClr>
                      </a:gs>
                      <a:gs pos="100000">
                        <a:srgbClr val="4A58DA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</p:grpSp>
      <p:sp>
        <p:nvSpPr>
          <p:cNvPr id="37" name="TextBox 3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30300"/>
            <a:ext cx="5435600" cy="106239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市场痛点与机遇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2192694"/>
            <a:ext cx="5435600" cy="394140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剖析当前就业市场的核心矛盾与AI技术的破局点，明确项目切入的可行性与必要性。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20a1b7b-eb00-46a6-89ba-49a2ea0e3770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57372" y="1743074"/>
            <a:ext cx="10861528" cy="3629026"/>
            <a:chOff x="657372" y="1743074"/>
            <a:chExt cx="10861528" cy="3629026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743074"/>
              <a:ext cx="10858500" cy="109855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僧多粥少，求职竞争白热化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57372" y="2934353"/>
              <a:ext cx="3037061" cy="2437747"/>
              <a:chOff x="657372" y="2934353"/>
              <a:chExt cx="3037061" cy="2437747"/>
            </a:xfrm>
          </p:grpSpPr>
          <p:sp>
            <p:nvSpPr>
              <p:cNvPr id="6" name="TextBox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487406" y="3555615"/>
                <a:ext cx="2207026" cy="181648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据统计，2023年中国城镇新增就业超1200万，高校毕业生破1100万，求职群体庞大。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487407" y="2934353"/>
                <a:ext cx="2207026" cy="5621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b" anchorCtr="0"/>
              <a:lstStyle/>
              <a:p>
                <a:pPr algn="l">
                  <a:defRPr/>
                </a:pPr>
                <a:r>
                  <a:rPr lang="en-US" sz="1800" b="1" i="0" u="sng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求职人数激增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57372" y="3124951"/>
                <a:ext cx="745978" cy="562111"/>
              </a:xfrm>
              <a:prstGeom prst="rect">
                <a:avLst/>
              </a:prstGeom>
              <a:solidFill>
                <a:srgbClr val="4A58D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4191782" y="2922924"/>
              <a:ext cx="3037061" cy="2437747"/>
              <a:chOff x="4191782" y="2922924"/>
              <a:chExt cx="3037061" cy="2437747"/>
            </a:xfrm>
          </p:grpSpPr>
          <p:sp>
            <p:nvSpPr>
              <p:cNvPr id="10" name="TextBox 1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021816" y="3544186"/>
                <a:ext cx="2207026" cy="181648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优质岗位供给相对紧张，导致求职者需经历多轮面试，上岗难度加大。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021817" y="2922924"/>
                <a:ext cx="2207026" cy="5621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b" anchorCtr="0"/>
              <a:lstStyle/>
              <a:p>
                <a:pPr algn="l">
                  <a:defRPr/>
                </a:pPr>
                <a:r>
                  <a:rPr lang="en-US" sz="1800" b="1" i="0" u="sng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岗位供给不足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191782" y="3113522"/>
                <a:ext cx="745978" cy="562111"/>
              </a:xfrm>
              <a:prstGeom prst="rect">
                <a:avLst/>
              </a:prstGeom>
              <a:solidFill>
                <a:srgbClr val="4A58D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8095761" y="2922924"/>
              <a:ext cx="3037061" cy="2437747"/>
              <a:chOff x="8095761" y="2922924"/>
              <a:chExt cx="3037061" cy="2437747"/>
            </a:xfrm>
          </p:grpSpPr>
          <p:sp>
            <p:nvSpPr>
              <p:cNvPr id="14" name="TextBox 1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925795" y="3544186"/>
                <a:ext cx="2207026" cy="181648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激烈的同业竞争使得求职者必须具备更强的综合竞争力，才能脱颖而出。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925796" y="2922924"/>
                <a:ext cx="2207026" cy="5621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b" anchorCtr="0"/>
              <a:lstStyle/>
              <a:p>
                <a:pPr algn="l">
                  <a:defRPr/>
                </a:pPr>
                <a:r>
                  <a:rPr lang="en-US" sz="1800" b="1" i="0" u="sng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竞争压力巨大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095761" y="3113522"/>
                <a:ext cx="745978" cy="562111"/>
              </a:xfrm>
              <a:prstGeom prst="rect">
                <a:avLst/>
              </a:prstGeom>
              <a:solidFill>
                <a:srgbClr val="4A58D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就业市场现状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3b10c53-200c-4c71-9490-bff40d074fae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3" y="1600200"/>
            <a:ext cx="10845798" cy="4384585"/>
            <a:chOff x="660403" y="1600200"/>
            <a:chExt cx="10845798" cy="4384585"/>
          </a:xfrm>
        </p:grpSpPr>
        <p:sp>
          <p:nvSpPr>
            <p:cNvPr id="4" name="TextBox 4"/>
            <p:cNvSpPr txBox="1"/>
            <p:nvPr/>
          </p:nvSpPr>
          <p:spPr>
            <a:xfrm>
              <a:off x="660403" y="1600200"/>
              <a:ext cx="10845798" cy="130429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4A58D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四大难题构成刚性需求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73865" y="2570988"/>
              <a:ext cx="2059252" cy="3413797"/>
              <a:chOff x="673865" y="2570988"/>
              <a:chExt cx="2059252" cy="3413797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73865" y="3668268"/>
                <a:ext cx="2059252" cy="6458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简历竞争力弱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73865" y="4423411"/>
                <a:ext cx="2059252" cy="15613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超七成招聘者30秒内评估简历，约68%求职者因简历不匹配而失面试机会。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23050" y="2570988"/>
                <a:ext cx="960882" cy="960882"/>
              </a:xfrm>
              <a:prstGeom prst="rect">
                <a:avLst/>
              </a:prstGeom>
              <a:solidFill>
                <a:srgbClr val="4A58D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3637596" y="2570988"/>
              <a:ext cx="2059252" cy="3413797"/>
              <a:chOff x="3637596" y="2570988"/>
              <a:chExt cx="2059252" cy="3413797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3637596" y="3668268"/>
                <a:ext cx="2059252" cy="6458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面试技巧欠缺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637596" y="4423411"/>
                <a:ext cx="2059252" cy="15613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许多求职者专业能力扎实，但面试表达、压力应对能力不足，成功率低。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186781" y="2570988"/>
                <a:ext cx="960882" cy="960882"/>
              </a:xfrm>
              <a:prstGeom prst="rect">
                <a:avLst/>
              </a:prstGeom>
              <a:solidFill>
                <a:srgbClr val="768394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6567037" y="2570988"/>
              <a:ext cx="2059252" cy="3413797"/>
              <a:chOff x="6567037" y="2570988"/>
              <a:chExt cx="2059252" cy="3413797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567037" y="3668268"/>
                <a:ext cx="2059252" cy="6458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职业规划迷茫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567037" y="4423411"/>
                <a:ext cx="2059252" cy="15613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大量求职者，尤其是应届生和希望转型的职场人，难以清晰定位发展方向。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116222" y="2570988"/>
                <a:ext cx="960882" cy="960882"/>
              </a:xfrm>
              <a:prstGeom prst="rect">
                <a:avLst/>
              </a:prstGeom>
              <a:solidFill>
                <a:srgbClr val="768394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9267878" y="2570988"/>
              <a:ext cx="2059252" cy="3413797"/>
              <a:chOff x="9267878" y="2570988"/>
              <a:chExt cx="2059252" cy="3413797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9267878" y="3668268"/>
                <a:ext cx="2059252" cy="6458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信息严重不对称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267878" y="4423411"/>
                <a:ext cx="2059252" cy="15613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求职者难以准确了解目标岗位的招聘标准和企业真实需求，错失良机。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817063" y="2570988"/>
                <a:ext cx="960882" cy="960882"/>
              </a:xfrm>
              <a:prstGeom prst="rect">
                <a:avLst/>
              </a:prstGeom>
              <a:solidFill>
                <a:srgbClr val="768394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求职者核心痛点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8c97af8-4ad1-44a5-b7ae-4ae3af831fab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400" y="1130300"/>
            <a:ext cx="10858500" cy="5105399"/>
            <a:chOff x="660400" y="1130300"/>
            <a:chExt cx="10858500" cy="5105399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>
              <a:off x="2417315" y="1997877"/>
              <a:ext cx="1083573" cy="1083573"/>
            </a:xfrm>
            <a:prstGeom prst="arc">
              <a:avLst>
                <a:gd name="adj1" fmla="val 16200000"/>
                <a:gd name="adj2" fmla="val 4316175"/>
              </a:avLst>
            </a:prstGeom>
            <a:solidFill>
              <a:srgbClr val="4A58DA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>
              <p:custDataLst>
                <p:tags r:id="rId3"/>
              </p:custDataLst>
            </p:nvPr>
          </p:nvSpPr>
          <p:spPr>
            <a:xfrm>
              <a:off x="5554215" y="1997877"/>
              <a:ext cx="1083573" cy="1083573"/>
            </a:xfrm>
            <a:prstGeom prst="arc">
              <a:avLst>
                <a:gd name="adj1" fmla="val 16200000"/>
                <a:gd name="adj2" fmla="val 13475990"/>
              </a:avLst>
            </a:prstGeom>
            <a:solidFill>
              <a:srgbClr val="DCDCDC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>
              <p:custDataLst>
                <p:tags r:id="rId4"/>
              </p:custDataLst>
            </p:nvPr>
          </p:nvSpPr>
          <p:spPr>
            <a:xfrm>
              <a:off x="8691115" y="1997877"/>
              <a:ext cx="1083573" cy="1083573"/>
            </a:xfrm>
            <a:prstGeom prst="arc">
              <a:avLst>
                <a:gd name="adj1" fmla="val 16200000"/>
                <a:gd name="adj2" fmla="val 501650"/>
              </a:avLst>
            </a:prstGeom>
            <a:solidFill>
              <a:srgbClr val="9D9D9D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>
              <p:custDataLst>
                <p:tags r:id="rId5"/>
              </p:custDataLst>
            </p:nvPr>
          </p:nvSpPr>
          <p:spPr>
            <a:xfrm>
              <a:off x="2959101" y="2984163"/>
              <a:ext cx="0" cy="1124590"/>
            </a:xfrm>
            <a:prstGeom prst="line">
              <a:avLst/>
            </a:prstGeom>
            <a:ln w="12700">
              <a:gradFill>
                <a:gsLst>
                  <a:gs pos="0">
                    <a:srgbClr val="4A58DA">
                      <a:alpha val="100000"/>
                    </a:srgbClr>
                  </a:gs>
                  <a:gs pos="100000">
                    <a:srgbClr val="4A58DA">
                      <a:alpha val="0"/>
                      <a:lumMod val="30000"/>
                      <a:lumOff val="70000"/>
                    </a:srgbClr>
                  </a:gs>
                </a:gsLst>
                <a:lin ang="5400000"/>
              </a:gra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>
              <p:custDataLst>
                <p:tags r:id="rId6"/>
              </p:custDataLst>
            </p:nvPr>
          </p:nvSpPr>
          <p:spPr>
            <a:xfrm>
              <a:off x="6096001" y="2984163"/>
              <a:ext cx="0" cy="1124590"/>
            </a:xfrm>
            <a:prstGeom prst="line">
              <a:avLst/>
            </a:prstGeom>
            <a:ln w="12700">
              <a:gradFill>
                <a:gsLst>
                  <a:gs pos="0">
                    <a:srgbClr val="DCDCDC">
                      <a:alpha val="100000"/>
                    </a:srgbClr>
                  </a:gs>
                  <a:gs pos="100000">
                    <a:srgbClr val="4A58DA">
                      <a:alpha val="0"/>
                      <a:lumMod val="30000"/>
                      <a:lumOff val="70000"/>
                    </a:srgbClr>
                  </a:gs>
                </a:gsLst>
                <a:lin ang="5400000"/>
              </a:gra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>
              <p:custDataLst>
                <p:tags r:id="rId7"/>
              </p:custDataLst>
            </p:nvPr>
          </p:nvSpPr>
          <p:spPr>
            <a:xfrm>
              <a:off x="9232901" y="2984163"/>
              <a:ext cx="0" cy="1124590"/>
            </a:xfrm>
            <a:prstGeom prst="line">
              <a:avLst/>
            </a:prstGeom>
            <a:ln w="12700">
              <a:gradFill>
                <a:gsLst>
                  <a:gs pos="0">
                    <a:srgbClr val="9D9D9D">
                      <a:alpha val="100000"/>
                    </a:srgbClr>
                  </a:gs>
                  <a:gs pos="100000">
                    <a:srgbClr val="4A58DA">
                      <a:alpha val="0"/>
                      <a:lumMod val="30000"/>
                      <a:lumOff val="70000"/>
                    </a:srgbClr>
                  </a:gs>
                </a:gsLst>
                <a:lin ang="5400000"/>
              </a:gradFill>
              <a:prstDash val="solid"/>
              <a:headEnd type="none"/>
              <a:tailEnd type="none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0400" y="1130300"/>
              <a:ext cx="10858500" cy="6354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技术赋能，有效解决求职难题</a:t>
              </a:r>
              <a:endParaRPr lang="en-US" sz="1100"/>
            </a:p>
          </p:txBody>
        </p:sp>
        <p:grpSp>
          <p:nvGrpSpPr>
            <p:cNvPr id="11" name="Group 11"/>
            <p:cNvGrpSpPr/>
            <p:nvPr/>
          </p:nvGrpSpPr>
          <p:grpSpPr>
            <a:xfrm rot="0">
              <a:off x="1595193" y="2095163"/>
              <a:ext cx="2727814" cy="4140536"/>
              <a:chOff x="1595193" y="2095163"/>
              <a:chExt cx="2727814" cy="4140536"/>
            </a:xfrm>
          </p:grpSpPr>
          <p:sp>
            <p:nvSpPr>
              <p:cNvPr id="1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595193" y="3968843"/>
                <a:ext cx="2727814" cy="8151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提升面试成功率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514601" y="2095163"/>
                <a:ext cx="889000" cy="889000"/>
              </a:xfrm>
              <a:prstGeom prst="ellipse">
                <a:avLst/>
              </a:prstGeom>
              <a:gradFill>
                <a:gsLst>
                  <a:gs pos="0">
                    <a:srgbClr val="4A58DA">
                      <a:alpha val="100000"/>
                      <a:lumMod val="60000"/>
                      <a:lumOff val="40000"/>
                    </a:srgbClr>
                  </a:gs>
                  <a:gs pos="60000">
                    <a:srgbClr val="4A58DA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595193" y="4774862"/>
                <a:ext cx="2727814" cy="146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数据显示，使用AI简历优化工具的求职者，面试成功率可提高约20%。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4732093" y="2095163"/>
              <a:ext cx="2727814" cy="4140536"/>
              <a:chOff x="4732093" y="2095163"/>
              <a:chExt cx="2727814" cy="4140536"/>
            </a:xfrm>
          </p:grpSpPr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732093" y="3968843"/>
                <a:ext cx="2727814" cy="8151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优化求职效率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651501" y="2095163"/>
                <a:ext cx="889000" cy="889000"/>
              </a:xfrm>
              <a:prstGeom prst="ellipse">
                <a:avLst/>
              </a:prstGeom>
              <a:gradFill>
                <a:gsLst>
                  <a:gs pos="0">
                    <a:srgbClr val="DCDCDC">
                      <a:alpha val="100000"/>
                      <a:lumMod val="60000"/>
                      <a:lumOff val="40000"/>
                    </a:srgbClr>
                  </a:gs>
                  <a:gs pos="60000">
                    <a:srgbClr val="DCDCDC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732093" y="4774862"/>
                <a:ext cx="2727814" cy="146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AI能自动化处理简历、模拟面试，极大节省求职者的时间和精力。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7868993" y="2095163"/>
              <a:ext cx="2727814" cy="4140536"/>
              <a:chOff x="7868993" y="2095163"/>
              <a:chExt cx="2727814" cy="4140536"/>
            </a:xfrm>
          </p:grpSpPr>
          <p:sp>
            <p:nvSpPr>
              <p:cNvPr id="20" name="TextBox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868993" y="3968843"/>
                <a:ext cx="2727814" cy="8151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提供个性化指导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8788401" y="2095163"/>
                <a:ext cx="889000" cy="889000"/>
              </a:xfrm>
              <a:prstGeom prst="ellipse">
                <a:avLst/>
              </a:prstGeom>
              <a:gradFill>
                <a:gsLst>
                  <a:gs pos="0">
                    <a:srgbClr val="9D9D9D">
                      <a:alpha val="100000"/>
                      <a:lumMod val="60000"/>
                      <a:lumOff val="40000"/>
                    </a:srgbClr>
                  </a:gs>
                  <a:gs pos="60000">
                    <a:srgbClr val="9D9D9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7868993" y="4774862"/>
                <a:ext cx="2727814" cy="146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基于大数据分析，AI可为每位求职者提供量身定制的求职策略和建议。</a:t>
                </a:r>
                <a:endParaRPr lang="en-US" sz="1100"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AI的价值体现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30300"/>
            <a:ext cx="5435600" cy="106239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商业模式与定位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2192694"/>
            <a:ext cx="5435600" cy="394140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阐述项目的核心价值主张、目标用户群体及独特的先服务后付费模式，分析其商业逻辑与竞争力。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b04178a-601a-41f0-b6b1-51bc29909f5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400" y="1130300"/>
            <a:ext cx="10858500" cy="4927600"/>
            <a:chOff x="660400" y="1130300"/>
            <a:chExt cx="10858500" cy="49276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76201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结果导向</a:t>
              </a:r>
              <a:r>
                <a:rPr lang="zh-CN" altLang="en-US" sz="2400" b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、</a:t>
              </a: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低成本、高效率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1206500" y="2492669"/>
              <a:ext cx="3108324" cy="3565231"/>
              <a:chOff x="-8481" y="2492669"/>
              <a:chExt cx="3108324" cy="3565231"/>
            </a:xfrm>
          </p:grpSpPr>
          <p:grpSp>
            <p:nvGrpSpPr>
              <p:cNvPr id="6" name="Group 6"/>
              <p:cNvGrpSpPr/>
              <p:nvPr/>
            </p:nvGrpSpPr>
            <p:grpSpPr>
              <a:xfrm rot="0">
                <a:off x="-8481" y="3746500"/>
                <a:ext cx="3108324" cy="2311400"/>
                <a:chOff x="-8481" y="3822700"/>
                <a:chExt cx="3108324" cy="2311400"/>
              </a:xfrm>
            </p:grpSpPr>
            <p:sp>
              <p:nvSpPr>
                <p:cNvPr id="7" name="TextBox 7"/>
                <p:cNvSpPr txBox="1"/>
                <p:nvPr>
                  <p:custDataLst>
                    <p:tags r:id="rId2"/>
                  </p:custDataLst>
                </p:nvPr>
              </p:nvSpPr>
              <p:spPr>
                <a:xfrm>
                  <a:off x="-8481" y="4584714"/>
                  <a:ext cx="3108324" cy="154938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覆盖从职前规划到职后规划的完整求职链条，提供一站式解决方案。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1"/>
                <p:nvPr>
                  <p:custDataLst>
                    <p:tags r:id="rId3"/>
                  </p:custDataLst>
                </p:nvPr>
              </p:nvSpPr>
              <p:spPr>
                <a:xfrm>
                  <a:off x="-8481" y="3822700"/>
                  <a:ext cx="3108324" cy="76201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1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全流程赋能</a:t>
                  </a:r>
                  <a:endParaRPr lang="en-US" sz="1100"/>
                </a:p>
              </p:txBody>
            </p:sp>
          </p:grpSp>
          <p:grpSp>
            <p:nvGrpSpPr>
              <p:cNvPr id="9" name="Group 9"/>
              <p:cNvGrpSpPr/>
              <p:nvPr/>
            </p:nvGrpSpPr>
            <p:grpSpPr>
              <a:xfrm rot="0">
                <a:off x="1210828" y="2492669"/>
                <a:ext cx="677092" cy="1174132"/>
                <a:chOff x="1210828" y="2568869"/>
                <a:chExt cx="677092" cy="1174132"/>
              </a:xfrm>
            </p:grpSpPr>
            <p:sp>
              <p:nvSpPr>
                <p:cNvPr id="10" name="AutoShape 1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549374" y="3245961"/>
                  <a:ext cx="0" cy="497040"/>
                </a:xfrm>
                <a:prstGeom prst="line">
                  <a:avLst/>
                </a:prstGeom>
                <a:ln w="3175">
                  <a:solidFill>
                    <a:srgbClr val="768394">
                      <a:alpha val="50196"/>
                    </a:srgbClr>
                  </a:solidFill>
                  <a:prstDash val="sysDash"/>
                  <a:headEnd type="none"/>
                  <a:tailEnd type="oval"/>
                </a:ln>
              </p:spPr>
            </p:sp>
            <p:sp>
              <p:nvSpPr>
                <p:cNvPr id="11" name="TextBox 11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1210828" y="2568869"/>
                  <a:ext cx="677092" cy="677092"/>
                </a:xfrm>
                <a:prstGeom prst="ellipse">
                  <a:avLst/>
                </a:prstGeom>
                <a:solidFill>
                  <a:srgbClr val="4A58DA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01</a:t>
                  </a:r>
                  <a:endParaRPr lang="en-US" sz="1100"/>
                </a:p>
              </p:txBody>
            </p:sp>
          </p:grpSp>
        </p:grpSp>
        <p:grpSp>
          <p:nvGrpSpPr>
            <p:cNvPr id="12" name="Group 12"/>
            <p:cNvGrpSpPr/>
            <p:nvPr/>
          </p:nvGrpSpPr>
          <p:grpSpPr>
            <a:xfrm rot="0">
              <a:off x="4529138" y="2492669"/>
              <a:ext cx="3108324" cy="3565231"/>
              <a:chOff x="1809107" y="2492669"/>
              <a:chExt cx="3108324" cy="3565231"/>
            </a:xfrm>
          </p:grpSpPr>
          <p:grpSp>
            <p:nvGrpSpPr>
              <p:cNvPr id="13" name="Group 13"/>
              <p:cNvGrpSpPr/>
              <p:nvPr/>
            </p:nvGrpSpPr>
            <p:grpSpPr>
              <a:xfrm rot="0">
                <a:off x="1809107" y="3746500"/>
                <a:ext cx="3108324" cy="2311400"/>
                <a:chOff x="1809107" y="3822700"/>
                <a:chExt cx="3108324" cy="2311400"/>
              </a:xfrm>
            </p:grpSpPr>
            <p:sp>
              <p:nvSpPr>
                <p:cNvPr id="14" name="TextBox 14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1809107" y="4584714"/>
                  <a:ext cx="3108324" cy="154938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依托AI技术实现无人化、自动化服务，提升效率，降低成本。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1809107" y="3822700"/>
                  <a:ext cx="3108324" cy="76201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1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智能AI驱动</a:t>
                  </a:r>
                  <a:endParaRPr lang="en-US" sz="1100"/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 rot="0">
                <a:off x="3027677" y="2492669"/>
                <a:ext cx="677092" cy="1174132"/>
                <a:chOff x="1210828" y="2568869"/>
                <a:chExt cx="677092" cy="1174132"/>
              </a:xfrm>
            </p:grpSpPr>
            <p:sp>
              <p:nvSpPr>
                <p:cNvPr id="17" name="AutoShape 17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549374" y="3245961"/>
                  <a:ext cx="0" cy="497040"/>
                </a:xfrm>
                <a:prstGeom prst="line">
                  <a:avLst/>
                </a:prstGeom>
                <a:ln w="3175">
                  <a:solidFill>
                    <a:srgbClr val="768394">
                      <a:alpha val="50196"/>
                    </a:srgbClr>
                  </a:solidFill>
                  <a:prstDash val="sysDash"/>
                  <a:headEnd type="none"/>
                  <a:tailEnd type="oval"/>
                </a:ln>
              </p:spPr>
            </p:sp>
            <p:sp>
              <p:nvSpPr>
                <p:cNvPr id="18" name="TextBox 18"/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1210828" y="2568869"/>
                  <a:ext cx="677092" cy="677092"/>
                </a:xfrm>
                <a:prstGeom prst="ellipse">
                  <a:avLst/>
                </a:prstGeom>
                <a:solidFill>
                  <a:srgbClr val="DCDCDC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1100"/>
                </a:p>
              </p:txBody>
            </p:sp>
          </p:grpSp>
        </p:grpSp>
        <p:grpSp>
          <p:nvGrpSpPr>
            <p:cNvPr id="19" name="Group 19"/>
            <p:cNvGrpSpPr/>
            <p:nvPr/>
          </p:nvGrpSpPr>
          <p:grpSpPr>
            <a:xfrm rot="0">
              <a:off x="7851776" y="2492669"/>
              <a:ext cx="3108324" cy="3565231"/>
              <a:chOff x="3626695" y="2492669"/>
              <a:chExt cx="3108324" cy="3565231"/>
            </a:xfrm>
          </p:grpSpPr>
          <p:grpSp>
            <p:nvGrpSpPr>
              <p:cNvPr id="20" name="Group 20"/>
              <p:cNvGrpSpPr/>
              <p:nvPr/>
            </p:nvGrpSpPr>
            <p:grpSpPr>
              <a:xfrm rot="0">
                <a:off x="3626695" y="3746500"/>
                <a:ext cx="3108324" cy="2311400"/>
                <a:chOff x="3626695" y="3822700"/>
                <a:chExt cx="3108324" cy="2311400"/>
              </a:xfrm>
            </p:grpSpPr>
            <p:sp>
              <p:nvSpPr>
                <p:cNvPr id="21" name="TextBox 21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3626695" y="4584714"/>
                  <a:ext cx="3108324" cy="154938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服务聚焦于帮助求职者成功获得offer，并以结果作为付费依据。</a:t>
                  </a:r>
                  <a:endParaRPr lang="en-US" sz="1100"/>
                </a:p>
              </p:txBody>
            </p:sp>
            <p:sp>
              <p:nvSpPr>
                <p:cNvPr id="22" name="TextBox 22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3626695" y="3822700"/>
                  <a:ext cx="3108324" cy="76201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1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结果导向服务</a:t>
                  </a:r>
                  <a:endParaRPr lang="en-US" sz="1100"/>
                </a:p>
              </p:txBody>
            </p:sp>
          </p:grpSp>
          <p:grpSp>
            <p:nvGrpSpPr>
              <p:cNvPr id="23" name="Group 23"/>
              <p:cNvGrpSpPr/>
              <p:nvPr/>
            </p:nvGrpSpPr>
            <p:grpSpPr>
              <a:xfrm rot="0">
                <a:off x="4844526" y="2492669"/>
                <a:ext cx="677092" cy="1174132"/>
                <a:chOff x="1210828" y="2568869"/>
                <a:chExt cx="677092" cy="1174132"/>
              </a:xfrm>
            </p:grpSpPr>
            <p:sp>
              <p:nvSpPr>
                <p:cNvPr id="24" name="AutoShape 24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549374" y="3245961"/>
                  <a:ext cx="0" cy="497040"/>
                </a:xfrm>
                <a:prstGeom prst="line">
                  <a:avLst/>
                </a:prstGeom>
                <a:ln w="3175">
                  <a:solidFill>
                    <a:srgbClr val="768394">
                      <a:alpha val="50196"/>
                    </a:srgbClr>
                  </a:solidFill>
                  <a:prstDash val="sysDash"/>
                  <a:headEnd type="none"/>
                  <a:tailEnd type="oval"/>
                </a:ln>
              </p:spPr>
            </p:sp>
            <p:sp>
              <p:nvSpPr>
                <p:cNvPr id="25" name="TextBox 25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1210828" y="2568869"/>
                  <a:ext cx="677092" cy="677092"/>
                </a:xfrm>
                <a:prstGeom prst="ellipse">
                  <a:avLst/>
                </a:prstGeom>
                <a:solidFill>
                  <a:srgbClr val="9D9D9D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03</a:t>
                  </a:r>
                  <a:endParaRPr lang="en-US" sz="1100"/>
                </a:p>
              </p:txBody>
            </p:sp>
          </p:grpSp>
        </p:grpSp>
      </p:grpSp>
      <p:sp>
        <p:nvSpPr>
          <p:cNvPr id="26" name="TextBox 2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核心价值主张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d4a35b9-df58-4419-82cd-644e9c13d15e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400" y="1130300"/>
            <a:ext cx="10858500" cy="5723723"/>
            <a:chOff x="660400" y="1130300"/>
            <a:chExt cx="10858500" cy="5723723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>
              <a:off x="1185638" y="6728325"/>
              <a:ext cx="9809085" cy="125698"/>
            </a:xfrm>
            <a:custGeom>
              <a:avLst/>
              <a:gdLst/>
              <a:ahLst/>
              <a:cxnLst/>
              <a:rect l="l" t="t" r="r" b="b"/>
              <a:pathLst>
                <a:path w="1718" h="22">
                  <a:moveTo>
                    <a:pt x="1707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5" y="22"/>
                    <a:pt x="0" y="17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07" y="0"/>
                    <a:pt x="1707" y="0"/>
                    <a:pt x="1707" y="0"/>
                  </a:cubicBezTo>
                  <a:cubicBezTo>
                    <a:pt x="1713" y="0"/>
                    <a:pt x="1718" y="5"/>
                    <a:pt x="1718" y="11"/>
                  </a:cubicBezTo>
                  <a:cubicBezTo>
                    <a:pt x="1718" y="11"/>
                    <a:pt x="1718" y="11"/>
                    <a:pt x="1718" y="11"/>
                  </a:cubicBezTo>
                  <a:cubicBezTo>
                    <a:pt x="1718" y="17"/>
                    <a:pt x="1713" y="22"/>
                    <a:pt x="1707" y="22"/>
                  </a:cubicBezTo>
                  <a:close/>
                </a:path>
              </a:pathLst>
            </a:custGeom>
            <a:solidFill>
              <a:srgbClr val="DBDDD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>
              <p:custDataLst>
                <p:tags r:id="rId3"/>
              </p:custDataLst>
            </p:nvPr>
          </p:nvSpPr>
          <p:spPr>
            <a:xfrm>
              <a:off x="8888120" y="5396860"/>
              <a:ext cx="2106603" cy="109404"/>
            </a:xfrm>
            <a:prstGeom prst="rect">
              <a:avLst/>
            </a:prstGeom>
            <a:solidFill>
              <a:srgbClr val="5BB5B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>
              <p:custDataLst>
                <p:tags r:id="rId4"/>
              </p:custDataLst>
            </p:nvPr>
          </p:nvSpPr>
          <p:spPr>
            <a:xfrm>
              <a:off x="8743800" y="5396860"/>
              <a:ext cx="926439" cy="109404"/>
            </a:xfrm>
            <a:prstGeom prst="rect">
              <a:avLst/>
            </a:prstGeom>
            <a:solidFill>
              <a:srgbClr val="7DC4C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>
              <p:custDataLst>
                <p:tags r:id="rId5"/>
              </p:custDataLst>
            </p:nvPr>
          </p:nvSpPr>
          <p:spPr>
            <a:xfrm>
              <a:off x="10051988" y="5506265"/>
              <a:ext cx="62850" cy="1296550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>
              <p:custDataLst>
                <p:tags r:id="rId6"/>
              </p:custDataLst>
            </p:nvPr>
          </p:nvSpPr>
          <p:spPr>
            <a:xfrm>
              <a:off x="10743327" y="5506265"/>
              <a:ext cx="62850" cy="1296550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>
              <p:custDataLst>
                <p:tags r:id="rId7"/>
              </p:custDataLst>
            </p:nvPr>
          </p:nvSpPr>
          <p:spPr>
            <a:xfrm>
              <a:off x="7780117" y="4654314"/>
              <a:ext cx="593574" cy="977649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>
              <p:custDataLst>
                <p:tags r:id="rId8"/>
              </p:custDataLst>
            </p:nvPr>
          </p:nvSpPr>
          <p:spPr>
            <a:xfrm>
              <a:off x="7666058" y="4654314"/>
              <a:ext cx="223463" cy="977649"/>
            </a:xfrm>
            <a:custGeom>
              <a:avLst/>
              <a:gdLst/>
              <a:ahLst/>
              <a:cxnLst/>
              <a:rect l="l" t="t" r="r" b="b"/>
              <a:pathLst>
                <a:path w="39" h="171">
                  <a:moveTo>
                    <a:pt x="20" y="171"/>
                  </a:moveTo>
                  <a:cubicBezTo>
                    <a:pt x="20" y="171"/>
                    <a:pt x="20" y="171"/>
                    <a:pt x="20" y="171"/>
                  </a:cubicBezTo>
                  <a:cubicBezTo>
                    <a:pt x="9" y="171"/>
                    <a:pt x="0" y="162"/>
                    <a:pt x="0" y="151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151"/>
                    <a:pt x="39" y="151"/>
                    <a:pt x="39" y="151"/>
                  </a:cubicBezTo>
                  <a:cubicBezTo>
                    <a:pt x="39" y="162"/>
                    <a:pt x="30" y="171"/>
                    <a:pt x="20" y="171"/>
                  </a:cubicBezTo>
                  <a:close/>
                </a:path>
              </a:pathLst>
            </a:cu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>
              <p:custDataLst>
                <p:tags r:id="rId9"/>
              </p:custDataLst>
            </p:nvPr>
          </p:nvSpPr>
          <p:spPr>
            <a:xfrm>
              <a:off x="8264286" y="4654314"/>
              <a:ext cx="218807" cy="977649"/>
            </a:xfrm>
            <a:custGeom>
              <a:avLst/>
              <a:gdLst/>
              <a:ahLst/>
              <a:cxnLst/>
              <a:rect l="l" t="t" r="r" b="b"/>
              <a:pathLst>
                <a:path w="38" h="171">
                  <a:moveTo>
                    <a:pt x="19" y="171"/>
                  </a:moveTo>
                  <a:cubicBezTo>
                    <a:pt x="19" y="171"/>
                    <a:pt x="19" y="171"/>
                    <a:pt x="19" y="171"/>
                  </a:cubicBezTo>
                  <a:cubicBezTo>
                    <a:pt x="8" y="171"/>
                    <a:pt x="0" y="162"/>
                    <a:pt x="0" y="151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30" y="0"/>
                    <a:pt x="38" y="9"/>
                    <a:pt x="38" y="19"/>
                  </a:cubicBezTo>
                  <a:cubicBezTo>
                    <a:pt x="38" y="151"/>
                    <a:pt x="38" y="151"/>
                    <a:pt x="38" y="151"/>
                  </a:cubicBezTo>
                  <a:cubicBezTo>
                    <a:pt x="38" y="162"/>
                    <a:pt x="30" y="171"/>
                    <a:pt x="19" y="171"/>
                  </a:cubicBezTo>
                  <a:close/>
                </a:path>
              </a:pathLst>
            </a:cu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>
              <p:custDataLst>
                <p:tags r:id="rId10"/>
              </p:custDataLst>
            </p:nvPr>
          </p:nvSpPr>
          <p:spPr>
            <a:xfrm>
              <a:off x="8059445" y="5631962"/>
              <a:ext cx="90782" cy="200185"/>
            </a:xfrm>
            <a:prstGeom prst="rect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>
              <p:custDataLst>
                <p:tags r:id="rId11"/>
              </p:custDataLst>
            </p:nvPr>
          </p:nvSpPr>
          <p:spPr>
            <a:xfrm>
              <a:off x="8345758" y="5527214"/>
              <a:ext cx="1128953" cy="966011"/>
            </a:xfrm>
            <a:custGeom>
              <a:avLst/>
              <a:gdLst/>
              <a:ahLst/>
              <a:cxnLst/>
              <a:rect l="l" t="t" r="r" b="b"/>
              <a:pathLst>
                <a:path w="198" h="169">
                  <a:moveTo>
                    <a:pt x="174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39"/>
                    <a:pt x="21" y="58"/>
                    <a:pt x="45" y="56"/>
                  </a:cubicBezTo>
                  <a:cubicBezTo>
                    <a:pt x="147" y="47"/>
                    <a:pt x="147" y="47"/>
                    <a:pt x="147" y="47"/>
                  </a:cubicBezTo>
                  <a:cubicBezTo>
                    <a:pt x="124" y="169"/>
                    <a:pt x="124" y="169"/>
                    <a:pt x="124" y="169"/>
                  </a:cubicBezTo>
                  <a:cubicBezTo>
                    <a:pt x="168" y="169"/>
                    <a:pt x="168" y="169"/>
                    <a:pt x="168" y="169"/>
                  </a:cubicBezTo>
                  <a:cubicBezTo>
                    <a:pt x="196" y="26"/>
                    <a:pt x="196" y="26"/>
                    <a:pt x="196" y="26"/>
                  </a:cubicBezTo>
                  <a:cubicBezTo>
                    <a:pt x="198" y="12"/>
                    <a:pt x="188" y="0"/>
                    <a:pt x="174" y="0"/>
                  </a:cubicBezTo>
                  <a:close/>
                </a:path>
              </a:pathLst>
            </a:custGeom>
            <a:solidFill>
              <a:srgbClr val="22384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>
              <p:custDataLst>
                <p:tags r:id="rId12"/>
              </p:custDataLst>
            </p:nvPr>
          </p:nvSpPr>
          <p:spPr>
            <a:xfrm>
              <a:off x="9030112" y="6493225"/>
              <a:ext cx="600556" cy="258379"/>
            </a:xfrm>
            <a:custGeom>
              <a:avLst/>
              <a:gdLst/>
              <a:ahLst/>
              <a:cxnLst/>
              <a:rect l="l" t="t" r="r" b="b"/>
              <a:pathLst>
                <a:path w="105" h="45">
                  <a:moveTo>
                    <a:pt x="105" y="45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2" y="17"/>
                    <a:pt x="4" y="8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97" y="19"/>
                    <a:pt x="105" y="31"/>
                    <a:pt x="105" y="45"/>
                  </a:cubicBezTo>
                  <a:close/>
                </a:path>
              </a:pathLst>
            </a:custGeom>
            <a:solidFill>
              <a:srgbClr val="66513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>
              <p:custDataLst>
                <p:tags r:id="rId13"/>
              </p:custDataLst>
            </p:nvPr>
          </p:nvSpPr>
          <p:spPr>
            <a:xfrm>
              <a:off x="9081323" y="6493225"/>
              <a:ext cx="193203" cy="86127"/>
            </a:xfrm>
            <a:custGeom>
              <a:avLst/>
              <a:gdLst/>
              <a:ahLst/>
              <a:cxnLst/>
              <a:rect l="l" t="t" r="r" b="b"/>
              <a:pathLst>
                <a:path w="34" h="1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7" y="15"/>
                    <a:pt x="15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7" y="15"/>
                    <a:pt x="34" y="9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8877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>
              <p:custDataLst>
                <p:tags r:id="rId14"/>
              </p:custDataLst>
            </p:nvPr>
          </p:nvSpPr>
          <p:spPr>
            <a:xfrm>
              <a:off x="9006835" y="6751603"/>
              <a:ext cx="651766" cy="51210"/>
            </a:xfrm>
            <a:custGeom>
              <a:avLst/>
              <a:gdLst/>
              <a:ahLst/>
              <a:cxnLst/>
              <a:rect l="l" t="t" r="r" b="b"/>
              <a:pathLst>
                <a:path w="114" h="9">
                  <a:moveTo>
                    <a:pt x="110" y="9"/>
                  </a:moveTo>
                  <a:cubicBezTo>
                    <a:pt x="3" y="9"/>
                    <a:pt x="3" y="9"/>
                    <a:pt x="3" y="9"/>
                  </a:cubicBezTo>
                  <a:cubicBezTo>
                    <a:pt x="2" y="9"/>
                    <a:pt x="0" y="8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2" y="0"/>
                    <a:pt x="114" y="1"/>
                    <a:pt x="114" y="3"/>
                  </a:cubicBezTo>
                  <a:cubicBezTo>
                    <a:pt x="114" y="6"/>
                    <a:pt x="114" y="6"/>
                    <a:pt x="114" y="6"/>
                  </a:cubicBezTo>
                  <a:cubicBezTo>
                    <a:pt x="114" y="8"/>
                    <a:pt x="112" y="9"/>
                    <a:pt x="110" y="9"/>
                  </a:cubicBezTo>
                  <a:close/>
                </a:path>
              </a:pathLst>
            </a:custGeom>
            <a:solidFill>
              <a:srgbClr val="C2C4C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>
              <p:custDataLst>
                <p:tags r:id="rId15"/>
              </p:custDataLst>
            </p:nvPr>
          </p:nvSpPr>
          <p:spPr>
            <a:xfrm>
              <a:off x="9304785" y="6476930"/>
              <a:ext cx="90782" cy="97765"/>
            </a:xfrm>
            <a:custGeom>
              <a:avLst/>
              <a:gdLst/>
              <a:ahLst/>
              <a:cxnLst/>
              <a:rect l="l" t="t" r="r" b="b"/>
              <a:pathLst>
                <a:path w="16" h="17">
                  <a:moveTo>
                    <a:pt x="15" y="8"/>
                  </a:moveTo>
                  <a:cubicBezTo>
                    <a:pt x="10" y="14"/>
                    <a:pt x="10" y="14"/>
                    <a:pt x="10" y="14"/>
                  </a:cubicBezTo>
                  <a:cubicBezTo>
                    <a:pt x="9" y="17"/>
                    <a:pt x="5" y="17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1" y="14"/>
                    <a:pt x="0" y="11"/>
                    <a:pt x="2" y="9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8" y="0"/>
                    <a:pt x="11" y="0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5" y="3"/>
                    <a:pt x="16" y="6"/>
                    <a:pt x="15" y="8"/>
                  </a:cubicBezTo>
                  <a:close/>
                </a:path>
              </a:pathLst>
            </a:custGeom>
            <a:solidFill>
              <a:srgbClr val="C2C4C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>
              <p:custDataLst>
                <p:tags r:id="rId16"/>
              </p:custDataLst>
            </p:nvPr>
          </p:nvSpPr>
          <p:spPr>
            <a:xfrm>
              <a:off x="9360651" y="6493225"/>
              <a:ext cx="86127" cy="102420"/>
            </a:xfrm>
            <a:custGeom>
              <a:avLst/>
              <a:gdLst/>
              <a:ahLst/>
              <a:cxnLst/>
              <a:rect l="l" t="t" r="r" b="b"/>
              <a:pathLst>
                <a:path w="15" h="18">
                  <a:moveTo>
                    <a:pt x="14" y="9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7"/>
                    <a:pt x="5" y="18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1"/>
                    <a:pt x="10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5" y="3"/>
                    <a:pt x="15" y="6"/>
                    <a:pt x="14" y="9"/>
                  </a:cubicBezTo>
                  <a:close/>
                </a:path>
              </a:pathLst>
            </a:custGeom>
            <a:solidFill>
              <a:srgbClr val="C2C4C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>
              <p:custDataLst>
                <p:tags r:id="rId17"/>
              </p:custDataLst>
            </p:nvPr>
          </p:nvSpPr>
          <p:spPr>
            <a:xfrm>
              <a:off x="9411861" y="6516502"/>
              <a:ext cx="86127" cy="102420"/>
            </a:xfrm>
            <a:custGeom>
              <a:avLst/>
              <a:gdLst/>
              <a:ahLst/>
              <a:cxnLst/>
              <a:rect l="l" t="t" r="r" b="b"/>
              <a:pathLst>
                <a:path w="15" h="18">
                  <a:moveTo>
                    <a:pt x="14" y="8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7"/>
                    <a:pt x="5" y="18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0" y="15"/>
                    <a:pt x="0" y="12"/>
                    <a:pt x="1" y="9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1"/>
                    <a:pt x="10" y="0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5" y="3"/>
                    <a:pt x="15" y="6"/>
                    <a:pt x="14" y="8"/>
                  </a:cubicBezTo>
                  <a:close/>
                </a:path>
              </a:pathLst>
            </a:custGeom>
            <a:solidFill>
              <a:srgbClr val="C2C4C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>
              <p:custDataLst>
                <p:tags r:id="rId18"/>
              </p:custDataLst>
            </p:nvPr>
          </p:nvSpPr>
          <p:spPr>
            <a:xfrm>
              <a:off x="8133933" y="5527214"/>
              <a:ext cx="1131280" cy="966011"/>
            </a:xfrm>
            <a:custGeom>
              <a:avLst/>
              <a:gdLst/>
              <a:ahLst/>
              <a:cxnLst/>
              <a:rect l="l" t="t" r="r" b="b"/>
              <a:pathLst>
                <a:path w="198" h="169">
                  <a:moveTo>
                    <a:pt x="174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39"/>
                    <a:pt x="21" y="58"/>
                    <a:pt x="45" y="56"/>
                  </a:cubicBezTo>
                  <a:cubicBezTo>
                    <a:pt x="147" y="47"/>
                    <a:pt x="147" y="47"/>
                    <a:pt x="147" y="47"/>
                  </a:cubicBezTo>
                  <a:cubicBezTo>
                    <a:pt x="124" y="169"/>
                    <a:pt x="124" y="169"/>
                    <a:pt x="124" y="169"/>
                  </a:cubicBezTo>
                  <a:cubicBezTo>
                    <a:pt x="168" y="169"/>
                    <a:pt x="168" y="169"/>
                    <a:pt x="168" y="169"/>
                  </a:cubicBezTo>
                  <a:cubicBezTo>
                    <a:pt x="195" y="26"/>
                    <a:pt x="195" y="26"/>
                    <a:pt x="195" y="26"/>
                  </a:cubicBezTo>
                  <a:cubicBezTo>
                    <a:pt x="198" y="12"/>
                    <a:pt x="188" y="0"/>
                    <a:pt x="174" y="0"/>
                  </a:cubicBezTo>
                  <a:close/>
                </a:path>
              </a:pathLst>
            </a:custGeom>
            <a:solidFill>
              <a:srgbClr val="2B417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>
              <p:custDataLst>
                <p:tags r:id="rId19"/>
              </p:custDataLst>
            </p:nvPr>
          </p:nvSpPr>
          <p:spPr>
            <a:xfrm>
              <a:off x="8676296" y="5527214"/>
              <a:ext cx="588918" cy="966011"/>
            </a:xfrm>
            <a:custGeom>
              <a:avLst/>
              <a:gdLst/>
              <a:ahLst/>
              <a:cxnLst/>
              <a:rect l="l" t="t" r="r" b="b"/>
              <a:pathLst>
                <a:path w="103" h="169">
                  <a:moveTo>
                    <a:pt x="7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" y="15"/>
                    <a:pt x="10" y="36"/>
                    <a:pt x="2" y="52"/>
                  </a:cubicBezTo>
                  <a:cubicBezTo>
                    <a:pt x="52" y="47"/>
                    <a:pt x="52" y="47"/>
                    <a:pt x="52" y="47"/>
                  </a:cubicBezTo>
                  <a:cubicBezTo>
                    <a:pt x="29" y="169"/>
                    <a:pt x="29" y="169"/>
                    <a:pt x="29" y="169"/>
                  </a:cubicBezTo>
                  <a:cubicBezTo>
                    <a:pt x="73" y="169"/>
                    <a:pt x="73" y="169"/>
                    <a:pt x="73" y="169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103" y="12"/>
                    <a:pt x="93" y="0"/>
                    <a:pt x="79" y="0"/>
                  </a:cubicBezTo>
                  <a:close/>
                </a:path>
              </a:pathLst>
            </a:custGeom>
            <a:solidFill>
              <a:srgbClr val="1E3B6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>
              <p:custDataLst>
                <p:tags r:id="rId20"/>
              </p:custDataLst>
            </p:nvPr>
          </p:nvSpPr>
          <p:spPr>
            <a:xfrm>
              <a:off x="8813632" y="6493225"/>
              <a:ext cx="605212" cy="258379"/>
            </a:xfrm>
            <a:custGeom>
              <a:avLst/>
              <a:gdLst/>
              <a:ahLst/>
              <a:cxnLst/>
              <a:rect l="l" t="t" r="r" b="b"/>
              <a:pathLst>
                <a:path w="106" h="45">
                  <a:moveTo>
                    <a:pt x="106" y="45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17"/>
                    <a:pt x="5" y="8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97" y="19"/>
                    <a:pt x="106" y="31"/>
                    <a:pt x="106" y="45"/>
                  </a:cubicBezTo>
                  <a:close/>
                </a:path>
              </a:pathLst>
            </a:custGeom>
            <a:solidFill>
              <a:srgbClr val="88704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>
              <p:custDataLst>
                <p:tags r:id="rId21"/>
              </p:custDataLst>
            </p:nvPr>
          </p:nvSpPr>
          <p:spPr>
            <a:xfrm>
              <a:off x="8869498" y="6493225"/>
              <a:ext cx="195530" cy="86127"/>
            </a:xfrm>
            <a:custGeom>
              <a:avLst/>
              <a:gdLst/>
              <a:ahLst/>
              <a:cxnLst/>
              <a:rect l="l" t="t" r="r" b="b"/>
              <a:pathLst>
                <a:path w="34" h="1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7" y="15"/>
                    <a:pt x="15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27" y="15"/>
                    <a:pt x="34" y="9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>
              <p:custDataLst>
                <p:tags r:id="rId22"/>
              </p:custDataLst>
            </p:nvPr>
          </p:nvSpPr>
          <p:spPr>
            <a:xfrm>
              <a:off x="8795010" y="6751603"/>
              <a:ext cx="647111" cy="51210"/>
            </a:xfrm>
            <a:custGeom>
              <a:avLst/>
              <a:gdLst/>
              <a:ahLst/>
              <a:cxnLst/>
              <a:rect l="l" t="t" r="r" b="b"/>
              <a:pathLst>
                <a:path w="113" h="9">
                  <a:moveTo>
                    <a:pt x="110" y="9"/>
                  </a:moveTo>
                  <a:cubicBezTo>
                    <a:pt x="3" y="9"/>
                    <a:pt x="3" y="9"/>
                    <a:pt x="3" y="9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2" y="0"/>
                    <a:pt x="113" y="1"/>
                    <a:pt x="113" y="3"/>
                  </a:cubicBezTo>
                  <a:cubicBezTo>
                    <a:pt x="113" y="6"/>
                    <a:pt x="113" y="6"/>
                    <a:pt x="113" y="6"/>
                  </a:cubicBezTo>
                  <a:cubicBezTo>
                    <a:pt x="113" y="8"/>
                    <a:pt x="112" y="9"/>
                    <a:pt x="110" y="9"/>
                  </a:cubicBezTo>
                  <a:close/>
                </a:path>
              </a:pathLst>
            </a:custGeom>
            <a:solidFill>
              <a:srgbClr val="E1E3E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>
              <p:custDataLst>
                <p:tags r:id="rId23"/>
              </p:custDataLst>
            </p:nvPr>
          </p:nvSpPr>
          <p:spPr>
            <a:xfrm>
              <a:off x="9092961" y="6476930"/>
              <a:ext cx="90782" cy="97765"/>
            </a:xfrm>
            <a:custGeom>
              <a:avLst/>
              <a:gdLst/>
              <a:ahLst/>
              <a:cxnLst/>
              <a:rect l="l" t="t" r="r" b="b"/>
              <a:pathLst>
                <a:path w="16" h="17">
                  <a:moveTo>
                    <a:pt x="14" y="8"/>
                  </a:moveTo>
                  <a:cubicBezTo>
                    <a:pt x="10" y="14"/>
                    <a:pt x="10" y="14"/>
                    <a:pt x="10" y="14"/>
                  </a:cubicBezTo>
                  <a:cubicBezTo>
                    <a:pt x="8" y="17"/>
                    <a:pt x="5" y="17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1" y="14"/>
                    <a:pt x="0" y="11"/>
                    <a:pt x="2" y="9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8" y="0"/>
                    <a:pt x="11" y="0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5" y="3"/>
                    <a:pt x="16" y="6"/>
                    <a:pt x="14" y="8"/>
                  </a:cubicBezTo>
                  <a:close/>
                </a:path>
              </a:pathLst>
            </a:custGeom>
            <a:solidFill>
              <a:srgbClr val="E1E3E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>
              <p:custDataLst>
                <p:tags r:id="rId24"/>
              </p:custDataLst>
            </p:nvPr>
          </p:nvSpPr>
          <p:spPr>
            <a:xfrm>
              <a:off x="9144171" y="6493225"/>
              <a:ext cx="90782" cy="102420"/>
            </a:xfrm>
            <a:custGeom>
              <a:avLst/>
              <a:gdLst/>
              <a:ahLst/>
              <a:cxnLst/>
              <a:rect l="l" t="t" r="r" b="b"/>
              <a:pathLst>
                <a:path w="16" h="18">
                  <a:moveTo>
                    <a:pt x="14" y="9"/>
                  </a:moveTo>
                  <a:cubicBezTo>
                    <a:pt x="10" y="15"/>
                    <a:pt x="10" y="15"/>
                    <a:pt x="10" y="15"/>
                  </a:cubicBezTo>
                  <a:cubicBezTo>
                    <a:pt x="8" y="17"/>
                    <a:pt x="5" y="18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1" y="15"/>
                    <a:pt x="0" y="12"/>
                    <a:pt x="2" y="10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8" y="1"/>
                    <a:pt x="11" y="0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5" y="3"/>
                    <a:pt x="16" y="6"/>
                    <a:pt x="14" y="9"/>
                  </a:cubicBezTo>
                  <a:close/>
                </a:path>
              </a:pathLst>
            </a:custGeom>
            <a:solidFill>
              <a:srgbClr val="E1E3E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>
              <p:custDataLst>
                <p:tags r:id="rId25"/>
              </p:custDataLst>
            </p:nvPr>
          </p:nvSpPr>
          <p:spPr>
            <a:xfrm>
              <a:off x="9195381" y="6516502"/>
              <a:ext cx="90782" cy="102420"/>
            </a:xfrm>
            <a:custGeom>
              <a:avLst/>
              <a:gdLst/>
              <a:ahLst/>
              <a:cxnLst/>
              <a:rect l="l" t="t" r="r" b="b"/>
              <a:pathLst>
                <a:path w="16" h="18">
                  <a:moveTo>
                    <a:pt x="14" y="8"/>
                  </a:moveTo>
                  <a:cubicBezTo>
                    <a:pt x="10" y="15"/>
                    <a:pt x="10" y="15"/>
                    <a:pt x="10" y="15"/>
                  </a:cubicBezTo>
                  <a:cubicBezTo>
                    <a:pt x="9" y="17"/>
                    <a:pt x="5" y="18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1" y="15"/>
                    <a:pt x="0" y="12"/>
                    <a:pt x="2" y="9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8" y="1"/>
                    <a:pt x="11" y="0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5" y="3"/>
                    <a:pt x="16" y="6"/>
                    <a:pt x="14" y="8"/>
                  </a:cubicBezTo>
                  <a:close/>
                </a:path>
              </a:pathLst>
            </a:custGeom>
            <a:solidFill>
              <a:srgbClr val="E1E3E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>
              <p:custDataLst>
                <p:tags r:id="rId26"/>
              </p:custDataLst>
            </p:nvPr>
          </p:nvSpPr>
          <p:spPr>
            <a:xfrm>
              <a:off x="7996597" y="6009056"/>
              <a:ext cx="216480" cy="181563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>
              <p:custDataLst>
                <p:tags r:id="rId27"/>
              </p:custDataLst>
            </p:nvPr>
          </p:nvSpPr>
          <p:spPr>
            <a:xfrm>
              <a:off x="8059445" y="6190619"/>
              <a:ext cx="90782" cy="90782"/>
            </a:xfrm>
            <a:prstGeom prst="rect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>
              <p:custDataLst>
                <p:tags r:id="rId28"/>
              </p:custDataLst>
            </p:nvPr>
          </p:nvSpPr>
          <p:spPr>
            <a:xfrm>
              <a:off x="8008235" y="6281400"/>
              <a:ext cx="193203" cy="172252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>
              <p:custDataLst>
                <p:tags r:id="rId29"/>
              </p:custDataLst>
            </p:nvPr>
          </p:nvSpPr>
          <p:spPr>
            <a:xfrm>
              <a:off x="8075740" y="6453652"/>
              <a:ext cx="69832" cy="239758"/>
            </a:xfrm>
            <a:prstGeom prst="rect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2" name="AutoShape 32"/>
            <p:cNvSpPr/>
            <p:nvPr>
              <p:custDataLst>
                <p:tags r:id="rId30"/>
              </p:custDataLst>
            </p:nvPr>
          </p:nvSpPr>
          <p:spPr>
            <a:xfrm>
              <a:off x="7591571" y="6523485"/>
              <a:ext cx="1026533" cy="169925"/>
            </a:xfrm>
            <a:custGeom>
              <a:avLst/>
              <a:gdLst/>
              <a:ahLst/>
              <a:cxnLst/>
              <a:rect l="l" t="t" r="r" b="b"/>
              <a:pathLst>
                <a:path w="180" h="30">
                  <a:moveTo>
                    <a:pt x="0" y="22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16"/>
                    <a:pt x="19" y="11"/>
                    <a:pt x="26" y="11"/>
                  </a:cubicBezTo>
                  <a:cubicBezTo>
                    <a:pt x="155" y="11"/>
                    <a:pt x="155" y="11"/>
                    <a:pt x="155" y="11"/>
                  </a:cubicBezTo>
                  <a:cubicBezTo>
                    <a:pt x="162" y="11"/>
                    <a:pt x="167" y="16"/>
                    <a:pt x="167" y="23"/>
                  </a:cubicBezTo>
                  <a:cubicBezTo>
                    <a:pt x="167" y="30"/>
                    <a:pt x="167" y="30"/>
                    <a:pt x="167" y="30"/>
                  </a:cubicBezTo>
                  <a:cubicBezTo>
                    <a:pt x="180" y="30"/>
                    <a:pt x="180" y="30"/>
                    <a:pt x="180" y="30"/>
                  </a:cubicBezTo>
                  <a:cubicBezTo>
                    <a:pt x="180" y="22"/>
                    <a:pt x="180" y="22"/>
                    <a:pt x="180" y="22"/>
                  </a:cubicBezTo>
                  <a:cubicBezTo>
                    <a:pt x="180" y="10"/>
                    <a:pt x="170" y="0"/>
                    <a:pt x="158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0"/>
                    <a:pt x="0" y="22"/>
                  </a:cubicBezTo>
                  <a:close/>
                </a:path>
              </a:pathLst>
            </a:cu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3" name="AutoShape 33"/>
            <p:cNvSpPr/>
            <p:nvPr>
              <p:custDataLst>
                <p:tags r:id="rId31"/>
              </p:custDataLst>
            </p:nvPr>
          </p:nvSpPr>
          <p:spPr>
            <a:xfrm>
              <a:off x="7551999" y="6649182"/>
              <a:ext cx="153631" cy="153631"/>
            </a:xfrm>
            <a:prstGeom prst="ellipse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4" name="AutoShape 34"/>
            <p:cNvSpPr/>
            <p:nvPr>
              <p:custDataLst>
                <p:tags r:id="rId32"/>
              </p:custDataLst>
            </p:nvPr>
          </p:nvSpPr>
          <p:spPr>
            <a:xfrm>
              <a:off x="8031512" y="6649182"/>
              <a:ext cx="153631" cy="153631"/>
            </a:xfrm>
            <a:prstGeom prst="ellipse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5" name="AutoShape 35"/>
            <p:cNvSpPr/>
            <p:nvPr>
              <p:custDataLst>
                <p:tags r:id="rId33"/>
              </p:custDataLst>
            </p:nvPr>
          </p:nvSpPr>
          <p:spPr>
            <a:xfrm>
              <a:off x="8504044" y="6649182"/>
              <a:ext cx="155959" cy="153631"/>
            </a:xfrm>
            <a:prstGeom prst="ellipse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6" name="AutoShape 36"/>
            <p:cNvSpPr/>
            <p:nvPr>
              <p:custDataLst>
                <p:tags r:id="rId34"/>
              </p:custDataLst>
            </p:nvPr>
          </p:nvSpPr>
          <p:spPr>
            <a:xfrm>
              <a:off x="8031512" y="5832148"/>
              <a:ext cx="758842" cy="221136"/>
            </a:xfrm>
            <a:custGeom>
              <a:avLst/>
              <a:gdLst/>
              <a:ahLst/>
              <a:cxnLst/>
              <a:rect l="l" t="t" r="r" b="b"/>
              <a:pathLst>
                <a:path w="133" h="39"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24" y="0"/>
                    <a:pt x="133" y="9"/>
                    <a:pt x="133" y="19"/>
                  </a:cubicBezTo>
                  <a:cubicBezTo>
                    <a:pt x="133" y="19"/>
                    <a:pt x="133" y="19"/>
                    <a:pt x="133" y="19"/>
                  </a:cubicBezTo>
                  <a:cubicBezTo>
                    <a:pt x="133" y="30"/>
                    <a:pt x="124" y="39"/>
                    <a:pt x="114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8" y="39"/>
                    <a:pt x="0" y="30"/>
                    <a:pt x="0" y="19"/>
                  </a:cubicBezTo>
                  <a:close/>
                </a:path>
              </a:pathLst>
            </a:cu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>
              <p:custDataLst>
                <p:tags r:id="rId35"/>
              </p:custDataLst>
            </p:nvPr>
          </p:nvSpPr>
          <p:spPr>
            <a:xfrm>
              <a:off x="7626486" y="5832148"/>
              <a:ext cx="672717" cy="221136"/>
            </a:xfrm>
            <a:custGeom>
              <a:avLst/>
              <a:gdLst/>
              <a:ahLst/>
              <a:cxnLst/>
              <a:rect l="l" t="t" r="r" b="b"/>
              <a:pathLst>
                <a:path w="118" h="39"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10" y="0"/>
                    <a:pt x="118" y="9"/>
                    <a:pt x="118" y="19"/>
                  </a:cubicBezTo>
                  <a:cubicBezTo>
                    <a:pt x="118" y="19"/>
                    <a:pt x="118" y="19"/>
                    <a:pt x="118" y="19"/>
                  </a:cubicBezTo>
                  <a:cubicBezTo>
                    <a:pt x="118" y="30"/>
                    <a:pt x="110" y="39"/>
                    <a:pt x="9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8" y="39"/>
                    <a:pt x="0" y="30"/>
                    <a:pt x="0" y="19"/>
                  </a:cubicBezTo>
                  <a:close/>
                </a:path>
              </a:pathLst>
            </a:cu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>
              <p:custDataLst>
                <p:tags r:id="rId36"/>
              </p:custDataLst>
            </p:nvPr>
          </p:nvSpPr>
          <p:spPr>
            <a:xfrm>
              <a:off x="9241936" y="5282802"/>
              <a:ext cx="365455" cy="114060"/>
            </a:xfrm>
            <a:custGeom>
              <a:avLst/>
              <a:gdLst/>
              <a:ahLst/>
              <a:cxnLst/>
              <a:rect l="l" t="t" r="r" b="b"/>
              <a:pathLst>
                <a:path w="64" h="20">
                  <a:moveTo>
                    <a:pt x="58" y="4"/>
                  </a:moveTo>
                  <a:cubicBezTo>
                    <a:pt x="58" y="4"/>
                    <a:pt x="58" y="4"/>
                    <a:pt x="58" y="4"/>
                  </a:cubicBezTo>
                  <a:cubicBezTo>
                    <a:pt x="52" y="1"/>
                    <a:pt x="46" y="0"/>
                    <a:pt x="40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19" y="2"/>
                    <a:pt x="15" y="4"/>
                    <a:pt x="13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4" y="10"/>
                    <a:pt x="62" y="6"/>
                    <a:pt x="58" y="4"/>
                  </a:cubicBez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9" name="AutoShape 39"/>
            <p:cNvSpPr/>
            <p:nvPr>
              <p:custDataLst>
                <p:tags r:id="rId37"/>
              </p:custDataLst>
            </p:nvPr>
          </p:nvSpPr>
          <p:spPr>
            <a:xfrm>
              <a:off x="9274524" y="5282802"/>
              <a:ext cx="332867" cy="114060"/>
            </a:xfrm>
            <a:custGeom>
              <a:avLst/>
              <a:gdLst/>
              <a:ahLst/>
              <a:cxnLst/>
              <a:rect l="l" t="t" r="r" b="b"/>
              <a:pathLst>
                <a:path w="58" h="20">
                  <a:moveTo>
                    <a:pt x="52" y="4"/>
                  </a:moveTo>
                  <a:cubicBezTo>
                    <a:pt x="52" y="4"/>
                    <a:pt x="52" y="4"/>
                    <a:pt x="52" y="4"/>
                  </a:cubicBezTo>
                  <a:cubicBezTo>
                    <a:pt x="46" y="1"/>
                    <a:pt x="40" y="0"/>
                    <a:pt x="34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3" y="2"/>
                    <a:pt x="9" y="4"/>
                    <a:pt x="7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8" y="20"/>
                    <a:pt x="58" y="20"/>
                    <a:pt x="58" y="20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58" y="10"/>
                    <a:pt x="56" y="6"/>
                    <a:pt x="52" y="4"/>
                  </a:cubicBez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0" name="AutoShape 40"/>
            <p:cNvSpPr/>
            <p:nvPr>
              <p:custDataLst>
                <p:tags r:id="rId38"/>
              </p:custDataLst>
            </p:nvPr>
          </p:nvSpPr>
          <p:spPr>
            <a:xfrm>
              <a:off x="8534304" y="4631036"/>
              <a:ext cx="740220" cy="765826"/>
            </a:xfrm>
            <a:custGeom>
              <a:avLst/>
              <a:gdLst/>
              <a:ahLst/>
              <a:cxnLst/>
              <a:rect l="l" t="t" r="r" b="b"/>
              <a:pathLst>
                <a:path w="130" h="134">
                  <a:moveTo>
                    <a:pt x="53" y="104"/>
                  </a:moveTo>
                  <a:cubicBezTo>
                    <a:pt x="44" y="23"/>
                    <a:pt x="44" y="23"/>
                    <a:pt x="44" y="2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4" y="100"/>
                    <a:pt x="4" y="100"/>
                    <a:pt x="4" y="100"/>
                  </a:cubicBezTo>
                  <a:cubicBezTo>
                    <a:pt x="0" y="117"/>
                    <a:pt x="13" y="134"/>
                    <a:pt x="30" y="134"/>
                  </a:cubicBezTo>
                  <a:cubicBezTo>
                    <a:pt x="130" y="134"/>
                    <a:pt x="130" y="134"/>
                    <a:pt x="130" y="134"/>
                  </a:cubicBezTo>
                  <a:cubicBezTo>
                    <a:pt x="130" y="115"/>
                    <a:pt x="130" y="115"/>
                    <a:pt x="130" y="115"/>
                  </a:cubicBezTo>
                  <a:lnTo>
                    <a:pt x="53" y="104"/>
                  </a:lnTo>
                  <a:close/>
                </a:path>
              </a:pathLst>
            </a:custGeom>
            <a:solidFill>
              <a:srgbClr val="EA640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1" name="AutoShape 41"/>
            <p:cNvSpPr/>
            <p:nvPr>
              <p:custDataLst>
                <p:tags r:id="rId39"/>
              </p:custDataLst>
            </p:nvPr>
          </p:nvSpPr>
          <p:spPr>
            <a:xfrm>
              <a:off x="8590169" y="4631036"/>
              <a:ext cx="235102" cy="318901"/>
            </a:xfrm>
            <a:custGeom>
              <a:avLst/>
              <a:gdLst/>
              <a:ahLst/>
              <a:cxnLst/>
              <a:rect l="l" t="t" r="r" b="b"/>
              <a:pathLst>
                <a:path w="101" h="137">
                  <a:moveTo>
                    <a:pt x="101" y="137"/>
                  </a:moveTo>
                  <a:lnTo>
                    <a:pt x="81" y="27"/>
                  </a:lnTo>
                  <a:lnTo>
                    <a:pt x="15" y="0"/>
                  </a:lnTo>
                  <a:lnTo>
                    <a:pt x="0" y="137"/>
                  </a:lnTo>
                  <a:lnTo>
                    <a:pt x="101" y="137"/>
                  </a:lnTo>
                  <a:close/>
                </a:path>
              </a:pathLst>
            </a:custGeom>
            <a:solidFill>
              <a:srgbClr val="BE391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2" name="AutoShape 42"/>
            <p:cNvSpPr/>
            <p:nvPr>
              <p:custDataLst>
                <p:tags r:id="rId40"/>
              </p:custDataLst>
            </p:nvPr>
          </p:nvSpPr>
          <p:spPr>
            <a:xfrm>
              <a:off x="9246591" y="5282802"/>
              <a:ext cx="27933" cy="114060"/>
            </a:xfrm>
            <a:custGeom>
              <a:avLst/>
              <a:gdLst/>
              <a:ahLst/>
              <a:cxnLst/>
              <a:rect l="l" t="t" r="r" b="b"/>
              <a:pathLst>
                <a:path w="12" h="49">
                  <a:moveTo>
                    <a:pt x="0" y="0"/>
                  </a:moveTo>
                  <a:lnTo>
                    <a:pt x="0" y="49"/>
                  </a:lnTo>
                  <a:lnTo>
                    <a:pt x="12" y="49"/>
                  </a:lnTo>
                  <a:lnTo>
                    <a:pt x="1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640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3" name="AutoShape 43"/>
            <p:cNvSpPr/>
            <p:nvPr>
              <p:custDataLst>
                <p:tags r:id="rId41"/>
              </p:custDataLst>
            </p:nvPr>
          </p:nvSpPr>
          <p:spPr>
            <a:xfrm>
              <a:off x="8043152" y="4442489"/>
              <a:ext cx="742549" cy="1084725"/>
            </a:xfrm>
            <a:custGeom>
              <a:avLst/>
              <a:gdLst/>
              <a:ahLst/>
              <a:cxnLst/>
              <a:rect l="l" t="t" r="r" b="b"/>
              <a:pathLst>
                <a:path w="130" h="190">
                  <a:moveTo>
                    <a:pt x="116" y="19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00" y="5"/>
                    <a:pt x="82" y="0"/>
                    <a:pt x="64" y="4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33" y="11"/>
                    <a:pt x="20" y="22"/>
                    <a:pt x="13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" y="171"/>
                    <a:pt x="1" y="171"/>
                    <a:pt x="1" y="171"/>
                  </a:cubicBezTo>
                  <a:cubicBezTo>
                    <a:pt x="0" y="181"/>
                    <a:pt x="8" y="190"/>
                    <a:pt x="18" y="190"/>
                  </a:cubicBezTo>
                  <a:cubicBezTo>
                    <a:pt x="109" y="190"/>
                    <a:pt x="109" y="190"/>
                    <a:pt x="109" y="190"/>
                  </a:cubicBezTo>
                  <a:cubicBezTo>
                    <a:pt x="114" y="190"/>
                    <a:pt x="118" y="186"/>
                    <a:pt x="119" y="181"/>
                  </a:cubicBezTo>
                  <a:cubicBezTo>
                    <a:pt x="121" y="157"/>
                    <a:pt x="128" y="90"/>
                    <a:pt x="130" y="65"/>
                  </a:cubicBezTo>
                  <a:cubicBezTo>
                    <a:pt x="130" y="61"/>
                    <a:pt x="130" y="50"/>
                    <a:pt x="130" y="50"/>
                  </a:cubicBezTo>
                  <a:cubicBezTo>
                    <a:pt x="130" y="38"/>
                    <a:pt x="125" y="27"/>
                    <a:pt x="116" y="19"/>
                  </a:cubicBezTo>
                  <a:close/>
                </a:path>
              </a:pathLst>
            </a:custGeom>
            <a:solidFill>
              <a:srgbClr val="FFD83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4" name="AutoShape 44"/>
            <p:cNvSpPr/>
            <p:nvPr>
              <p:custDataLst>
                <p:tags r:id="rId42"/>
              </p:custDataLst>
            </p:nvPr>
          </p:nvSpPr>
          <p:spPr>
            <a:xfrm>
              <a:off x="8315496" y="4442489"/>
              <a:ext cx="470203" cy="577278"/>
            </a:xfrm>
            <a:custGeom>
              <a:avLst/>
              <a:gdLst/>
              <a:ahLst/>
              <a:cxnLst/>
              <a:rect l="l" t="t" r="r" b="b"/>
              <a:pathLst>
                <a:path w="82" h="101">
                  <a:moveTo>
                    <a:pt x="79" y="101"/>
                  </a:moveTo>
                  <a:cubicBezTo>
                    <a:pt x="80" y="86"/>
                    <a:pt x="81" y="73"/>
                    <a:pt x="82" y="65"/>
                  </a:cubicBezTo>
                  <a:cubicBezTo>
                    <a:pt x="82" y="61"/>
                    <a:pt x="82" y="50"/>
                    <a:pt x="82" y="50"/>
                  </a:cubicBezTo>
                  <a:cubicBezTo>
                    <a:pt x="82" y="38"/>
                    <a:pt x="77" y="27"/>
                    <a:pt x="68" y="19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52" y="5"/>
                    <a:pt x="34" y="0"/>
                    <a:pt x="16" y="4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7"/>
                    <a:pt x="10" y="79"/>
                    <a:pt x="79" y="101"/>
                  </a:cubicBezTo>
                  <a:close/>
                </a:path>
              </a:pathLst>
            </a:custGeom>
            <a:solidFill>
              <a:srgbClr val="F8C91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>
              <p:custDataLst>
                <p:tags r:id="rId43"/>
              </p:custDataLst>
            </p:nvPr>
          </p:nvSpPr>
          <p:spPr>
            <a:xfrm>
              <a:off x="8892775" y="5282802"/>
              <a:ext cx="337523" cy="114060"/>
            </a:xfrm>
            <a:custGeom>
              <a:avLst/>
              <a:gdLst/>
              <a:ahLst/>
              <a:cxnLst/>
              <a:rect l="l" t="t" r="r" b="b"/>
              <a:pathLst>
                <a:path w="59" h="20">
                  <a:moveTo>
                    <a:pt x="44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8"/>
                    <a:pt x="1" y="20"/>
                    <a:pt x="4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7" y="20"/>
                    <a:pt x="59" y="18"/>
                    <a:pt x="59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7"/>
                    <a:pt x="52" y="0"/>
                    <a:pt x="44" y="0"/>
                  </a:cubicBezTo>
                  <a:close/>
                </a:path>
              </a:pathLst>
            </a:custGeom>
            <a:solidFill>
              <a:srgbClr val="EEF0F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6" name="AutoShape 46"/>
            <p:cNvSpPr/>
            <p:nvPr>
              <p:custDataLst>
                <p:tags r:id="rId44"/>
              </p:custDataLst>
            </p:nvPr>
          </p:nvSpPr>
          <p:spPr>
            <a:xfrm>
              <a:off x="7945387" y="4584481"/>
              <a:ext cx="758842" cy="812380"/>
            </a:xfrm>
            <a:custGeom>
              <a:avLst/>
              <a:gdLst/>
              <a:ahLst/>
              <a:cxnLst/>
              <a:rect l="l" t="t" r="r" b="b"/>
              <a:pathLst>
                <a:path w="133" h="142">
                  <a:moveTo>
                    <a:pt x="55" y="97"/>
                  </a:moveTo>
                  <a:cubicBezTo>
                    <a:pt x="69" y="29"/>
                    <a:pt x="69" y="29"/>
                    <a:pt x="69" y="29"/>
                  </a:cubicBezTo>
                  <a:cubicBezTo>
                    <a:pt x="72" y="17"/>
                    <a:pt x="65" y="4"/>
                    <a:pt x="52" y="2"/>
                  </a:cubicBezTo>
                  <a:cubicBezTo>
                    <a:pt x="41" y="0"/>
                    <a:pt x="31" y="7"/>
                    <a:pt x="28" y="18"/>
                  </a:cubicBezTo>
                  <a:cubicBezTo>
                    <a:pt x="4" y="108"/>
                    <a:pt x="4" y="108"/>
                    <a:pt x="4" y="108"/>
                  </a:cubicBezTo>
                  <a:cubicBezTo>
                    <a:pt x="0" y="125"/>
                    <a:pt x="13" y="142"/>
                    <a:pt x="30" y="142"/>
                  </a:cubicBezTo>
                  <a:cubicBezTo>
                    <a:pt x="133" y="142"/>
                    <a:pt x="133" y="142"/>
                    <a:pt x="133" y="142"/>
                  </a:cubicBezTo>
                  <a:cubicBezTo>
                    <a:pt x="133" y="97"/>
                    <a:pt x="133" y="97"/>
                    <a:pt x="133" y="97"/>
                  </a:cubicBezTo>
                  <a:lnTo>
                    <a:pt x="55" y="97"/>
                  </a:lnTo>
                  <a:close/>
                </a:path>
              </a:pathLst>
            </a:custGeom>
            <a:solidFill>
              <a:srgbClr val="EA640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>
              <p:custDataLst>
                <p:tags r:id="rId45"/>
              </p:custDataLst>
            </p:nvPr>
          </p:nvSpPr>
          <p:spPr>
            <a:xfrm>
              <a:off x="8024530" y="4584481"/>
              <a:ext cx="332867" cy="321228"/>
            </a:xfrm>
            <a:custGeom>
              <a:avLst/>
              <a:gdLst/>
              <a:ahLst/>
              <a:cxnLst/>
              <a:rect l="l" t="t" r="r" b="b"/>
              <a:pathLst>
                <a:path w="58" h="56">
                  <a:moveTo>
                    <a:pt x="52" y="56"/>
                  </a:moveTo>
                  <a:cubicBezTo>
                    <a:pt x="55" y="29"/>
                    <a:pt x="55" y="29"/>
                    <a:pt x="55" y="29"/>
                  </a:cubicBezTo>
                  <a:cubicBezTo>
                    <a:pt x="58" y="17"/>
                    <a:pt x="51" y="4"/>
                    <a:pt x="38" y="2"/>
                  </a:cubicBezTo>
                  <a:cubicBezTo>
                    <a:pt x="27" y="0"/>
                    <a:pt x="17" y="7"/>
                    <a:pt x="14" y="18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52" y="56"/>
                  </a:lnTo>
                  <a:close/>
                </a:path>
              </a:pathLst>
            </a:custGeom>
            <a:solidFill>
              <a:srgbClr val="BE391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>
              <p:custDataLst>
                <p:tags r:id="rId46"/>
              </p:custDataLst>
            </p:nvPr>
          </p:nvSpPr>
          <p:spPr>
            <a:xfrm>
              <a:off x="8704229" y="5185037"/>
              <a:ext cx="109404" cy="165270"/>
            </a:xfrm>
            <a:prstGeom prst="rect">
              <a:avLst/>
            </a:prstGeom>
            <a:solidFill>
              <a:srgbClr val="F5B0A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>
              <p:custDataLst>
                <p:tags r:id="rId47"/>
              </p:custDataLst>
            </p:nvPr>
          </p:nvSpPr>
          <p:spPr>
            <a:xfrm>
              <a:off x="8750784" y="5145465"/>
              <a:ext cx="400371" cy="235102"/>
            </a:xfrm>
            <a:custGeom>
              <a:avLst/>
              <a:gdLst/>
              <a:ahLst/>
              <a:cxnLst/>
              <a:rect l="l" t="t" r="r" b="b"/>
              <a:pathLst>
                <a:path w="70" h="41">
                  <a:moveTo>
                    <a:pt x="67" y="18"/>
                  </a:moveTo>
                  <a:cubicBezTo>
                    <a:pt x="66" y="17"/>
                    <a:pt x="66" y="17"/>
                    <a:pt x="66" y="17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13"/>
                    <a:pt x="65" y="9"/>
                    <a:pt x="61" y="8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48" y="1"/>
                    <a:pt x="41" y="0"/>
                    <a:pt x="34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9" y="2"/>
                    <a:pt x="4" y="7"/>
                    <a:pt x="3" y="14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34"/>
                    <a:pt x="6" y="41"/>
                    <a:pt x="14" y="40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8" y="39"/>
                    <a:pt x="40" y="39"/>
                    <a:pt x="42" y="39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53" y="40"/>
                    <a:pt x="56" y="38"/>
                    <a:pt x="57" y="34"/>
                  </a:cubicBezTo>
                  <a:cubicBezTo>
                    <a:pt x="59" y="34"/>
                    <a:pt x="59" y="34"/>
                    <a:pt x="59" y="34"/>
                  </a:cubicBezTo>
                  <a:cubicBezTo>
                    <a:pt x="62" y="34"/>
                    <a:pt x="64" y="32"/>
                    <a:pt x="64" y="29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67" y="27"/>
                    <a:pt x="69" y="26"/>
                    <a:pt x="69" y="24"/>
                  </a:cubicBezTo>
                  <a:cubicBezTo>
                    <a:pt x="70" y="22"/>
                    <a:pt x="69" y="19"/>
                    <a:pt x="67" y="18"/>
                  </a:cubicBez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>
              <p:custDataLst>
                <p:tags r:id="rId48"/>
              </p:custDataLst>
            </p:nvPr>
          </p:nvSpPr>
          <p:spPr>
            <a:xfrm>
              <a:off x="8401623" y="4132901"/>
              <a:ext cx="251396" cy="493480"/>
            </a:xfrm>
            <a:custGeom>
              <a:avLst/>
              <a:gdLst/>
              <a:ahLst/>
              <a:cxnLst/>
              <a:rect l="l" t="t" r="r" b="b"/>
              <a:pathLst>
                <a:path w="44" h="86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6"/>
                    <a:pt x="5" y="74"/>
                    <a:pt x="13" y="8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24" y="86"/>
                    <a:pt x="32" y="86"/>
                    <a:pt x="37" y="81"/>
                  </a:cubicBezTo>
                  <a:cubicBezTo>
                    <a:pt x="37" y="81"/>
                    <a:pt x="37" y="81"/>
                    <a:pt x="37" y="81"/>
                  </a:cubicBezTo>
                  <a:cubicBezTo>
                    <a:pt x="42" y="78"/>
                    <a:pt x="44" y="72"/>
                    <a:pt x="44" y="66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F5B0A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>
              <p:custDataLst>
                <p:tags r:id="rId49"/>
              </p:custDataLst>
            </p:nvPr>
          </p:nvSpPr>
          <p:spPr>
            <a:xfrm>
              <a:off x="8618102" y="3727875"/>
              <a:ext cx="263035" cy="377093"/>
            </a:xfrm>
            <a:custGeom>
              <a:avLst/>
              <a:gdLst/>
              <a:ahLst/>
              <a:cxnLst/>
              <a:rect l="l" t="t" r="r" b="b"/>
              <a:pathLst>
                <a:path w="46" h="66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7" y="0"/>
                    <a:pt x="46" y="15"/>
                    <a:pt x="46" y="43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46" y="65"/>
                    <a:pt x="45" y="66"/>
                    <a:pt x="44" y="66"/>
                  </a:cubicBezTo>
                  <a:cubicBezTo>
                    <a:pt x="43" y="66"/>
                    <a:pt x="42" y="65"/>
                    <a:pt x="42" y="64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17"/>
                    <a:pt x="25" y="5"/>
                    <a:pt x="4" y="5"/>
                  </a:cubicBezTo>
                  <a:cubicBezTo>
                    <a:pt x="0" y="5"/>
                    <a:pt x="0" y="5"/>
                    <a:pt x="0" y="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5B8B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>
              <p:custDataLst>
                <p:tags r:id="rId50"/>
              </p:custDataLst>
            </p:nvPr>
          </p:nvSpPr>
          <p:spPr>
            <a:xfrm>
              <a:off x="8836909" y="4077035"/>
              <a:ext cx="114060" cy="204841"/>
            </a:xfrm>
            <a:custGeom>
              <a:avLst/>
              <a:gdLst/>
              <a:ahLst/>
              <a:cxnLst/>
              <a:rect l="l" t="t" r="r" b="b"/>
              <a:pathLst>
                <a:path w="20" h="36">
                  <a:moveTo>
                    <a:pt x="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14" y="0"/>
                    <a:pt x="20" y="7"/>
                    <a:pt x="20" y="15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9"/>
                    <a:pt x="14" y="36"/>
                    <a:pt x="6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2" y="36"/>
                    <a:pt x="0" y="34"/>
                    <a:pt x="0" y="3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898B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>
              <p:custDataLst>
                <p:tags r:id="rId51"/>
              </p:custDataLst>
            </p:nvPr>
          </p:nvSpPr>
          <p:spPr>
            <a:xfrm>
              <a:off x="8836909" y="4077035"/>
              <a:ext cx="79143" cy="204841"/>
            </a:xfrm>
            <a:custGeom>
              <a:avLst/>
              <a:gdLst/>
              <a:ahLst/>
              <a:cxnLst/>
              <a:rect l="l" t="t" r="r" b="b"/>
              <a:pathLst>
                <a:path w="14" h="36">
                  <a:moveTo>
                    <a:pt x="14" y="3"/>
                  </a:moveTo>
                  <a:cubicBezTo>
                    <a:pt x="11" y="1"/>
                    <a:pt x="9" y="0"/>
                    <a:pt x="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4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9" y="36"/>
                    <a:pt x="11" y="35"/>
                    <a:pt x="14" y="34"/>
                  </a:cubicBezTo>
                  <a:lnTo>
                    <a:pt x="14" y="3"/>
                  </a:lnTo>
                  <a:close/>
                </a:path>
              </a:pathLst>
            </a:cu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>
              <p:custDataLst>
                <p:tags r:id="rId52"/>
              </p:custDataLst>
            </p:nvPr>
          </p:nvSpPr>
          <p:spPr>
            <a:xfrm>
              <a:off x="8401623" y="3797707"/>
              <a:ext cx="486498" cy="742548"/>
            </a:xfrm>
            <a:custGeom>
              <a:avLst/>
              <a:gdLst/>
              <a:ahLst/>
              <a:cxnLst/>
              <a:rect l="l" t="t" r="r" b="b"/>
              <a:pathLst>
                <a:path w="85" h="130">
                  <a:moveTo>
                    <a:pt x="50" y="130"/>
                  </a:moveTo>
                  <a:cubicBezTo>
                    <a:pt x="50" y="130"/>
                    <a:pt x="50" y="130"/>
                    <a:pt x="50" y="130"/>
                  </a:cubicBezTo>
                  <a:cubicBezTo>
                    <a:pt x="43" y="130"/>
                    <a:pt x="35" y="128"/>
                    <a:pt x="30" y="123"/>
                  </a:cubicBezTo>
                  <a:cubicBezTo>
                    <a:pt x="19" y="113"/>
                    <a:pt x="19" y="113"/>
                    <a:pt x="19" y="113"/>
                  </a:cubicBezTo>
                  <a:cubicBezTo>
                    <a:pt x="7" y="103"/>
                    <a:pt x="0" y="88"/>
                    <a:pt x="0" y="72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70" y="0"/>
                    <a:pt x="85" y="22"/>
                    <a:pt x="85" y="40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5" y="101"/>
                    <a:pt x="62" y="130"/>
                    <a:pt x="50" y="130"/>
                  </a:cubicBez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>
              <p:custDataLst>
                <p:tags r:id="rId53"/>
              </p:custDataLst>
            </p:nvPr>
          </p:nvSpPr>
          <p:spPr>
            <a:xfrm>
              <a:off x="8357396" y="3727875"/>
              <a:ext cx="295623" cy="377093"/>
            </a:xfrm>
            <a:custGeom>
              <a:avLst/>
              <a:gdLst/>
              <a:ahLst/>
              <a:cxnLst/>
              <a:rect l="l" t="t" r="r" b="b"/>
              <a:pathLst>
                <a:path w="52" h="66">
                  <a:moveTo>
                    <a:pt x="52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21" y="0"/>
                    <a:pt x="0" y="15"/>
                    <a:pt x="0" y="43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5"/>
                    <a:pt x="1" y="66"/>
                    <a:pt x="2" y="66"/>
                  </a:cubicBezTo>
                  <a:cubicBezTo>
                    <a:pt x="3" y="66"/>
                    <a:pt x="4" y="65"/>
                    <a:pt x="4" y="64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4" y="17"/>
                    <a:pt x="24" y="5"/>
                    <a:pt x="47" y="5"/>
                  </a:cubicBezTo>
                  <a:cubicBezTo>
                    <a:pt x="52" y="5"/>
                    <a:pt x="52" y="5"/>
                    <a:pt x="52" y="5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B5B8B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>
              <p:custDataLst>
                <p:tags r:id="rId54"/>
              </p:custDataLst>
            </p:nvPr>
          </p:nvSpPr>
          <p:spPr>
            <a:xfrm>
              <a:off x="8625086" y="4363346"/>
              <a:ext cx="148975" cy="79143"/>
            </a:xfrm>
            <a:custGeom>
              <a:avLst/>
              <a:gdLst/>
              <a:ahLst/>
              <a:cxnLst/>
              <a:rect l="l" t="t" r="r" b="b"/>
              <a:pathLst>
                <a:path w="26" h="14">
                  <a:moveTo>
                    <a:pt x="2" y="0"/>
                  </a:moveTo>
                  <a:cubicBezTo>
                    <a:pt x="1" y="0"/>
                    <a:pt x="0" y="2"/>
                    <a:pt x="1" y="3"/>
                  </a:cubicBezTo>
                  <a:cubicBezTo>
                    <a:pt x="3" y="10"/>
                    <a:pt x="8" y="14"/>
                    <a:pt x="13" y="14"/>
                  </a:cubicBezTo>
                  <a:cubicBezTo>
                    <a:pt x="18" y="14"/>
                    <a:pt x="23" y="10"/>
                    <a:pt x="26" y="3"/>
                  </a:cubicBezTo>
                  <a:cubicBezTo>
                    <a:pt x="26" y="2"/>
                    <a:pt x="25" y="0"/>
                    <a:pt x="24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BF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>
              <p:custDataLst>
                <p:tags r:id="rId55"/>
              </p:custDataLst>
            </p:nvPr>
          </p:nvSpPr>
          <p:spPr>
            <a:xfrm>
              <a:off x="8522666" y="4156178"/>
              <a:ext cx="114060" cy="30261"/>
            </a:xfrm>
            <a:custGeom>
              <a:avLst/>
              <a:gdLst/>
              <a:ahLst/>
              <a:cxnLst/>
              <a:rect l="l" t="t" r="r" b="b"/>
              <a:pathLst>
                <a:path w="20" h="5">
                  <a:moveTo>
                    <a:pt x="0" y="5"/>
                  </a:moveTo>
                  <a:cubicBezTo>
                    <a:pt x="6" y="0"/>
                    <a:pt x="15" y="0"/>
                    <a:pt x="20" y="5"/>
                  </a:cubicBezTo>
                </a:path>
              </a:pathLst>
            </a:custGeom>
            <a:ln w="23813">
              <a:solidFill>
                <a:srgbClr val="4F1F3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8" name="AutoShape 58"/>
            <p:cNvSpPr/>
            <p:nvPr>
              <p:custDataLst>
                <p:tags r:id="rId56"/>
              </p:custDataLst>
            </p:nvPr>
          </p:nvSpPr>
          <p:spPr>
            <a:xfrm>
              <a:off x="8762422" y="4163161"/>
              <a:ext cx="90782" cy="23277"/>
            </a:xfrm>
            <a:custGeom>
              <a:avLst/>
              <a:gdLst/>
              <a:ahLst/>
              <a:cxnLst/>
              <a:rect l="l" t="t" r="r" b="b"/>
              <a:pathLst>
                <a:path w="16" h="4">
                  <a:moveTo>
                    <a:pt x="0" y="4"/>
                  </a:moveTo>
                  <a:cubicBezTo>
                    <a:pt x="4" y="0"/>
                    <a:pt x="12" y="0"/>
                    <a:pt x="16" y="4"/>
                  </a:cubicBezTo>
                </a:path>
              </a:pathLst>
            </a:custGeom>
            <a:ln w="23813">
              <a:solidFill>
                <a:srgbClr val="4F1F3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9" name="AutoShape 59"/>
            <p:cNvSpPr/>
            <p:nvPr>
              <p:custDataLst>
                <p:tags r:id="rId57"/>
              </p:custDataLst>
            </p:nvPr>
          </p:nvSpPr>
          <p:spPr>
            <a:xfrm>
              <a:off x="8653019" y="4281876"/>
              <a:ext cx="79143" cy="69832"/>
            </a:xfrm>
            <a:custGeom>
              <a:avLst/>
              <a:gdLst/>
              <a:ahLst/>
              <a:cxnLst/>
              <a:rect l="l" t="t" r="r" b="b"/>
              <a:pathLst>
                <a:path w="14" h="12">
                  <a:moveTo>
                    <a:pt x="0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2" y="6"/>
                    <a:pt x="4" y="9"/>
                    <a:pt x="7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9" y="12"/>
                    <a:pt x="11" y="12"/>
                    <a:pt x="12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3" y="8"/>
                    <a:pt x="14" y="6"/>
                    <a:pt x="14" y="4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C7FA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>
              <p:custDataLst>
                <p:tags r:id="rId58"/>
              </p:custDataLst>
            </p:nvPr>
          </p:nvSpPr>
          <p:spPr>
            <a:xfrm>
              <a:off x="8653019" y="4179455"/>
              <a:ext cx="102420" cy="137337"/>
            </a:xfrm>
            <a:custGeom>
              <a:avLst/>
              <a:gdLst/>
              <a:ahLst/>
              <a:cxnLst/>
              <a:rect l="l" t="t" r="r" b="b"/>
              <a:pathLst>
                <a:path w="18" h="24">
                  <a:moveTo>
                    <a:pt x="5" y="3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0" y="18"/>
                    <a:pt x="1" y="20"/>
                    <a:pt x="4" y="21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1" y="24"/>
                    <a:pt x="14" y="24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8" y="21"/>
                    <a:pt x="18" y="19"/>
                    <a:pt x="18" y="17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1" y="0"/>
                    <a:pt x="6" y="0"/>
                    <a:pt x="5" y="3"/>
                  </a:cubicBezTo>
                  <a:close/>
                </a:path>
              </a:pathLst>
            </a:custGeom>
            <a:solidFill>
              <a:srgbClr val="F9D6C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1" name="AutoShape 61"/>
            <p:cNvSpPr/>
            <p:nvPr>
              <p:custDataLst>
                <p:tags r:id="rId59"/>
              </p:custDataLst>
            </p:nvPr>
          </p:nvSpPr>
          <p:spPr>
            <a:xfrm>
              <a:off x="8471455" y="4237648"/>
              <a:ext cx="118715" cy="102420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14" y="16"/>
                  </a:moveTo>
                  <a:cubicBezTo>
                    <a:pt x="9" y="18"/>
                    <a:pt x="3" y="17"/>
                    <a:pt x="2" y="13"/>
                  </a:cubicBezTo>
                  <a:cubicBezTo>
                    <a:pt x="0" y="9"/>
                    <a:pt x="3" y="4"/>
                    <a:pt x="8" y="2"/>
                  </a:cubicBezTo>
                  <a:cubicBezTo>
                    <a:pt x="12" y="0"/>
                    <a:pt x="18" y="1"/>
                    <a:pt x="19" y="5"/>
                  </a:cubicBezTo>
                  <a:cubicBezTo>
                    <a:pt x="21" y="9"/>
                    <a:pt x="18" y="14"/>
                    <a:pt x="14" y="16"/>
                  </a:cubicBezTo>
                  <a:close/>
                </a:path>
              </a:pathLst>
            </a:custGeom>
            <a:solidFill>
              <a:srgbClr val="F9D6C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2" name="AutoShape 62"/>
            <p:cNvSpPr/>
            <p:nvPr>
              <p:custDataLst>
                <p:tags r:id="rId60"/>
              </p:custDataLst>
            </p:nvPr>
          </p:nvSpPr>
          <p:spPr>
            <a:xfrm>
              <a:off x="8774061" y="4242304"/>
              <a:ext cx="107076" cy="97765"/>
            </a:xfrm>
            <a:custGeom>
              <a:avLst/>
              <a:gdLst/>
              <a:ahLst/>
              <a:cxnLst/>
              <a:rect l="l" t="t" r="r" b="b"/>
              <a:pathLst>
                <a:path w="19" h="17">
                  <a:moveTo>
                    <a:pt x="7" y="15"/>
                  </a:moveTo>
                  <a:cubicBezTo>
                    <a:pt x="11" y="17"/>
                    <a:pt x="16" y="15"/>
                    <a:pt x="18" y="11"/>
                  </a:cubicBezTo>
                  <a:cubicBezTo>
                    <a:pt x="19" y="8"/>
                    <a:pt x="17" y="3"/>
                    <a:pt x="12" y="1"/>
                  </a:cubicBezTo>
                  <a:cubicBezTo>
                    <a:pt x="8" y="0"/>
                    <a:pt x="3" y="1"/>
                    <a:pt x="2" y="5"/>
                  </a:cubicBezTo>
                  <a:cubicBezTo>
                    <a:pt x="0" y="8"/>
                    <a:pt x="2" y="13"/>
                    <a:pt x="7" y="15"/>
                  </a:cubicBezTo>
                  <a:close/>
                </a:path>
              </a:pathLst>
            </a:custGeom>
            <a:solidFill>
              <a:srgbClr val="F9D6C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>
              <p:custDataLst>
                <p:tags r:id="rId61"/>
              </p:custDataLst>
            </p:nvPr>
          </p:nvSpPr>
          <p:spPr>
            <a:xfrm>
              <a:off x="8306185" y="4077035"/>
              <a:ext cx="114060" cy="204841"/>
            </a:xfrm>
            <a:custGeom>
              <a:avLst/>
              <a:gdLst/>
              <a:ahLst/>
              <a:cxnLst/>
              <a:rect l="l" t="t" r="r" b="b"/>
              <a:pathLst>
                <a:path w="20" h="36">
                  <a:moveTo>
                    <a:pt x="16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9"/>
                    <a:pt x="6" y="36"/>
                    <a:pt x="15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8" y="36"/>
                    <a:pt x="20" y="34"/>
                    <a:pt x="20" y="32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2"/>
                    <a:pt x="18" y="0"/>
                    <a:pt x="16" y="0"/>
                  </a:cubicBezTo>
                  <a:close/>
                </a:path>
              </a:pathLst>
            </a:custGeom>
            <a:solidFill>
              <a:srgbClr val="898B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>
              <p:custDataLst>
                <p:tags r:id="rId62"/>
              </p:custDataLst>
            </p:nvPr>
          </p:nvSpPr>
          <p:spPr>
            <a:xfrm>
              <a:off x="8373690" y="4226010"/>
              <a:ext cx="267691" cy="232774"/>
            </a:xfrm>
            <a:custGeom>
              <a:avLst/>
              <a:gdLst/>
              <a:ahLst/>
              <a:cxnLst/>
              <a:rect l="l" t="t" r="r" b="b"/>
              <a:pathLst>
                <a:path w="47" h="41">
                  <a:moveTo>
                    <a:pt x="47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24" y="41"/>
                    <a:pt x="6" y="27"/>
                    <a:pt x="1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4" y="1"/>
                    <a:pt x="5" y="2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10" y="24"/>
                    <a:pt x="26" y="36"/>
                    <a:pt x="44" y="36"/>
                  </a:cubicBezTo>
                  <a:cubicBezTo>
                    <a:pt x="47" y="36"/>
                    <a:pt x="47" y="36"/>
                    <a:pt x="47" y="36"/>
                  </a:cubicBezTo>
                  <a:lnTo>
                    <a:pt x="47" y="41"/>
                  </a:lnTo>
                  <a:close/>
                </a:path>
              </a:pathLst>
            </a:custGeom>
            <a:solidFill>
              <a:srgbClr val="B5B8B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>
              <p:custDataLst>
                <p:tags r:id="rId63"/>
              </p:custDataLst>
            </p:nvPr>
          </p:nvSpPr>
          <p:spPr>
            <a:xfrm>
              <a:off x="8641380" y="4419211"/>
              <a:ext cx="69832" cy="51210"/>
            </a:xfrm>
            <a:custGeom>
              <a:avLst/>
              <a:gdLst/>
              <a:ahLst/>
              <a:cxnLst/>
              <a:rect l="l" t="t" r="r" b="b"/>
              <a:pathLst>
                <a:path w="12" h="9">
                  <a:moveTo>
                    <a:pt x="1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1" y="9"/>
                    <a:pt x="2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1" y="9"/>
                    <a:pt x="12" y="8"/>
                    <a:pt x="12" y="7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1" y="0"/>
                    <a:pt x="10" y="0"/>
                  </a:cubicBezTo>
                  <a:close/>
                </a:path>
              </a:pathLst>
            </a:custGeom>
            <a:solidFill>
              <a:srgbClr val="898B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>
              <p:custDataLst>
                <p:tags r:id="rId64"/>
              </p:custDataLst>
            </p:nvPr>
          </p:nvSpPr>
          <p:spPr>
            <a:xfrm>
              <a:off x="8848549" y="5506265"/>
              <a:ext cx="62850" cy="1296550"/>
            </a:xfrm>
            <a:prstGeom prst="rect">
              <a:avLst/>
            </a:pr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>
              <p:custDataLst>
                <p:tags r:id="rId65"/>
              </p:custDataLst>
            </p:nvPr>
          </p:nvSpPr>
          <p:spPr>
            <a:xfrm>
              <a:off x="9567819" y="5506265"/>
              <a:ext cx="62850" cy="1296550"/>
            </a:xfrm>
            <a:prstGeom prst="rect">
              <a:avLst/>
            </a:pr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8" name="AutoShape 68"/>
            <p:cNvSpPr/>
            <p:nvPr>
              <p:custDataLst>
                <p:tags r:id="rId66"/>
              </p:custDataLst>
            </p:nvPr>
          </p:nvSpPr>
          <p:spPr>
            <a:xfrm>
              <a:off x="10012417" y="4693884"/>
              <a:ext cx="993945" cy="651766"/>
            </a:xfrm>
            <a:custGeom>
              <a:avLst/>
              <a:gdLst/>
              <a:ahLst/>
              <a:cxnLst/>
              <a:rect l="l" t="t" r="r" b="b"/>
              <a:pathLst>
                <a:path w="174" h="114">
                  <a:moveTo>
                    <a:pt x="0" y="114"/>
                  </a:moveTo>
                  <a:cubicBezTo>
                    <a:pt x="148" y="114"/>
                    <a:pt x="148" y="114"/>
                    <a:pt x="148" y="114"/>
                  </a:cubicBezTo>
                  <a:cubicBezTo>
                    <a:pt x="152" y="114"/>
                    <a:pt x="154" y="112"/>
                    <a:pt x="155" y="109"/>
                  </a:cubicBezTo>
                  <a:cubicBezTo>
                    <a:pt x="174" y="5"/>
                    <a:pt x="174" y="5"/>
                    <a:pt x="174" y="5"/>
                  </a:cubicBezTo>
                  <a:cubicBezTo>
                    <a:pt x="174" y="2"/>
                    <a:pt x="172" y="0"/>
                    <a:pt x="169" y="0"/>
                  </a:cubicBezTo>
                  <a:cubicBezTo>
                    <a:pt x="20" y="0"/>
                    <a:pt x="20" y="0"/>
                    <a:pt x="20" y="0"/>
                  </a:cubicBezTo>
                  <a:lnTo>
                    <a:pt x="0" y="114"/>
                  </a:lnTo>
                  <a:close/>
                </a:path>
              </a:pathLst>
            </a:custGeom>
            <a:solidFill>
              <a:srgbClr val="DBDDD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9" name="AutoShape 69"/>
            <p:cNvSpPr/>
            <p:nvPr>
              <p:custDataLst>
                <p:tags r:id="rId67"/>
              </p:custDataLst>
            </p:nvPr>
          </p:nvSpPr>
          <p:spPr>
            <a:xfrm>
              <a:off x="9400222" y="5345650"/>
              <a:ext cx="686683" cy="51210"/>
            </a:xfrm>
            <a:custGeom>
              <a:avLst/>
              <a:gdLst/>
              <a:ahLst/>
              <a:cxnLst/>
              <a:rect l="l" t="t" r="r" b="b"/>
              <a:pathLst>
                <a:path w="120" h="9">
                  <a:moveTo>
                    <a:pt x="7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"/>
                    <a:pt x="3" y="9"/>
                    <a:pt x="7" y="9"/>
                  </a:cubicBezTo>
                  <a:close/>
                </a:path>
              </a:pathLst>
            </a:custGeom>
            <a:solidFill>
              <a:srgbClr val="B5B8B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0" name="AutoShape 70"/>
            <p:cNvSpPr/>
            <p:nvPr>
              <p:custDataLst>
                <p:tags r:id="rId68"/>
              </p:custDataLst>
            </p:nvPr>
          </p:nvSpPr>
          <p:spPr>
            <a:xfrm>
              <a:off x="10126476" y="4693884"/>
              <a:ext cx="879885" cy="23277"/>
            </a:xfrm>
            <a:custGeom>
              <a:avLst/>
              <a:gdLst/>
              <a:ahLst/>
              <a:cxnLst/>
              <a:rect l="l" t="t" r="r" b="b"/>
              <a:pathLst>
                <a:path w="154" h="4">
                  <a:moveTo>
                    <a:pt x="0" y="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52" y="0"/>
                    <a:pt x="154" y="2"/>
                    <a:pt x="154" y="4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CDD0D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>
              <p:custDataLst>
                <p:tags r:id="rId69"/>
              </p:custDataLst>
            </p:nvPr>
          </p:nvSpPr>
          <p:spPr>
            <a:xfrm>
              <a:off x="10012417" y="4693884"/>
              <a:ext cx="141993" cy="651766"/>
            </a:xfrm>
            <a:custGeom>
              <a:avLst/>
              <a:gdLst/>
              <a:ahLst/>
              <a:cxnLst/>
              <a:rect l="l" t="t" r="r" b="b"/>
              <a:pathLst>
                <a:path w="25" h="114">
                  <a:moveTo>
                    <a:pt x="1" y="107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3" y="114"/>
                    <a:pt x="5" y="112"/>
                    <a:pt x="6" y="109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"/>
                    <a:pt x="23" y="0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lnTo>
                    <a:pt x="1" y="107"/>
                  </a:lnTo>
                  <a:close/>
                </a:path>
              </a:pathLst>
            </a:custGeom>
            <a:solidFill>
              <a:srgbClr val="B5B8B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>
              <p:custDataLst>
                <p:tags r:id="rId70"/>
              </p:custDataLst>
            </p:nvPr>
          </p:nvSpPr>
          <p:spPr>
            <a:xfrm>
              <a:off x="9949568" y="5345650"/>
              <a:ext cx="868247" cy="51210"/>
            </a:xfrm>
            <a:custGeom>
              <a:avLst/>
              <a:gdLst/>
              <a:ahLst/>
              <a:cxnLst/>
              <a:rect l="l" t="t" r="r" b="b"/>
              <a:pathLst>
                <a:path w="152" h="9">
                  <a:moveTo>
                    <a:pt x="0" y="9"/>
                  </a:moveTo>
                  <a:cubicBezTo>
                    <a:pt x="141" y="9"/>
                    <a:pt x="141" y="9"/>
                    <a:pt x="141" y="9"/>
                  </a:cubicBezTo>
                  <a:cubicBezTo>
                    <a:pt x="146" y="9"/>
                    <a:pt x="146" y="9"/>
                    <a:pt x="146" y="9"/>
                  </a:cubicBezTo>
                  <a:cubicBezTo>
                    <a:pt x="149" y="9"/>
                    <a:pt x="152" y="6"/>
                    <a:pt x="152" y="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6"/>
                    <a:pt x="3" y="9"/>
                    <a:pt x="0" y="9"/>
                  </a:cubicBezTo>
                  <a:close/>
                </a:path>
              </a:pathLst>
            </a:custGeom>
            <a:solidFill>
              <a:srgbClr val="CDD0D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>
              <p:custDataLst>
                <p:tags r:id="rId71"/>
              </p:custDataLst>
            </p:nvPr>
          </p:nvSpPr>
          <p:spPr>
            <a:xfrm>
              <a:off x="2612540" y="5396860"/>
              <a:ext cx="2106603" cy="109404"/>
            </a:xfrm>
            <a:prstGeom prst="rect">
              <a:avLst/>
            </a:prstGeom>
            <a:solidFill>
              <a:srgbClr val="5BB5B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>
              <p:custDataLst>
                <p:tags r:id="rId72"/>
              </p:custDataLst>
            </p:nvPr>
          </p:nvSpPr>
          <p:spPr>
            <a:xfrm>
              <a:off x="2470549" y="5396860"/>
              <a:ext cx="924112" cy="109404"/>
            </a:xfrm>
            <a:prstGeom prst="rect">
              <a:avLst/>
            </a:prstGeom>
            <a:solidFill>
              <a:srgbClr val="7DC4C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>
              <p:custDataLst>
                <p:tags r:id="rId73"/>
              </p:custDataLst>
            </p:nvPr>
          </p:nvSpPr>
          <p:spPr>
            <a:xfrm>
              <a:off x="3783393" y="5506265"/>
              <a:ext cx="62850" cy="1296550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>
              <p:custDataLst>
                <p:tags r:id="rId74"/>
              </p:custDataLst>
            </p:nvPr>
          </p:nvSpPr>
          <p:spPr>
            <a:xfrm>
              <a:off x="4470074" y="5506265"/>
              <a:ext cx="60521" cy="1296550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7" name="AutoShape 77"/>
            <p:cNvSpPr/>
            <p:nvPr>
              <p:custDataLst>
                <p:tags r:id="rId75"/>
              </p:custDataLst>
            </p:nvPr>
          </p:nvSpPr>
          <p:spPr>
            <a:xfrm>
              <a:off x="1506866" y="4654314"/>
              <a:ext cx="593574" cy="977649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8" name="AutoShape 78"/>
            <p:cNvSpPr/>
            <p:nvPr>
              <p:custDataLst>
                <p:tags r:id="rId76"/>
              </p:custDataLst>
            </p:nvPr>
          </p:nvSpPr>
          <p:spPr>
            <a:xfrm>
              <a:off x="1392806" y="4654314"/>
              <a:ext cx="221136" cy="977649"/>
            </a:xfrm>
            <a:custGeom>
              <a:avLst/>
              <a:gdLst/>
              <a:ahLst/>
              <a:cxnLst/>
              <a:rect l="l" t="t" r="r" b="b"/>
              <a:pathLst>
                <a:path w="39" h="171">
                  <a:moveTo>
                    <a:pt x="20" y="171"/>
                  </a:moveTo>
                  <a:cubicBezTo>
                    <a:pt x="20" y="171"/>
                    <a:pt x="20" y="171"/>
                    <a:pt x="20" y="171"/>
                  </a:cubicBezTo>
                  <a:cubicBezTo>
                    <a:pt x="9" y="171"/>
                    <a:pt x="0" y="162"/>
                    <a:pt x="0" y="151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151"/>
                    <a:pt x="39" y="151"/>
                    <a:pt x="39" y="151"/>
                  </a:cubicBezTo>
                  <a:cubicBezTo>
                    <a:pt x="39" y="162"/>
                    <a:pt x="30" y="171"/>
                    <a:pt x="20" y="171"/>
                  </a:cubicBezTo>
                  <a:close/>
                </a:path>
              </a:pathLst>
            </a:cu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>
              <p:custDataLst>
                <p:tags r:id="rId77"/>
              </p:custDataLst>
            </p:nvPr>
          </p:nvSpPr>
          <p:spPr>
            <a:xfrm>
              <a:off x="1991035" y="4654314"/>
              <a:ext cx="223463" cy="977649"/>
            </a:xfrm>
            <a:custGeom>
              <a:avLst/>
              <a:gdLst/>
              <a:ahLst/>
              <a:cxnLst/>
              <a:rect l="l" t="t" r="r" b="b"/>
              <a:pathLst>
                <a:path w="39" h="171">
                  <a:moveTo>
                    <a:pt x="19" y="171"/>
                  </a:moveTo>
                  <a:cubicBezTo>
                    <a:pt x="19" y="171"/>
                    <a:pt x="19" y="171"/>
                    <a:pt x="19" y="171"/>
                  </a:cubicBezTo>
                  <a:cubicBezTo>
                    <a:pt x="9" y="171"/>
                    <a:pt x="0" y="162"/>
                    <a:pt x="0" y="151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151"/>
                    <a:pt x="39" y="151"/>
                    <a:pt x="39" y="151"/>
                  </a:cubicBezTo>
                  <a:cubicBezTo>
                    <a:pt x="39" y="162"/>
                    <a:pt x="30" y="171"/>
                    <a:pt x="19" y="171"/>
                  </a:cubicBezTo>
                  <a:close/>
                </a:path>
              </a:pathLst>
            </a:cu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0" name="AutoShape 80"/>
            <p:cNvSpPr/>
            <p:nvPr>
              <p:custDataLst>
                <p:tags r:id="rId78"/>
              </p:custDataLst>
            </p:nvPr>
          </p:nvSpPr>
          <p:spPr>
            <a:xfrm>
              <a:off x="1786194" y="5631962"/>
              <a:ext cx="90782" cy="200185"/>
            </a:xfrm>
            <a:prstGeom prst="rect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1" name="AutoShape 81"/>
            <p:cNvSpPr/>
            <p:nvPr>
              <p:custDataLst>
                <p:tags r:id="rId79"/>
              </p:custDataLst>
            </p:nvPr>
          </p:nvSpPr>
          <p:spPr>
            <a:xfrm>
              <a:off x="2070178" y="5527214"/>
              <a:ext cx="1138264" cy="966011"/>
            </a:xfrm>
            <a:custGeom>
              <a:avLst/>
              <a:gdLst/>
              <a:ahLst/>
              <a:cxnLst/>
              <a:rect l="l" t="t" r="r" b="b"/>
              <a:pathLst>
                <a:path w="199" h="169">
                  <a:moveTo>
                    <a:pt x="174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39"/>
                    <a:pt x="21" y="58"/>
                    <a:pt x="45" y="56"/>
                  </a:cubicBezTo>
                  <a:cubicBezTo>
                    <a:pt x="147" y="47"/>
                    <a:pt x="147" y="47"/>
                    <a:pt x="147" y="47"/>
                  </a:cubicBezTo>
                  <a:cubicBezTo>
                    <a:pt x="124" y="169"/>
                    <a:pt x="124" y="169"/>
                    <a:pt x="124" y="169"/>
                  </a:cubicBezTo>
                  <a:cubicBezTo>
                    <a:pt x="169" y="169"/>
                    <a:pt x="169" y="169"/>
                    <a:pt x="169" y="169"/>
                  </a:cubicBezTo>
                  <a:cubicBezTo>
                    <a:pt x="196" y="26"/>
                    <a:pt x="196" y="26"/>
                    <a:pt x="196" y="26"/>
                  </a:cubicBezTo>
                  <a:cubicBezTo>
                    <a:pt x="199" y="12"/>
                    <a:pt x="188" y="0"/>
                    <a:pt x="174" y="0"/>
                  </a:cubicBezTo>
                  <a:close/>
                </a:path>
              </a:pathLst>
            </a:custGeom>
            <a:solidFill>
              <a:srgbClr val="13122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2" name="AutoShape 82"/>
            <p:cNvSpPr/>
            <p:nvPr>
              <p:custDataLst>
                <p:tags r:id="rId80"/>
              </p:custDataLst>
            </p:nvPr>
          </p:nvSpPr>
          <p:spPr>
            <a:xfrm>
              <a:off x="2756860" y="6493225"/>
              <a:ext cx="598229" cy="258379"/>
            </a:xfrm>
            <a:custGeom>
              <a:avLst/>
              <a:gdLst/>
              <a:ahLst/>
              <a:cxnLst/>
              <a:rect l="l" t="t" r="r" b="b"/>
              <a:pathLst>
                <a:path w="105" h="45">
                  <a:moveTo>
                    <a:pt x="105" y="45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2" y="17"/>
                    <a:pt x="4" y="8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97" y="19"/>
                    <a:pt x="105" y="31"/>
                    <a:pt x="105" y="45"/>
                  </a:cubicBezTo>
                  <a:close/>
                </a:path>
              </a:pathLst>
            </a:custGeom>
            <a:solidFill>
              <a:srgbClr val="66513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3" name="AutoShape 83"/>
            <p:cNvSpPr/>
            <p:nvPr>
              <p:custDataLst>
                <p:tags r:id="rId81"/>
              </p:custDataLst>
            </p:nvPr>
          </p:nvSpPr>
          <p:spPr>
            <a:xfrm>
              <a:off x="2808070" y="6493225"/>
              <a:ext cx="193203" cy="86127"/>
            </a:xfrm>
            <a:custGeom>
              <a:avLst/>
              <a:gdLst/>
              <a:ahLst/>
              <a:cxnLst/>
              <a:rect l="l" t="t" r="r" b="b"/>
              <a:pathLst>
                <a:path w="34" h="1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7" y="15"/>
                    <a:pt x="16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7" y="15"/>
                    <a:pt x="34" y="9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8877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4" name="AutoShape 84"/>
            <p:cNvSpPr/>
            <p:nvPr>
              <p:custDataLst>
                <p:tags r:id="rId82"/>
              </p:custDataLst>
            </p:nvPr>
          </p:nvSpPr>
          <p:spPr>
            <a:xfrm>
              <a:off x="2733583" y="6751603"/>
              <a:ext cx="651766" cy="51210"/>
            </a:xfrm>
            <a:custGeom>
              <a:avLst/>
              <a:gdLst/>
              <a:ahLst/>
              <a:cxnLst/>
              <a:rect l="l" t="t" r="r" b="b"/>
              <a:pathLst>
                <a:path w="114" h="9">
                  <a:moveTo>
                    <a:pt x="111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8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2" y="0"/>
                    <a:pt x="114" y="1"/>
                    <a:pt x="114" y="3"/>
                  </a:cubicBezTo>
                  <a:cubicBezTo>
                    <a:pt x="114" y="6"/>
                    <a:pt x="114" y="6"/>
                    <a:pt x="114" y="6"/>
                  </a:cubicBezTo>
                  <a:cubicBezTo>
                    <a:pt x="114" y="8"/>
                    <a:pt x="112" y="9"/>
                    <a:pt x="111" y="9"/>
                  </a:cubicBezTo>
                  <a:close/>
                </a:path>
              </a:pathLst>
            </a:custGeom>
            <a:solidFill>
              <a:srgbClr val="C2C4C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5" name="AutoShape 85"/>
            <p:cNvSpPr/>
            <p:nvPr>
              <p:custDataLst>
                <p:tags r:id="rId83"/>
              </p:custDataLst>
            </p:nvPr>
          </p:nvSpPr>
          <p:spPr>
            <a:xfrm>
              <a:off x="3036188" y="6476930"/>
              <a:ext cx="86127" cy="97765"/>
            </a:xfrm>
            <a:custGeom>
              <a:avLst/>
              <a:gdLst/>
              <a:ahLst/>
              <a:cxnLst/>
              <a:rect l="l" t="t" r="r" b="b"/>
              <a:pathLst>
                <a:path w="15" h="17">
                  <a:moveTo>
                    <a:pt x="14" y="8"/>
                  </a:moveTo>
                  <a:cubicBezTo>
                    <a:pt x="9" y="14"/>
                    <a:pt x="9" y="14"/>
                    <a:pt x="9" y="14"/>
                  </a:cubicBezTo>
                  <a:cubicBezTo>
                    <a:pt x="8" y="17"/>
                    <a:pt x="5" y="17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0" y="14"/>
                    <a:pt x="0" y="11"/>
                    <a:pt x="1" y="9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0"/>
                    <a:pt x="10" y="0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5" y="3"/>
                    <a:pt x="15" y="6"/>
                    <a:pt x="14" y="8"/>
                  </a:cubicBezTo>
                  <a:close/>
                </a:path>
              </a:pathLst>
            </a:custGeom>
            <a:solidFill>
              <a:srgbClr val="C2C4C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6" name="AutoShape 86"/>
            <p:cNvSpPr/>
            <p:nvPr>
              <p:custDataLst>
                <p:tags r:id="rId84"/>
              </p:custDataLst>
            </p:nvPr>
          </p:nvSpPr>
          <p:spPr>
            <a:xfrm>
              <a:off x="3087399" y="6493225"/>
              <a:ext cx="86127" cy="102420"/>
            </a:xfrm>
            <a:custGeom>
              <a:avLst/>
              <a:gdLst/>
              <a:ahLst/>
              <a:cxnLst/>
              <a:rect l="l" t="t" r="r" b="b"/>
              <a:pathLst>
                <a:path w="15" h="18">
                  <a:moveTo>
                    <a:pt x="14" y="9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7"/>
                    <a:pt x="5" y="18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1"/>
                    <a:pt x="10" y="0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5" y="3"/>
                    <a:pt x="15" y="6"/>
                    <a:pt x="14" y="9"/>
                  </a:cubicBezTo>
                  <a:close/>
                </a:path>
              </a:pathLst>
            </a:custGeom>
            <a:solidFill>
              <a:srgbClr val="C2C4C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7" name="AutoShape 87"/>
            <p:cNvSpPr/>
            <p:nvPr>
              <p:custDataLst>
                <p:tags r:id="rId85"/>
              </p:custDataLst>
            </p:nvPr>
          </p:nvSpPr>
          <p:spPr>
            <a:xfrm>
              <a:off x="3138609" y="6516502"/>
              <a:ext cx="90782" cy="102420"/>
            </a:xfrm>
            <a:custGeom>
              <a:avLst/>
              <a:gdLst/>
              <a:ahLst/>
              <a:cxnLst/>
              <a:rect l="l" t="t" r="r" b="b"/>
              <a:pathLst>
                <a:path w="16" h="18">
                  <a:moveTo>
                    <a:pt x="14" y="8"/>
                  </a:moveTo>
                  <a:cubicBezTo>
                    <a:pt x="10" y="15"/>
                    <a:pt x="10" y="15"/>
                    <a:pt x="10" y="15"/>
                  </a:cubicBezTo>
                  <a:cubicBezTo>
                    <a:pt x="8" y="17"/>
                    <a:pt x="5" y="18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0" y="15"/>
                    <a:pt x="0" y="12"/>
                    <a:pt x="1" y="9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1"/>
                    <a:pt x="10" y="0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5" y="3"/>
                    <a:pt x="16" y="6"/>
                    <a:pt x="14" y="8"/>
                  </a:cubicBezTo>
                  <a:close/>
                </a:path>
              </a:pathLst>
            </a:custGeom>
            <a:solidFill>
              <a:srgbClr val="C2C4C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8" name="AutoShape 88"/>
            <p:cNvSpPr/>
            <p:nvPr>
              <p:custDataLst>
                <p:tags r:id="rId86"/>
              </p:custDataLst>
            </p:nvPr>
          </p:nvSpPr>
          <p:spPr>
            <a:xfrm>
              <a:off x="1860682" y="5527214"/>
              <a:ext cx="1128953" cy="966011"/>
            </a:xfrm>
            <a:custGeom>
              <a:avLst/>
              <a:gdLst/>
              <a:ahLst/>
              <a:cxnLst/>
              <a:rect l="l" t="t" r="r" b="b"/>
              <a:pathLst>
                <a:path w="198" h="169">
                  <a:moveTo>
                    <a:pt x="174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39"/>
                    <a:pt x="21" y="58"/>
                    <a:pt x="45" y="56"/>
                  </a:cubicBezTo>
                  <a:cubicBezTo>
                    <a:pt x="147" y="47"/>
                    <a:pt x="147" y="47"/>
                    <a:pt x="147" y="47"/>
                  </a:cubicBezTo>
                  <a:cubicBezTo>
                    <a:pt x="124" y="169"/>
                    <a:pt x="124" y="169"/>
                    <a:pt x="124" y="169"/>
                  </a:cubicBezTo>
                  <a:cubicBezTo>
                    <a:pt x="168" y="169"/>
                    <a:pt x="168" y="169"/>
                    <a:pt x="168" y="169"/>
                  </a:cubicBezTo>
                  <a:cubicBezTo>
                    <a:pt x="196" y="26"/>
                    <a:pt x="196" y="26"/>
                    <a:pt x="196" y="26"/>
                  </a:cubicBezTo>
                  <a:cubicBezTo>
                    <a:pt x="198" y="12"/>
                    <a:pt x="188" y="0"/>
                    <a:pt x="174" y="0"/>
                  </a:cubicBezTo>
                  <a:close/>
                </a:path>
              </a:pathLst>
            </a:custGeom>
            <a:solidFill>
              <a:srgbClr val="2E294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9" name="AutoShape 89"/>
            <p:cNvSpPr/>
            <p:nvPr>
              <p:custDataLst>
                <p:tags r:id="rId87"/>
              </p:custDataLst>
            </p:nvPr>
          </p:nvSpPr>
          <p:spPr>
            <a:xfrm>
              <a:off x="2403044" y="5527214"/>
              <a:ext cx="586590" cy="966011"/>
            </a:xfrm>
            <a:custGeom>
              <a:avLst/>
              <a:gdLst/>
              <a:ahLst/>
              <a:cxnLst/>
              <a:rect l="l" t="t" r="r" b="b"/>
              <a:pathLst>
                <a:path w="103" h="169">
                  <a:moveTo>
                    <a:pt x="7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" y="15"/>
                    <a:pt x="10" y="36"/>
                    <a:pt x="3" y="52"/>
                  </a:cubicBezTo>
                  <a:cubicBezTo>
                    <a:pt x="52" y="47"/>
                    <a:pt x="52" y="47"/>
                    <a:pt x="52" y="47"/>
                  </a:cubicBezTo>
                  <a:cubicBezTo>
                    <a:pt x="29" y="169"/>
                    <a:pt x="29" y="169"/>
                    <a:pt x="29" y="169"/>
                  </a:cubicBezTo>
                  <a:cubicBezTo>
                    <a:pt x="73" y="169"/>
                    <a:pt x="73" y="169"/>
                    <a:pt x="73" y="169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103" y="12"/>
                    <a:pt x="93" y="0"/>
                    <a:pt x="79" y="0"/>
                  </a:cubicBezTo>
                  <a:close/>
                </a:path>
              </a:pathLst>
            </a:custGeom>
            <a:solidFill>
              <a:srgbClr val="231E4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0" name="AutoShape 90"/>
            <p:cNvSpPr/>
            <p:nvPr>
              <p:custDataLst>
                <p:tags r:id="rId88"/>
              </p:custDataLst>
            </p:nvPr>
          </p:nvSpPr>
          <p:spPr>
            <a:xfrm>
              <a:off x="2545037" y="6493225"/>
              <a:ext cx="600556" cy="258379"/>
            </a:xfrm>
            <a:custGeom>
              <a:avLst/>
              <a:gdLst/>
              <a:ahLst/>
              <a:cxnLst/>
              <a:rect l="l" t="t" r="r" b="b"/>
              <a:pathLst>
                <a:path w="105" h="45">
                  <a:moveTo>
                    <a:pt x="105" y="45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17"/>
                    <a:pt x="4" y="8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97" y="19"/>
                    <a:pt x="105" y="31"/>
                    <a:pt x="105" y="45"/>
                  </a:cubicBezTo>
                  <a:close/>
                </a:path>
              </a:pathLst>
            </a:custGeom>
            <a:solidFill>
              <a:srgbClr val="88704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1" name="AutoShape 91"/>
            <p:cNvSpPr/>
            <p:nvPr>
              <p:custDataLst>
                <p:tags r:id="rId89"/>
              </p:custDataLst>
            </p:nvPr>
          </p:nvSpPr>
          <p:spPr>
            <a:xfrm>
              <a:off x="2596247" y="6493225"/>
              <a:ext cx="193203" cy="86127"/>
            </a:xfrm>
            <a:custGeom>
              <a:avLst/>
              <a:gdLst/>
              <a:ahLst/>
              <a:cxnLst/>
              <a:rect l="l" t="t" r="r" b="b"/>
              <a:pathLst>
                <a:path w="34" h="1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7" y="15"/>
                    <a:pt x="15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7" y="15"/>
                    <a:pt x="34" y="9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2" name="AutoShape 92"/>
            <p:cNvSpPr/>
            <p:nvPr>
              <p:custDataLst>
                <p:tags r:id="rId90"/>
              </p:custDataLst>
            </p:nvPr>
          </p:nvSpPr>
          <p:spPr>
            <a:xfrm>
              <a:off x="2521759" y="6751603"/>
              <a:ext cx="644784" cy="51210"/>
            </a:xfrm>
            <a:custGeom>
              <a:avLst/>
              <a:gdLst/>
              <a:ahLst/>
              <a:cxnLst/>
              <a:rect l="l" t="t" r="r" b="b"/>
              <a:pathLst>
                <a:path w="113" h="9">
                  <a:moveTo>
                    <a:pt x="110" y="9"/>
                  </a:moveTo>
                  <a:cubicBezTo>
                    <a:pt x="3" y="9"/>
                    <a:pt x="3" y="9"/>
                    <a:pt x="3" y="9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2" y="0"/>
                    <a:pt x="113" y="1"/>
                    <a:pt x="113" y="3"/>
                  </a:cubicBezTo>
                  <a:cubicBezTo>
                    <a:pt x="113" y="6"/>
                    <a:pt x="113" y="6"/>
                    <a:pt x="113" y="6"/>
                  </a:cubicBezTo>
                  <a:cubicBezTo>
                    <a:pt x="113" y="8"/>
                    <a:pt x="112" y="9"/>
                    <a:pt x="110" y="9"/>
                  </a:cubicBezTo>
                  <a:close/>
                </a:path>
              </a:pathLst>
            </a:custGeom>
            <a:solidFill>
              <a:srgbClr val="E1E3E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3" name="AutoShape 93"/>
            <p:cNvSpPr/>
            <p:nvPr>
              <p:custDataLst>
                <p:tags r:id="rId91"/>
              </p:custDataLst>
            </p:nvPr>
          </p:nvSpPr>
          <p:spPr>
            <a:xfrm>
              <a:off x="2819710" y="6476930"/>
              <a:ext cx="90782" cy="97765"/>
            </a:xfrm>
            <a:custGeom>
              <a:avLst/>
              <a:gdLst/>
              <a:ahLst/>
              <a:cxnLst/>
              <a:rect l="l" t="t" r="r" b="b"/>
              <a:pathLst>
                <a:path w="16" h="17">
                  <a:moveTo>
                    <a:pt x="14" y="8"/>
                  </a:moveTo>
                  <a:cubicBezTo>
                    <a:pt x="10" y="14"/>
                    <a:pt x="10" y="14"/>
                    <a:pt x="10" y="14"/>
                  </a:cubicBezTo>
                  <a:cubicBezTo>
                    <a:pt x="8" y="17"/>
                    <a:pt x="5" y="17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1" y="14"/>
                    <a:pt x="0" y="11"/>
                    <a:pt x="2" y="9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8" y="0"/>
                    <a:pt x="11" y="0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5" y="3"/>
                    <a:pt x="16" y="6"/>
                    <a:pt x="14" y="8"/>
                  </a:cubicBezTo>
                  <a:close/>
                </a:path>
              </a:pathLst>
            </a:custGeom>
            <a:solidFill>
              <a:srgbClr val="E1E3E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4" name="AutoShape 94"/>
            <p:cNvSpPr/>
            <p:nvPr>
              <p:custDataLst>
                <p:tags r:id="rId92"/>
              </p:custDataLst>
            </p:nvPr>
          </p:nvSpPr>
          <p:spPr>
            <a:xfrm>
              <a:off x="2870920" y="6493225"/>
              <a:ext cx="90782" cy="102420"/>
            </a:xfrm>
            <a:custGeom>
              <a:avLst/>
              <a:gdLst/>
              <a:ahLst/>
              <a:cxnLst/>
              <a:rect l="l" t="t" r="r" b="b"/>
              <a:pathLst>
                <a:path w="16" h="18">
                  <a:moveTo>
                    <a:pt x="15" y="9"/>
                  </a:moveTo>
                  <a:cubicBezTo>
                    <a:pt x="10" y="15"/>
                    <a:pt x="10" y="15"/>
                    <a:pt x="10" y="15"/>
                  </a:cubicBezTo>
                  <a:cubicBezTo>
                    <a:pt x="9" y="17"/>
                    <a:pt x="5" y="18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1" y="15"/>
                    <a:pt x="0" y="12"/>
                    <a:pt x="2" y="10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8" y="1"/>
                    <a:pt x="11" y="0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5" y="3"/>
                    <a:pt x="16" y="6"/>
                    <a:pt x="15" y="9"/>
                  </a:cubicBezTo>
                  <a:close/>
                </a:path>
              </a:pathLst>
            </a:custGeom>
            <a:solidFill>
              <a:srgbClr val="E1E3E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5" name="AutoShape 95"/>
            <p:cNvSpPr/>
            <p:nvPr>
              <p:custDataLst>
                <p:tags r:id="rId93"/>
              </p:custDataLst>
            </p:nvPr>
          </p:nvSpPr>
          <p:spPr>
            <a:xfrm>
              <a:off x="2926785" y="6516502"/>
              <a:ext cx="86127" cy="102420"/>
            </a:xfrm>
            <a:custGeom>
              <a:avLst/>
              <a:gdLst/>
              <a:ahLst/>
              <a:cxnLst/>
              <a:rect l="l" t="t" r="r" b="b"/>
              <a:pathLst>
                <a:path w="15" h="18">
                  <a:moveTo>
                    <a:pt x="14" y="8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8" y="17"/>
                    <a:pt x="5" y="18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0" y="15"/>
                    <a:pt x="0" y="12"/>
                    <a:pt x="1" y="9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1"/>
                    <a:pt x="10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5" y="3"/>
                    <a:pt x="15" y="6"/>
                    <a:pt x="14" y="8"/>
                  </a:cubicBezTo>
                  <a:close/>
                </a:path>
              </a:pathLst>
            </a:custGeom>
            <a:solidFill>
              <a:srgbClr val="E1E3E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6" name="AutoShape 96"/>
            <p:cNvSpPr/>
            <p:nvPr>
              <p:custDataLst>
                <p:tags r:id="rId94"/>
              </p:custDataLst>
            </p:nvPr>
          </p:nvSpPr>
          <p:spPr>
            <a:xfrm>
              <a:off x="1723345" y="6009056"/>
              <a:ext cx="216480" cy="181563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7" name="AutoShape 97"/>
            <p:cNvSpPr/>
            <p:nvPr>
              <p:custDataLst>
                <p:tags r:id="rId95"/>
              </p:custDataLst>
            </p:nvPr>
          </p:nvSpPr>
          <p:spPr>
            <a:xfrm>
              <a:off x="1786194" y="6190619"/>
              <a:ext cx="90782" cy="90782"/>
            </a:xfrm>
            <a:prstGeom prst="rect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8" name="AutoShape 98"/>
            <p:cNvSpPr/>
            <p:nvPr>
              <p:custDataLst>
                <p:tags r:id="rId96"/>
              </p:custDataLst>
            </p:nvPr>
          </p:nvSpPr>
          <p:spPr>
            <a:xfrm>
              <a:off x="1734984" y="6281400"/>
              <a:ext cx="200185" cy="172252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9" name="AutoShape 99"/>
            <p:cNvSpPr/>
            <p:nvPr>
              <p:custDataLst>
                <p:tags r:id="rId97"/>
              </p:custDataLst>
            </p:nvPr>
          </p:nvSpPr>
          <p:spPr>
            <a:xfrm>
              <a:off x="1802488" y="6453652"/>
              <a:ext cx="69832" cy="239758"/>
            </a:xfrm>
            <a:prstGeom prst="rect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0" name="AutoShape 100"/>
            <p:cNvSpPr/>
            <p:nvPr>
              <p:custDataLst>
                <p:tags r:id="rId98"/>
              </p:custDataLst>
            </p:nvPr>
          </p:nvSpPr>
          <p:spPr>
            <a:xfrm>
              <a:off x="1322974" y="6523485"/>
              <a:ext cx="1021877" cy="169925"/>
            </a:xfrm>
            <a:custGeom>
              <a:avLst/>
              <a:gdLst/>
              <a:ahLst/>
              <a:cxnLst/>
              <a:rect l="l" t="t" r="r" b="b"/>
              <a:pathLst>
                <a:path w="179" h="30">
                  <a:moveTo>
                    <a:pt x="0" y="22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16"/>
                    <a:pt x="18" y="11"/>
                    <a:pt x="25" y="11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61" y="11"/>
                    <a:pt x="167" y="16"/>
                    <a:pt x="167" y="23"/>
                  </a:cubicBezTo>
                  <a:cubicBezTo>
                    <a:pt x="167" y="30"/>
                    <a:pt x="167" y="30"/>
                    <a:pt x="167" y="30"/>
                  </a:cubicBezTo>
                  <a:cubicBezTo>
                    <a:pt x="179" y="30"/>
                    <a:pt x="179" y="30"/>
                    <a:pt x="179" y="30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10"/>
                    <a:pt x="169" y="0"/>
                    <a:pt x="157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" y="0"/>
                    <a:pt x="0" y="10"/>
                    <a:pt x="0" y="22"/>
                  </a:cubicBezTo>
                  <a:close/>
                </a:path>
              </a:pathLst>
            </a:cu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1" name="AutoShape 101"/>
            <p:cNvSpPr/>
            <p:nvPr>
              <p:custDataLst>
                <p:tags r:id="rId99"/>
              </p:custDataLst>
            </p:nvPr>
          </p:nvSpPr>
          <p:spPr>
            <a:xfrm>
              <a:off x="1278747" y="6649182"/>
              <a:ext cx="153631" cy="153631"/>
            </a:xfrm>
            <a:prstGeom prst="ellipse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2" name="AutoShape 102"/>
            <p:cNvSpPr/>
            <p:nvPr>
              <p:custDataLst>
                <p:tags r:id="rId100"/>
              </p:custDataLst>
            </p:nvPr>
          </p:nvSpPr>
          <p:spPr>
            <a:xfrm>
              <a:off x="1762917" y="6649182"/>
              <a:ext cx="153631" cy="153631"/>
            </a:xfrm>
            <a:prstGeom prst="ellipse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3" name="AutoShape 103"/>
            <p:cNvSpPr/>
            <p:nvPr>
              <p:custDataLst>
                <p:tags r:id="rId101"/>
              </p:custDataLst>
            </p:nvPr>
          </p:nvSpPr>
          <p:spPr>
            <a:xfrm>
              <a:off x="2230791" y="6649182"/>
              <a:ext cx="153631" cy="153631"/>
            </a:xfrm>
            <a:prstGeom prst="ellipse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4" name="AutoShape 104"/>
            <p:cNvSpPr/>
            <p:nvPr>
              <p:custDataLst>
                <p:tags r:id="rId102"/>
              </p:custDataLst>
            </p:nvPr>
          </p:nvSpPr>
          <p:spPr>
            <a:xfrm>
              <a:off x="1758261" y="5832148"/>
              <a:ext cx="758842" cy="221136"/>
            </a:xfrm>
            <a:custGeom>
              <a:avLst/>
              <a:gdLst/>
              <a:ahLst/>
              <a:cxnLst/>
              <a:rect l="l" t="t" r="r" b="b"/>
              <a:pathLst>
                <a:path w="133" h="39"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24" y="0"/>
                    <a:pt x="133" y="9"/>
                    <a:pt x="133" y="19"/>
                  </a:cubicBezTo>
                  <a:cubicBezTo>
                    <a:pt x="133" y="19"/>
                    <a:pt x="133" y="19"/>
                    <a:pt x="133" y="19"/>
                  </a:cubicBezTo>
                  <a:cubicBezTo>
                    <a:pt x="133" y="30"/>
                    <a:pt x="124" y="39"/>
                    <a:pt x="114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8" y="39"/>
                    <a:pt x="0" y="30"/>
                    <a:pt x="0" y="19"/>
                  </a:cubicBezTo>
                  <a:close/>
                </a:path>
              </a:pathLst>
            </a:cu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5" name="AutoShape 105"/>
            <p:cNvSpPr/>
            <p:nvPr>
              <p:custDataLst>
                <p:tags r:id="rId103"/>
              </p:custDataLst>
            </p:nvPr>
          </p:nvSpPr>
          <p:spPr>
            <a:xfrm>
              <a:off x="1350907" y="5832148"/>
              <a:ext cx="679699" cy="221136"/>
            </a:xfrm>
            <a:custGeom>
              <a:avLst/>
              <a:gdLst/>
              <a:ahLst/>
              <a:cxnLst/>
              <a:rect l="l" t="t" r="r" b="b"/>
              <a:pathLst>
                <a:path w="119" h="39"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10" y="0"/>
                    <a:pt x="119" y="9"/>
                    <a:pt x="119" y="19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19" y="30"/>
                    <a:pt x="110" y="39"/>
                    <a:pt x="9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9" y="39"/>
                    <a:pt x="0" y="30"/>
                    <a:pt x="0" y="19"/>
                  </a:cubicBezTo>
                  <a:close/>
                </a:path>
              </a:pathLst>
            </a:cu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6" name="AutoShape 106"/>
            <p:cNvSpPr/>
            <p:nvPr>
              <p:custDataLst>
                <p:tags r:id="rId104"/>
              </p:custDataLst>
            </p:nvPr>
          </p:nvSpPr>
          <p:spPr>
            <a:xfrm>
              <a:off x="2973340" y="5282802"/>
              <a:ext cx="358472" cy="114060"/>
            </a:xfrm>
            <a:custGeom>
              <a:avLst/>
              <a:gdLst/>
              <a:ahLst/>
              <a:cxnLst/>
              <a:rect l="l" t="t" r="r" b="b"/>
              <a:pathLst>
                <a:path w="63" h="20">
                  <a:moveTo>
                    <a:pt x="57" y="4"/>
                  </a:moveTo>
                  <a:cubicBezTo>
                    <a:pt x="57" y="4"/>
                    <a:pt x="57" y="4"/>
                    <a:pt x="57" y="4"/>
                  </a:cubicBezTo>
                  <a:cubicBezTo>
                    <a:pt x="51" y="1"/>
                    <a:pt x="45" y="0"/>
                    <a:pt x="39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18" y="2"/>
                    <a:pt x="14" y="4"/>
                    <a:pt x="12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63" y="14"/>
                    <a:pt x="63" y="14"/>
                    <a:pt x="63" y="14"/>
                  </a:cubicBezTo>
                  <a:cubicBezTo>
                    <a:pt x="63" y="10"/>
                    <a:pt x="61" y="6"/>
                    <a:pt x="57" y="4"/>
                  </a:cubicBez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7" name="AutoShape 107"/>
            <p:cNvSpPr/>
            <p:nvPr>
              <p:custDataLst>
                <p:tags r:id="rId105"/>
              </p:custDataLst>
            </p:nvPr>
          </p:nvSpPr>
          <p:spPr>
            <a:xfrm>
              <a:off x="3001273" y="5282802"/>
              <a:ext cx="330539" cy="114060"/>
            </a:xfrm>
            <a:custGeom>
              <a:avLst/>
              <a:gdLst/>
              <a:ahLst/>
              <a:cxnLst/>
              <a:rect l="l" t="t" r="r" b="b"/>
              <a:pathLst>
                <a:path w="58" h="20">
                  <a:moveTo>
                    <a:pt x="52" y="4"/>
                  </a:moveTo>
                  <a:cubicBezTo>
                    <a:pt x="52" y="4"/>
                    <a:pt x="52" y="4"/>
                    <a:pt x="52" y="4"/>
                  </a:cubicBezTo>
                  <a:cubicBezTo>
                    <a:pt x="46" y="1"/>
                    <a:pt x="40" y="0"/>
                    <a:pt x="34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3" y="2"/>
                    <a:pt x="9" y="4"/>
                    <a:pt x="7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8" y="20"/>
                    <a:pt x="58" y="20"/>
                    <a:pt x="58" y="20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58" y="10"/>
                    <a:pt x="56" y="6"/>
                    <a:pt x="52" y="4"/>
                  </a:cubicBez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8" name="AutoShape 108"/>
            <p:cNvSpPr/>
            <p:nvPr>
              <p:custDataLst>
                <p:tags r:id="rId106"/>
              </p:custDataLst>
            </p:nvPr>
          </p:nvSpPr>
          <p:spPr>
            <a:xfrm>
              <a:off x="2258724" y="4631036"/>
              <a:ext cx="742549" cy="765826"/>
            </a:xfrm>
            <a:custGeom>
              <a:avLst/>
              <a:gdLst/>
              <a:ahLst/>
              <a:cxnLst/>
              <a:rect l="l" t="t" r="r" b="b"/>
              <a:pathLst>
                <a:path w="130" h="134">
                  <a:moveTo>
                    <a:pt x="53" y="104"/>
                  </a:moveTo>
                  <a:cubicBezTo>
                    <a:pt x="44" y="23"/>
                    <a:pt x="44" y="23"/>
                    <a:pt x="44" y="23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4" y="100"/>
                    <a:pt x="4" y="100"/>
                    <a:pt x="4" y="100"/>
                  </a:cubicBezTo>
                  <a:cubicBezTo>
                    <a:pt x="0" y="117"/>
                    <a:pt x="13" y="134"/>
                    <a:pt x="30" y="134"/>
                  </a:cubicBezTo>
                  <a:cubicBezTo>
                    <a:pt x="130" y="134"/>
                    <a:pt x="130" y="134"/>
                    <a:pt x="130" y="134"/>
                  </a:cubicBezTo>
                  <a:cubicBezTo>
                    <a:pt x="130" y="115"/>
                    <a:pt x="130" y="115"/>
                    <a:pt x="130" y="115"/>
                  </a:cubicBezTo>
                  <a:lnTo>
                    <a:pt x="53" y="104"/>
                  </a:lnTo>
                  <a:close/>
                </a:path>
              </a:pathLst>
            </a:custGeom>
            <a:solidFill>
              <a:srgbClr val="99182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9" name="AutoShape 109"/>
            <p:cNvSpPr/>
            <p:nvPr>
              <p:custDataLst>
                <p:tags r:id="rId107"/>
              </p:custDataLst>
            </p:nvPr>
          </p:nvSpPr>
          <p:spPr>
            <a:xfrm>
              <a:off x="1767572" y="4442489"/>
              <a:ext cx="742549" cy="1084725"/>
            </a:xfrm>
            <a:custGeom>
              <a:avLst/>
              <a:gdLst/>
              <a:ahLst/>
              <a:cxnLst/>
              <a:rect l="l" t="t" r="r" b="b"/>
              <a:pathLst>
                <a:path w="130" h="190">
                  <a:moveTo>
                    <a:pt x="116" y="19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01" y="5"/>
                    <a:pt x="82" y="0"/>
                    <a:pt x="64" y="4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33" y="11"/>
                    <a:pt x="20" y="22"/>
                    <a:pt x="13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" y="171"/>
                    <a:pt x="1" y="171"/>
                    <a:pt x="1" y="171"/>
                  </a:cubicBezTo>
                  <a:cubicBezTo>
                    <a:pt x="0" y="181"/>
                    <a:pt x="8" y="190"/>
                    <a:pt x="19" y="190"/>
                  </a:cubicBezTo>
                  <a:cubicBezTo>
                    <a:pt x="110" y="190"/>
                    <a:pt x="110" y="190"/>
                    <a:pt x="110" y="190"/>
                  </a:cubicBezTo>
                  <a:cubicBezTo>
                    <a:pt x="115" y="190"/>
                    <a:pt x="119" y="186"/>
                    <a:pt x="119" y="181"/>
                  </a:cubicBezTo>
                  <a:cubicBezTo>
                    <a:pt x="122" y="157"/>
                    <a:pt x="129" y="90"/>
                    <a:pt x="130" y="65"/>
                  </a:cubicBezTo>
                  <a:cubicBezTo>
                    <a:pt x="130" y="61"/>
                    <a:pt x="130" y="50"/>
                    <a:pt x="130" y="50"/>
                  </a:cubicBezTo>
                  <a:cubicBezTo>
                    <a:pt x="130" y="38"/>
                    <a:pt x="125" y="27"/>
                    <a:pt x="116" y="19"/>
                  </a:cubicBezTo>
                  <a:close/>
                </a:path>
              </a:pathLst>
            </a:custGeom>
            <a:solidFill>
              <a:srgbClr val="D80B3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0" name="AutoShape 110"/>
            <p:cNvSpPr/>
            <p:nvPr>
              <p:custDataLst>
                <p:tags r:id="rId108"/>
              </p:custDataLst>
            </p:nvPr>
          </p:nvSpPr>
          <p:spPr>
            <a:xfrm>
              <a:off x="2049228" y="4442489"/>
              <a:ext cx="460892" cy="577278"/>
            </a:xfrm>
            <a:custGeom>
              <a:avLst/>
              <a:gdLst/>
              <a:ahLst/>
              <a:cxnLst/>
              <a:rect l="l" t="t" r="r" b="b"/>
              <a:pathLst>
                <a:path w="81" h="101">
                  <a:moveTo>
                    <a:pt x="78" y="101"/>
                  </a:moveTo>
                  <a:cubicBezTo>
                    <a:pt x="79" y="86"/>
                    <a:pt x="80" y="73"/>
                    <a:pt x="81" y="65"/>
                  </a:cubicBezTo>
                  <a:cubicBezTo>
                    <a:pt x="81" y="61"/>
                    <a:pt x="81" y="50"/>
                    <a:pt x="81" y="50"/>
                  </a:cubicBezTo>
                  <a:cubicBezTo>
                    <a:pt x="81" y="38"/>
                    <a:pt x="76" y="27"/>
                    <a:pt x="67" y="19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52" y="5"/>
                    <a:pt x="33" y="0"/>
                    <a:pt x="15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9" y="79"/>
                    <a:pt x="78" y="101"/>
                  </a:cubicBezTo>
                  <a:close/>
                </a:path>
              </a:pathLst>
            </a:custGeom>
            <a:solidFill>
              <a:srgbClr val="B5173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1" name="AutoShape 111"/>
            <p:cNvSpPr/>
            <p:nvPr>
              <p:custDataLst>
                <p:tags r:id="rId109"/>
              </p:custDataLst>
            </p:nvPr>
          </p:nvSpPr>
          <p:spPr>
            <a:xfrm>
              <a:off x="2619524" y="5282802"/>
              <a:ext cx="337523" cy="114060"/>
            </a:xfrm>
            <a:custGeom>
              <a:avLst/>
              <a:gdLst/>
              <a:ahLst/>
              <a:cxnLst/>
              <a:rect l="l" t="t" r="r" b="b"/>
              <a:pathLst>
                <a:path w="59" h="20">
                  <a:moveTo>
                    <a:pt x="44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8"/>
                    <a:pt x="2" y="20"/>
                    <a:pt x="4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8" y="20"/>
                    <a:pt x="59" y="18"/>
                    <a:pt x="59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7"/>
                    <a:pt x="52" y="0"/>
                    <a:pt x="44" y="0"/>
                  </a:cubicBezTo>
                  <a:close/>
                </a:path>
              </a:pathLst>
            </a:custGeom>
            <a:solidFill>
              <a:srgbClr val="EEF0F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2" name="AutoShape 112"/>
            <p:cNvSpPr/>
            <p:nvPr>
              <p:custDataLst>
                <p:tags r:id="rId110"/>
              </p:custDataLst>
            </p:nvPr>
          </p:nvSpPr>
          <p:spPr>
            <a:xfrm>
              <a:off x="1672134" y="4584481"/>
              <a:ext cx="758842" cy="812380"/>
            </a:xfrm>
            <a:custGeom>
              <a:avLst/>
              <a:gdLst/>
              <a:ahLst/>
              <a:cxnLst/>
              <a:rect l="l" t="t" r="r" b="b"/>
              <a:pathLst>
                <a:path w="133" h="142">
                  <a:moveTo>
                    <a:pt x="55" y="97"/>
                  </a:moveTo>
                  <a:cubicBezTo>
                    <a:pt x="69" y="29"/>
                    <a:pt x="69" y="29"/>
                    <a:pt x="69" y="29"/>
                  </a:cubicBezTo>
                  <a:cubicBezTo>
                    <a:pt x="73" y="17"/>
                    <a:pt x="65" y="4"/>
                    <a:pt x="52" y="2"/>
                  </a:cubicBezTo>
                  <a:cubicBezTo>
                    <a:pt x="41" y="0"/>
                    <a:pt x="31" y="7"/>
                    <a:pt x="28" y="18"/>
                  </a:cubicBezTo>
                  <a:cubicBezTo>
                    <a:pt x="4" y="108"/>
                    <a:pt x="4" y="108"/>
                    <a:pt x="4" y="108"/>
                  </a:cubicBezTo>
                  <a:cubicBezTo>
                    <a:pt x="0" y="125"/>
                    <a:pt x="13" y="142"/>
                    <a:pt x="31" y="142"/>
                  </a:cubicBezTo>
                  <a:cubicBezTo>
                    <a:pt x="133" y="142"/>
                    <a:pt x="133" y="142"/>
                    <a:pt x="133" y="142"/>
                  </a:cubicBezTo>
                  <a:cubicBezTo>
                    <a:pt x="133" y="97"/>
                    <a:pt x="133" y="97"/>
                    <a:pt x="133" y="97"/>
                  </a:cubicBezTo>
                  <a:lnTo>
                    <a:pt x="55" y="97"/>
                  </a:lnTo>
                  <a:close/>
                </a:path>
              </a:pathLst>
            </a:custGeom>
            <a:solidFill>
              <a:srgbClr val="E158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3" name="AutoShape 113"/>
            <p:cNvSpPr/>
            <p:nvPr>
              <p:custDataLst>
                <p:tags r:id="rId111"/>
              </p:custDataLst>
            </p:nvPr>
          </p:nvSpPr>
          <p:spPr>
            <a:xfrm>
              <a:off x="2430977" y="5185037"/>
              <a:ext cx="109404" cy="165270"/>
            </a:xfrm>
            <a:prstGeom prst="rect">
              <a:avLst/>
            </a:prstGeom>
            <a:solidFill>
              <a:srgbClr val="F5B0A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4" name="AutoShape 114"/>
            <p:cNvSpPr/>
            <p:nvPr>
              <p:custDataLst>
                <p:tags r:id="rId112"/>
              </p:custDataLst>
            </p:nvPr>
          </p:nvSpPr>
          <p:spPr>
            <a:xfrm>
              <a:off x="2477531" y="5145465"/>
              <a:ext cx="405026" cy="235102"/>
            </a:xfrm>
            <a:custGeom>
              <a:avLst/>
              <a:gdLst/>
              <a:ahLst/>
              <a:cxnLst/>
              <a:rect l="l" t="t" r="r" b="b"/>
              <a:pathLst>
                <a:path w="71" h="41">
                  <a:moveTo>
                    <a:pt x="67" y="18"/>
                  </a:moveTo>
                  <a:cubicBezTo>
                    <a:pt x="66" y="17"/>
                    <a:pt x="66" y="17"/>
                    <a:pt x="66" y="17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7" y="13"/>
                    <a:pt x="65" y="9"/>
                    <a:pt x="62" y="8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48" y="1"/>
                    <a:pt x="41" y="0"/>
                    <a:pt x="35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0" y="2"/>
                    <a:pt x="4" y="7"/>
                    <a:pt x="3" y="14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34"/>
                    <a:pt x="6" y="41"/>
                    <a:pt x="15" y="40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8" y="39"/>
                    <a:pt x="40" y="39"/>
                    <a:pt x="42" y="39"/>
                  </a:cubicBezTo>
                  <a:cubicBezTo>
                    <a:pt x="50" y="40"/>
                    <a:pt x="50" y="40"/>
                    <a:pt x="50" y="40"/>
                  </a:cubicBezTo>
                  <a:cubicBezTo>
                    <a:pt x="53" y="40"/>
                    <a:pt x="56" y="38"/>
                    <a:pt x="57" y="34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62" y="34"/>
                    <a:pt x="64" y="32"/>
                    <a:pt x="65" y="29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67" y="27"/>
                    <a:pt x="69" y="26"/>
                    <a:pt x="69" y="24"/>
                  </a:cubicBezTo>
                  <a:cubicBezTo>
                    <a:pt x="71" y="22"/>
                    <a:pt x="69" y="19"/>
                    <a:pt x="67" y="18"/>
                  </a:cubicBez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5" name="AutoShape 115"/>
            <p:cNvSpPr/>
            <p:nvPr>
              <p:custDataLst>
                <p:tags r:id="rId113"/>
              </p:custDataLst>
            </p:nvPr>
          </p:nvSpPr>
          <p:spPr>
            <a:xfrm>
              <a:off x="2128371" y="4132901"/>
              <a:ext cx="256051" cy="493480"/>
            </a:xfrm>
            <a:custGeom>
              <a:avLst/>
              <a:gdLst/>
              <a:ahLst/>
              <a:cxnLst/>
              <a:rect l="l" t="t" r="r" b="b"/>
              <a:pathLst>
                <a:path w="45" h="86">
                  <a:moveTo>
                    <a:pt x="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6"/>
                    <a:pt x="5" y="74"/>
                    <a:pt x="13" y="8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24" y="86"/>
                    <a:pt x="32" y="86"/>
                    <a:pt x="37" y="81"/>
                  </a:cubicBezTo>
                  <a:cubicBezTo>
                    <a:pt x="37" y="81"/>
                    <a:pt x="37" y="81"/>
                    <a:pt x="37" y="81"/>
                  </a:cubicBezTo>
                  <a:cubicBezTo>
                    <a:pt x="42" y="78"/>
                    <a:pt x="45" y="72"/>
                    <a:pt x="45" y="66"/>
                  </a:cubicBezTo>
                  <a:lnTo>
                    <a:pt x="45" y="0"/>
                  </a:lnTo>
                  <a:close/>
                </a:path>
              </a:pathLst>
            </a:custGeom>
            <a:solidFill>
              <a:srgbClr val="F5B0A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6" name="AutoShape 116"/>
            <p:cNvSpPr/>
            <p:nvPr>
              <p:custDataLst>
                <p:tags r:id="rId114"/>
              </p:custDataLst>
            </p:nvPr>
          </p:nvSpPr>
          <p:spPr>
            <a:xfrm>
              <a:off x="2561330" y="4077035"/>
              <a:ext cx="114060" cy="204841"/>
            </a:xfrm>
            <a:custGeom>
              <a:avLst/>
              <a:gdLst/>
              <a:ahLst/>
              <a:cxnLst/>
              <a:rect l="l" t="t" r="r" b="b"/>
              <a:pathLst>
                <a:path w="20" h="36">
                  <a:moveTo>
                    <a:pt x="5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14" y="0"/>
                    <a:pt x="20" y="7"/>
                    <a:pt x="20" y="15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9"/>
                    <a:pt x="14" y="36"/>
                    <a:pt x="6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2" y="36"/>
                    <a:pt x="0" y="34"/>
                    <a:pt x="0" y="3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lose/>
                </a:path>
              </a:pathLst>
            </a:custGeom>
            <a:solidFill>
              <a:srgbClr val="898B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7" name="AutoShape 117"/>
            <p:cNvSpPr/>
            <p:nvPr>
              <p:custDataLst>
                <p:tags r:id="rId115"/>
              </p:custDataLst>
            </p:nvPr>
          </p:nvSpPr>
          <p:spPr>
            <a:xfrm>
              <a:off x="2561330" y="4077035"/>
              <a:ext cx="81472" cy="204841"/>
            </a:xfrm>
            <a:custGeom>
              <a:avLst/>
              <a:gdLst/>
              <a:ahLst/>
              <a:cxnLst/>
              <a:rect l="l" t="t" r="r" b="b"/>
              <a:pathLst>
                <a:path w="14" h="36">
                  <a:moveTo>
                    <a:pt x="14" y="3"/>
                  </a:moveTo>
                  <a:cubicBezTo>
                    <a:pt x="12" y="1"/>
                    <a:pt x="9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9" y="36"/>
                    <a:pt x="12" y="35"/>
                    <a:pt x="14" y="34"/>
                  </a:cubicBezTo>
                  <a:lnTo>
                    <a:pt x="14" y="3"/>
                  </a:lnTo>
                  <a:close/>
                </a:path>
              </a:pathLst>
            </a:cu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8" name="AutoShape 118"/>
            <p:cNvSpPr/>
            <p:nvPr>
              <p:custDataLst>
                <p:tags r:id="rId116"/>
              </p:custDataLst>
            </p:nvPr>
          </p:nvSpPr>
          <p:spPr>
            <a:xfrm>
              <a:off x="2088800" y="3727875"/>
              <a:ext cx="523742" cy="428303"/>
            </a:xfrm>
            <a:custGeom>
              <a:avLst/>
              <a:gdLst/>
              <a:ahLst/>
              <a:cxnLst/>
              <a:rect l="l" t="t" r="r" b="b"/>
              <a:pathLst>
                <a:path w="92" h="75">
                  <a:moveTo>
                    <a:pt x="92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16" y="0"/>
                    <a:pt x="0" y="15"/>
                    <a:pt x="0" y="34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92" y="75"/>
                    <a:pt x="92" y="75"/>
                    <a:pt x="92" y="75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rgbClr val="4F1F3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9" name="AutoShape 119"/>
            <p:cNvSpPr/>
            <p:nvPr>
              <p:custDataLst>
                <p:tags r:id="rId117"/>
              </p:custDataLst>
            </p:nvPr>
          </p:nvSpPr>
          <p:spPr>
            <a:xfrm>
              <a:off x="2128371" y="3797707"/>
              <a:ext cx="484169" cy="742548"/>
            </a:xfrm>
            <a:custGeom>
              <a:avLst/>
              <a:gdLst/>
              <a:ahLst/>
              <a:cxnLst/>
              <a:rect l="l" t="t" r="r" b="b"/>
              <a:pathLst>
                <a:path w="85" h="130">
                  <a:moveTo>
                    <a:pt x="50" y="130"/>
                  </a:moveTo>
                  <a:cubicBezTo>
                    <a:pt x="50" y="130"/>
                    <a:pt x="50" y="130"/>
                    <a:pt x="50" y="130"/>
                  </a:cubicBezTo>
                  <a:cubicBezTo>
                    <a:pt x="43" y="130"/>
                    <a:pt x="36" y="128"/>
                    <a:pt x="30" y="123"/>
                  </a:cubicBezTo>
                  <a:cubicBezTo>
                    <a:pt x="19" y="113"/>
                    <a:pt x="19" y="113"/>
                    <a:pt x="19" y="113"/>
                  </a:cubicBezTo>
                  <a:cubicBezTo>
                    <a:pt x="7" y="103"/>
                    <a:pt x="0" y="88"/>
                    <a:pt x="0" y="72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70" y="0"/>
                    <a:pt x="85" y="22"/>
                    <a:pt x="85" y="40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5" y="101"/>
                    <a:pt x="62" y="130"/>
                    <a:pt x="50" y="130"/>
                  </a:cubicBez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0" name="AutoShape 120"/>
            <p:cNvSpPr/>
            <p:nvPr>
              <p:custDataLst>
                <p:tags r:id="rId118"/>
              </p:custDataLst>
            </p:nvPr>
          </p:nvSpPr>
          <p:spPr>
            <a:xfrm>
              <a:off x="2128371" y="3797707"/>
              <a:ext cx="484169" cy="393388"/>
            </a:xfrm>
            <a:custGeom>
              <a:avLst/>
              <a:gdLst/>
              <a:ahLst/>
              <a:cxnLst/>
              <a:rect l="l" t="t" r="r" b="b"/>
              <a:pathLst>
                <a:path w="85" h="69">
                  <a:moveTo>
                    <a:pt x="14" y="41"/>
                  </a:moveTo>
                  <a:cubicBezTo>
                    <a:pt x="22" y="37"/>
                    <a:pt x="22" y="37"/>
                    <a:pt x="22" y="37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1"/>
                    <a:pt x="25" y="18"/>
                    <a:pt x="29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6" y="18"/>
                    <a:pt x="79" y="21"/>
                    <a:pt x="79" y="24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5" y="44"/>
                    <a:pt x="85" y="44"/>
                    <a:pt x="85" y="44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5" y="22"/>
                    <a:pt x="70" y="0"/>
                    <a:pt x="51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0" y="68"/>
                    <a:pt x="0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6" y="69"/>
                    <a:pt x="8" y="67"/>
                    <a:pt x="8" y="65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47"/>
                    <a:pt x="10" y="43"/>
                    <a:pt x="14" y="41"/>
                  </a:cubicBezTo>
                  <a:close/>
                </a:path>
              </a:pathLst>
            </a:custGeom>
            <a:solidFill>
              <a:srgbClr val="4F1F3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1" name="AutoShape 121"/>
            <p:cNvSpPr/>
            <p:nvPr>
              <p:custDataLst>
                <p:tags r:id="rId119"/>
              </p:custDataLst>
            </p:nvPr>
          </p:nvSpPr>
          <p:spPr>
            <a:xfrm>
              <a:off x="2081816" y="3683647"/>
              <a:ext cx="439943" cy="421321"/>
            </a:xfrm>
            <a:custGeom>
              <a:avLst/>
              <a:gdLst/>
              <a:ahLst/>
              <a:cxnLst/>
              <a:rect l="l" t="t" r="r" b="b"/>
              <a:pathLst>
                <a:path w="77" h="74">
                  <a:moveTo>
                    <a:pt x="77" y="8"/>
                  </a:moveTo>
                  <a:cubicBezTo>
                    <a:pt x="72" y="3"/>
                    <a:pt x="66" y="0"/>
                    <a:pt x="58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5"/>
                    <a:pt x="0" y="33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3"/>
                    <a:pt x="1" y="74"/>
                    <a:pt x="2" y="74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3" y="74"/>
                    <a:pt x="5" y="73"/>
                    <a:pt x="5" y="72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17"/>
                    <a:pt x="17" y="5"/>
                    <a:pt x="32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63" y="5"/>
                    <a:pt x="65" y="6"/>
                    <a:pt x="69" y="8"/>
                  </a:cubicBezTo>
                  <a:lnTo>
                    <a:pt x="77" y="8"/>
                  </a:lnTo>
                  <a:close/>
                </a:path>
              </a:pathLst>
            </a:custGeom>
            <a:solidFill>
              <a:srgbClr val="B5B8B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2" name="AutoShape 122"/>
            <p:cNvSpPr/>
            <p:nvPr>
              <p:custDataLst>
                <p:tags r:id="rId120"/>
              </p:custDataLst>
            </p:nvPr>
          </p:nvSpPr>
          <p:spPr>
            <a:xfrm>
              <a:off x="2351834" y="4363346"/>
              <a:ext cx="146648" cy="79143"/>
            </a:xfrm>
            <a:custGeom>
              <a:avLst/>
              <a:gdLst/>
              <a:ahLst/>
              <a:cxnLst/>
              <a:rect l="l" t="t" r="r" b="b"/>
              <a:pathLst>
                <a:path w="26" h="14">
                  <a:moveTo>
                    <a:pt x="3" y="0"/>
                  </a:moveTo>
                  <a:cubicBezTo>
                    <a:pt x="1" y="0"/>
                    <a:pt x="0" y="2"/>
                    <a:pt x="1" y="3"/>
                  </a:cubicBezTo>
                  <a:cubicBezTo>
                    <a:pt x="3" y="10"/>
                    <a:pt x="8" y="14"/>
                    <a:pt x="13" y="14"/>
                  </a:cubicBezTo>
                  <a:cubicBezTo>
                    <a:pt x="18" y="14"/>
                    <a:pt x="23" y="10"/>
                    <a:pt x="26" y="3"/>
                  </a:cubicBezTo>
                  <a:cubicBezTo>
                    <a:pt x="26" y="2"/>
                    <a:pt x="25" y="0"/>
                    <a:pt x="24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FFBF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3" name="AutoShape 123"/>
            <p:cNvSpPr/>
            <p:nvPr>
              <p:custDataLst>
                <p:tags r:id="rId121"/>
              </p:custDataLst>
            </p:nvPr>
          </p:nvSpPr>
          <p:spPr>
            <a:xfrm>
              <a:off x="2254069" y="4156178"/>
              <a:ext cx="109404" cy="30261"/>
            </a:xfrm>
            <a:custGeom>
              <a:avLst/>
              <a:gdLst/>
              <a:ahLst/>
              <a:cxnLst/>
              <a:rect l="l" t="t" r="r" b="b"/>
              <a:pathLst>
                <a:path w="19" h="5">
                  <a:moveTo>
                    <a:pt x="0" y="5"/>
                  </a:moveTo>
                  <a:cubicBezTo>
                    <a:pt x="5" y="0"/>
                    <a:pt x="14" y="0"/>
                    <a:pt x="19" y="5"/>
                  </a:cubicBezTo>
                </a:path>
              </a:pathLst>
            </a:custGeom>
            <a:ln w="23813">
              <a:solidFill>
                <a:srgbClr val="4F1F3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24" name="AutoShape 124"/>
            <p:cNvSpPr/>
            <p:nvPr>
              <p:custDataLst>
                <p:tags r:id="rId122"/>
              </p:custDataLst>
            </p:nvPr>
          </p:nvSpPr>
          <p:spPr>
            <a:xfrm>
              <a:off x="2493826" y="4163161"/>
              <a:ext cx="86127" cy="23277"/>
            </a:xfrm>
            <a:custGeom>
              <a:avLst/>
              <a:gdLst/>
              <a:ahLst/>
              <a:cxnLst/>
              <a:rect l="l" t="t" r="r" b="b"/>
              <a:pathLst>
                <a:path w="15" h="4">
                  <a:moveTo>
                    <a:pt x="0" y="4"/>
                  </a:moveTo>
                  <a:cubicBezTo>
                    <a:pt x="4" y="0"/>
                    <a:pt x="11" y="0"/>
                    <a:pt x="15" y="4"/>
                  </a:cubicBezTo>
                </a:path>
              </a:pathLst>
            </a:custGeom>
            <a:ln w="23813">
              <a:solidFill>
                <a:srgbClr val="4F1F3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25" name="AutoShape 125"/>
            <p:cNvSpPr/>
            <p:nvPr>
              <p:custDataLst>
                <p:tags r:id="rId123"/>
              </p:custDataLst>
            </p:nvPr>
          </p:nvSpPr>
          <p:spPr>
            <a:xfrm>
              <a:off x="2384422" y="4281876"/>
              <a:ext cx="81472" cy="69832"/>
            </a:xfrm>
            <a:custGeom>
              <a:avLst/>
              <a:gdLst/>
              <a:ahLst/>
              <a:cxnLst/>
              <a:rect l="l" t="t" r="r" b="b"/>
              <a:pathLst>
                <a:path w="14" h="1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6"/>
                    <a:pt x="3" y="9"/>
                    <a:pt x="6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2"/>
                    <a:pt x="10" y="12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2" y="8"/>
                    <a:pt x="13" y="6"/>
                    <a:pt x="13" y="4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C7FA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6" name="AutoShape 126"/>
            <p:cNvSpPr/>
            <p:nvPr>
              <p:custDataLst>
                <p:tags r:id="rId124"/>
              </p:custDataLst>
            </p:nvPr>
          </p:nvSpPr>
          <p:spPr>
            <a:xfrm>
              <a:off x="2379766" y="4179455"/>
              <a:ext cx="102420" cy="137337"/>
            </a:xfrm>
            <a:custGeom>
              <a:avLst/>
              <a:gdLst/>
              <a:ahLst/>
              <a:cxnLst/>
              <a:rect l="l" t="t" r="r" b="b"/>
              <a:pathLst>
                <a:path w="18" h="24">
                  <a:moveTo>
                    <a:pt x="5" y="3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0" y="18"/>
                    <a:pt x="1" y="20"/>
                    <a:pt x="4" y="21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2" y="24"/>
                    <a:pt x="15" y="24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8" y="21"/>
                    <a:pt x="18" y="19"/>
                    <a:pt x="18" y="17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1" y="0"/>
                    <a:pt x="7" y="0"/>
                    <a:pt x="5" y="3"/>
                  </a:cubicBezTo>
                  <a:close/>
                </a:path>
              </a:pathLst>
            </a:custGeom>
            <a:solidFill>
              <a:srgbClr val="F9D6C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7" name="AutoShape 127"/>
            <p:cNvSpPr/>
            <p:nvPr>
              <p:custDataLst>
                <p:tags r:id="rId125"/>
              </p:custDataLst>
            </p:nvPr>
          </p:nvSpPr>
          <p:spPr>
            <a:xfrm>
              <a:off x="2195876" y="4237648"/>
              <a:ext cx="121042" cy="102420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14" y="16"/>
                  </a:moveTo>
                  <a:cubicBezTo>
                    <a:pt x="9" y="18"/>
                    <a:pt x="4" y="17"/>
                    <a:pt x="2" y="13"/>
                  </a:cubicBezTo>
                  <a:cubicBezTo>
                    <a:pt x="0" y="9"/>
                    <a:pt x="3" y="4"/>
                    <a:pt x="8" y="2"/>
                  </a:cubicBezTo>
                  <a:cubicBezTo>
                    <a:pt x="13" y="0"/>
                    <a:pt x="18" y="1"/>
                    <a:pt x="20" y="5"/>
                  </a:cubicBezTo>
                  <a:cubicBezTo>
                    <a:pt x="21" y="9"/>
                    <a:pt x="19" y="14"/>
                    <a:pt x="14" y="16"/>
                  </a:cubicBezTo>
                  <a:close/>
                </a:path>
              </a:pathLst>
            </a:custGeom>
            <a:solidFill>
              <a:srgbClr val="F9D6C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8" name="AutoShape 128"/>
            <p:cNvSpPr/>
            <p:nvPr>
              <p:custDataLst>
                <p:tags r:id="rId126"/>
              </p:custDataLst>
            </p:nvPr>
          </p:nvSpPr>
          <p:spPr>
            <a:xfrm>
              <a:off x="2498482" y="4242304"/>
              <a:ext cx="114060" cy="97765"/>
            </a:xfrm>
            <a:custGeom>
              <a:avLst/>
              <a:gdLst/>
              <a:ahLst/>
              <a:cxnLst/>
              <a:rect l="l" t="t" r="r" b="b"/>
              <a:pathLst>
                <a:path w="20" h="17">
                  <a:moveTo>
                    <a:pt x="7" y="15"/>
                  </a:moveTo>
                  <a:cubicBezTo>
                    <a:pt x="12" y="17"/>
                    <a:pt x="17" y="15"/>
                    <a:pt x="18" y="11"/>
                  </a:cubicBezTo>
                  <a:cubicBezTo>
                    <a:pt x="20" y="8"/>
                    <a:pt x="17" y="3"/>
                    <a:pt x="13" y="1"/>
                  </a:cubicBezTo>
                  <a:cubicBezTo>
                    <a:pt x="8" y="0"/>
                    <a:pt x="3" y="1"/>
                    <a:pt x="2" y="5"/>
                  </a:cubicBezTo>
                  <a:cubicBezTo>
                    <a:pt x="0" y="8"/>
                    <a:pt x="3" y="13"/>
                    <a:pt x="7" y="15"/>
                  </a:cubicBezTo>
                  <a:close/>
                </a:path>
              </a:pathLst>
            </a:custGeom>
            <a:solidFill>
              <a:srgbClr val="F9D6C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9" name="AutoShape 129"/>
            <p:cNvSpPr/>
            <p:nvPr>
              <p:custDataLst>
                <p:tags r:id="rId127"/>
              </p:custDataLst>
            </p:nvPr>
          </p:nvSpPr>
          <p:spPr>
            <a:xfrm>
              <a:off x="2242431" y="4077035"/>
              <a:ext cx="125698" cy="39572"/>
            </a:xfrm>
            <a:custGeom>
              <a:avLst/>
              <a:gdLst/>
              <a:ahLst/>
              <a:cxnLst/>
              <a:rect l="l" t="t" r="r" b="b"/>
              <a:pathLst>
                <a:path w="22" h="7">
                  <a:moveTo>
                    <a:pt x="0" y="7"/>
                  </a:moveTo>
                  <a:cubicBezTo>
                    <a:pt x="0" y="7"/>
                    <a:pt x="12" y="0"/>
                    <a:pt x="22" y="7"/>
                  </a:cubicBezTo>
                </a:path>
              </a:pathLst>
            </a:custGeom>
            <a:ln w="23813">
              <a:solidFill>
                <a:srgbClr val="4F1F3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30" name="AutoShape 130"/>
            <p:cNvSpPr/>
            <p:nvPr>
              <p:custDataLst>
                <p:tags r:id="rId128"/>
              </p:custDataLst>
            </p:nvPr>
          </p:nvSpPr>
          <p:spPr>
            <a:xfrm>
              <a:off x="2477531" y="4093328"/>
              <a:ext cx="114060" cy="23277"/>
            </a:xfrm>
            <a:custGeom>
              <a:avLst/>
              <a:gdLst/>
              <a:ahLst/>
              <a:cxnLst/>
              <a:rect l="l" t="t" r="r" b="b"/>
              <a:pathLst>
                <a:path w="20" h="4">
                  <a:moveTo>
                    <a:pt x="20" y="3"/>
                  </a:moveTo>
                  <a:cubicBezTo>
                    <a:pt x="14" y="0"/>
                    <a:pt x="6" y="0"/>
                    <a:pt x="0" y="4"/>
                  </a:cubicBezTo>
                </a:path>
              </a:pathLst>
            </a:custGeom>
            <a:ln w="23813">
              <a:solidFill>
                <a:srgbClr val="4F1F3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31" name="AutoShape 131"/>
            <p:cNvSpPr/>
            <p:nvPr>
              <p:custDataLst>
                <p:tags r:id="rId129"/>
              </p:custDataLst>
            </p:nvPr>
          </p:nvSpPr>
          <p:spPr>
            <a:xfrm>
              <a:off x="2030606" y="4077035"/>
              <a:ext cx="114060" cy="204841"/>
            </a:xfrm>
            <a:custGeom>
              <a:avLst/>
              <a:gdLst/>
              <a:ahLst/>
              <a:cxnLst/>
              <a:rect l="l" t="t" r="r" b="b"/>
              <a:pathLst>
                <a:path w="20" h="36">
                  <a:moveTo>
                    <a:pt x="16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9"/>
                    <a:pt x="7" y="36"/>
                    <a:pt x="15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8" y="36"/>
                    <a:pt x="20" y="34"/>
                    <a:pt x="20" y="32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2"/>
                    <a:pt x="18" y="0"/>
                    <a:pt x="16" y="0"/>
                  </a:cubicBezTo>
                  <a:close/>
                </a:path>
              </a:pathLst>
            </a:custGeom>
            <a:solidFill>
              <a:srgbClr val="898B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2" name="AutoShape 132"/>
            <p:cNvSpPr/>
            <p:nvPr>
              <p:custDataLst>
                <p:tags r:id="rId130"/>
              </p:custDataLst>
            </p:nvPr>
          </p:nvSpPr>
          <p:spPr>
            <a:xfrm>
              <a:off x="2100438" y="4226010"/>
              <a:ext cx="267691" cy="232774"/>
            </a:xfrm>
            <a:custGeom>
              <a:avLst/>
              <a:gdLst/>
              <a:ahLst/>
              <a:cxnLst/>
              <a:rect l="l" t="t" r="r" b="b"/>
              <a:pathLst>
                <a:path w="47" h="41">
                  <a:moveTo>
                    <a:pt x="47" y="41"/>
                  </a:moveTo>
                  <a:cubicBezTo>
                    <a:pt x="45" y="41"/>
                    <a:pt x="45" y="41"/>
                    <a:pt x="45" y="41"/>
                  </a:cubicBezTo>
                  <a:cubicBezTo>
                    <a:pt x="24" y="41"/>
                    <a:pt x="6" y="27"/>
                    <a:pt x="1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5" y="1"/>
                    <a:pt x="5" y="2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0" y="24"/>
                    <a:pt x="26" y="36"/>
                    <a:pt x="45" y="36"/>
                  </a:cubicBezTo>
                  <a:cubicBezTo>
                    <a:pt x="47" y="36"/>
                    <a:pt x="47" y="36"/>
                    <a:pt x="47" y="36"/>
                  </a:cubicBezTo>
                  <a:lnTo>
                    <a:pt x="47" y="41"/>
                  </a:lnTo>
                  <a:close/>
                </a:path>
              </a:pathLst>
            </a:custGeom>
            <a:solidFill>
              <a:srgbClr val="B5B8B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3" name="AutoShape 133"/>
            <p:cNvSpPr/>
            <p:nvPr>
              <p:custDataLst>
                <p:tags r:id="rId131"/>
              </p:custDataLst>
            </p:nvPr>
          </p:nvSpPr>
          <p:spPr>
            <a:xfrm>
              <a:off x="2368129" y="4419211"/>
              <a:ext cx="67505" cy="51210"/>
            </a:xfrm>
            <a:custGeom>
              <a:avLst/>
              <a:gdLst/>
              <a:ahLst/>
              <a:cxnLst/>
              <a:rect l="l" t="t" r="r" b="b"/>
              <a:pathLst>
                <a:path w="12" h="9">
                  <a:moveTo>
                    <a:pt x="1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1" y="9"/>
                    <a:pt x="2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1" y="9"/>
                    <a:pt x="12" y="8"/>
                    <a:pt x="12" y="7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1" y="0"/>
                    <a:pt x="10" y="0"/>
                  </a:cubicBezTo>
                  <a:close/>
                </a:path>
              </a:pathLst>
            </a:custGeom>
            <a:solidFill>
              <a:srgbClr val="898B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4" name="AutoShape 134"/>
            <p:cNvSpPr/>
            <p:nvPr>
              <p:custDataLst>
                <p:tags r:id="rId132"/>
              </p:custDataLst>
            </p:nvPr>
          </p:nvSpPr>
          <p:spPr>
            <a:xfrm>
              <a:off x="2572969" y="5506265"/>
              <a:ext cx="62850" cy="1296550"/>
            </a:xfrm>
            <a:prstGeom prst="rect">
              <a:avLst/>
            </a:pr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5" name="AutoShape 135"/>
            <p:cNvSpPr/>
            <p:nvPr>
              <p:custDataLst>
                <p:tags r:id="rId133"/>
              </p:custDataLst>
            </p:nvPr>
          </p:nvSpPr>
          <p:spPr>
            <a:xfrm>
              <a:off x="3292239" y="5506265"/>
              <a:ext cx="62850" cy="1296550"/>
            </a:xfrm>
            <a:prstGeom prst="rect">
              <a:avLst/>
            </a:pr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6" name="AutoShape 136"/>
            <p:cNvSpPr/>
            <p:nvPr>
              <p:custDataLst>
                <p:tags r:id="rId134"/>
              </p:custDataLst>
            </p:nvPr>
          </p:nvSpPr>
          <p:spPr>
            <a:xfrm>
              <a:off x="3739165" y="4693884"/>
              <a:ext cx="991616" cy="651766"/>
            </a:xfrm>
            <a:custGeom>
              <a:avLst/>
              <a:gdLst/>
              <a:ahLst/>
              <a:cxnLst/>
              <a:rect l="l" t="t" r="r" b="b"/>
              <a:pathLst>
                <a:path w="174" h="114">
                  <a:moveTo>
                    <a:pt x="0" y="114"/>
                  </a:moveTo>
                  <a:cubicBezTo>
                    <a:pt x="149" y="114"/>
                    <a:pt x="149" y="114"/>
                    <a:pt x="149" y="114"/>
                  </a:cubicBezTo>
                  <a:cubicBezTo>
                    <a:pt x="152" y="114"/>
                    <a:pt x="155" y="112"/>
                    <a:pt x="155" y="109"/>
                  </a:cubicBezTo>
                  <a:cubicBezTo>
                    <a:pt x="174" y="5"/>
                    <a:pt x="174" y="5"/>
                    <a:pt x="174" y="5"/>
                  </a:cubicBezTo>
                  <a:cubicBezTo>
                    <a:pt x="174" y="2"/>
                    <a:pt x="172" y="0"/>
                    <a:pt x="170" y="0"/>
                  </a:cubicBezTo>
                  <a:cubicBezTo>
                    <a:pt x="21" y="0"/>
                    <a:pt x="21" y="0"/>
                    <a:pt x="21" y="0"/>
                  </a:cubicBezTo>
                  <a:lnTo>
                    <a:pt x="0" y="114"/>
                  </a:lnTo>
                  <a:close/>
                </a:path>
              </a:pathLst>
            </a:custGeom>
            <a:solidFill>
              <a:srgbClr val="DBDDD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7" name="AutoShape 137"/>
            <p:cNvSpPr/>
            <p:nvPr>
              <p:custDataLst>
                <p:tags r:id="rId135"/>
              </p:custDataLst>
            </p:nvPr>
          </p:nvSpPr>
          <p:spPr>
            <a:xfrm>
              <a:off x="3133953" y="5345650"/>
              <a:ext cx="684355" cy="51210"/>
            </a:xfrm>
            <a:custGeom>
              <a:avLst/>
              <a:gdLst/>
              <a:ahLst/>
              <a:cxnLst/>
              <a:rect l="l" t="t" r="r" b="b"/>
              <a:pathLst>
                <a:path w="120" h="9">
                  <a:moveTo>
                    <a:pt x="6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"/>
                    <a:pt x="2" y="9"/>
                    <a:pt x="6" y="9"/>
                  </a:cubicBezTo>
                  <a:close/>
                </a:path>
              </a:pathLst>
            </a:custGeom>
            <a:solidFill>
              <a:srgbClr val="B5B8B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8" name="AutoShape 138"/>
            <p:cNvSpPr/>
            <p:nvPr>
              <p:custDataLst>
                <p:tags r:id="rId136"/>
              </p:custDataLst>
            </p:nvPr>
          </p:nvSpPr>
          <p:spPr>
            <a:xfrm>
              <a:off x="3853225" y="4693884"/>
              <a:ext cx="877558" cy="23277"/>
            </a:xfrm>
            <a:custGeom>
              <a:avLst/>
              <a:gdLst/>
              <a:ahLst/>
              <a:cxnLst/>
              <a:rect l="l" t="t" r="r" b="b"/>
              <a:pathLst>
                <a:path w="154" h="4">
                  <a:moveTo>
                    <a:pt x="0" y="4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2" y="0"/>
                    <a:pt x="154" y="2"/>
                    <a:pt x="154" y="4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CDD0D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9" name="AutoShape 139"/>
            <p:cNvSpPr/>
            <p:nvPr>
              <p:custDataLst>
                <p:tags r:id="rId137"/>
              </p:custDataLst>
            </p:nvPr>
          </p:nvSpPr>
          <p:spPr>
            <a:xfrm>
              <a:off x="3739165" y="4693884"/>
              <a:ext cx="141993" cy="651766"/>
            </a:xfrm>
            <a:custGeom>
              <a:avLst/>
              <a:gdLst/>
              <a:ahLst/>
              <a:cxnLst/>
              <a:rect l="l" t="t" r="r" b="b"/>
              <a:pathLst>
                <a:path w="25" h="114">
                  <a:moveTo>
                    <a:pt x="1" y="107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3" y="114"/>
                    <a:pt x="6" y="112"/>
                    <a:pt x="6" y="109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"/>
                    <a:pt x="24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lnTo>
                    <a:pt x="1" y="107"/>
                  </a:lnTo>
                  <a:close/>
                </a:path>
              </a:pathLst>
            </a:custGeom>
            <a:solidFill>
              <a:srgbClr val="B5B8B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0" name="AutoShape 140"/>
            <p:cNvSpPr/>
            <p:nvPr>
              <p:custDataLst>
                <p:tags r:id="rId138"/>
              </p:custDataLst>
            </p:nvPr>
          </p:nvSpPr>
          <p:spPr>
            <a:xfrm>
              <a:off x="3676317" y="5345650"/>
              <a:ext cx="865918" cy="51210"/>
            </a:xfrm>
            <a:custGeom>
              <a:avLst/>
              <a:gdLst/>
              <a:ahLst/>
              <a:cxnLst/>
              <a:rect l="l" t="t" r="r" b="b"/>
              <a:pathLst>
                <a:path w="152" h="9">
                  <a:moveTo>
                    <a:pt x="0" y="9"/>
                  </a:moveTo>
                  <a:cubicBezTo>
                    <a:pt x="141" y="9"/>
                    <a:pt x="141" y="9"/>
                    <a:pt x="141" y="9"/>
                  </a:cubicBezTo>
                  <a:cubicBezTo>
                    <a:pt x="146" y="9"/>
                    <a:pt x="146" y="9"/>
                    <a:pt x="146" y="9"/>
                  </a:cubicBezTo>
                  <a:cubicBezTo>
                    <a:pt x="150" y="9"/>
                    <a:pt x="152" y="6"/>
                    <a:pt x="152" y="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6"/>
                    <a:pt x="3" y="9"/>
                    <a:pt x="0" y="9"/>
                  </a:cubicBezTo>
                  <a:close/>
                </a:path>
              </a:pathLst>
            </a:custGeom>
            <a:solidFill>
              <a:srgbClr val="CDD0D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1" name="AutoShape 141"/>
            <p:cNvSpPr/>
            <p:nvPr>
              <p:custDataLst>
                <p:tags r:id="rId139"/>
              </p:custDataLst>
            </p:nvPr>
          </p:nvSpPr>
          <p:spPr>
            <a:xfrm>
              <a:off x="5531523" y="3683647"/>
              <a:ext cx="260707" cy="421321"/>
            </a:xfrm>
            <a:custGeom>
              <a:avLst/>
              <a:gdLst/>
              <a:ahLst/>
              <a:cxnLst/>
              <a:rect l="l" t="t" r="r" b="b"/>
              <a:pathLst>
                <a:path w="46" h="74">
                  <a:moveTo>
                    <a:pt x="0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31" y="0"/>
                    <a:pt x="46" y="15"/>
                    <a:pt x="46" y="33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6" y="73"/>
                    <a:pt x="45" y="74"/>
                    <a:pt x="43" y="74"/>
                  </a:cubicBezTo>
                  <a:cubicBezTo>
                    <a:pt x="42" y="74"/>
                    <a:pt x="41" y="73"/>
                    <a:pt x="41" y="72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1" y="17"/>
                    <a:pt x="29" y="5"/>
                    <a:pt x="13" y="5"/>
                  </a:cubicBezTo>
                  <a:cubicBezTo>
                    <a:pt x="0" y="5"/>
                    <a:pt x="0" y="5"/>
                    <a:pt x="0" y="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5B8B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2" name="AutoShape 142"/>
            <p:cNvSpPr/>
            <p:nvPr>
              <p:custDataLst>
                <p:tags r:id="rId140"/>
              </p:custDataLst>
            </p:nvPr>
          </p:nvSpPr>
          <p:spPr>
            <a:xfrm>
              <a:off x="5810851" y="5396860"/>
              <a:ext cx="2111258" cy="109404"/>
            </a:xfrm>
            <a:prstGeom prst="rect">
              <a:avLst/>
            </a:prstGeom>
            <a:solidFill>
              <a:srgbClr val="5BB5B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3" name="AutoShape 143"/>
            <p:cNvSpPr/>
            <p:nvPr>
              <p:custDataLst>
                <p:tags r:id="rId141"/>
              </p:custDataLst>
            </p:nvPr>
          </p:nvSpPr>
          <p:spPr>
            <a:xfrm>
              <a:off x="5668860" y="5396860"/>
              <a:ext cx="928768" cy="109404"/>
            </a:xfrm>
            <a:prstGeom prst="rect">
              <a:avLst/>
            </a:prstGeom>
            <a:solidFill>
              <a:srgbClr val="84C7C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4" name="AutoShape 144"/>
            <p:cNvSpPr/>
            <p:nvPr>
              <p:custDataLst>
                <p:tags r:id="rId142"/>
              </p:custDataLst>
            </p:nvPr>
          </p:nvSpPr>
          <p:spPr>
            <a:xfrm>
              <a:off x="6981704" y="5506265"/>
              <a:ext cx="62850" cy="1296550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5" name="AutoShape 145"/>
            <p:cNvSpPr/>
            <p:nvPr>
              <p:custDataLst>
                <p:tags r:id="rId143"/>
              </p:custDataLst>
            </p:nvPr>
          </p:nvSpPr>
          <p:spPr>
            <a:xfrm>
              <a:off x="7666058" y="5506265"/>
              <a:ext cx="62850" cy="1296550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6" name="AutoShape 146"/>
            <p:cNvSpPr/>
            <p:nvPr>
              <p:custDataLst>
                <p:tags r:id="rId144"/>
              </p:custDataLst>
            </p:nvPr>
          </p:nvSpPr>
          <p:spPr>
            <a:xfrm>
              <a:off x="4702848" y="4654314"/>
              <a:ext cx="600556" cy="977649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7" name="AutoShape 147"/>
            <p:cNvSpPr/>
            <p:nvPr>
              <p:custDataLst>
                <p:tags r:id="rId145"/>
              </p:custDataLst>
            </p:nvPr>
          </p:nvSpPr>
          <p:spPr>
            <a:xfrm>
              <a:off x="4593445" y="4654314"/>
              <a:ext cx="223463" cy="977649"/>
            </a:xfrm>
            <a:custGeom>
              <a:avLst/>
              <a:gdLst/>
              <a:ahLst/>
              <a:cxnLst/>
              <a:rect l="l" t="t" r="r" b="b"/>
              <a:pathLst>
                <a:path w="39" h="171">
                  <a:moveTo>
                    <a:pt x="19" y="171"/>
                  </a:moveTo>
                  <a:cubicBezTo>
                    <a:pt x="19" y="171"/>
                    <a:pt x="19" y="171"/>
                    <a:pt x="19" y="171"/>
                  </a:cubicBezTo>
                  <a:cubicBezTo>
                    <a:pt x="9" y="171"/>
                    <a:pt x="0" y="162"/>
                    <a:pt x="0" y="151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151"/>
                    <a:pt x="39" y="151"/>
                    <a:pt x="39" y="151"/>
                  </a:cubicBezTo>
                  <a:cubicBezTo>
                    <a:pt x="39" y="162"/>
                    <a:pt x="30" y="171"/>
                    <a:pt x="19" y="171"/>
                  </a:cubicBezTo>
                  <a:close/>
                </a:path>
              </a:pathLst>
            </a:cu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8" name="AutoShape 148"/>
            <p:cNvSpPr/>
            <p:nvPr>
              <p:custDataLst>
                <p:tags r:id="rId146"/>
              </p:custDataLst>
            </p:nvPr>
          </p:nvSpPr>
          <p:spPr>
            <a:xfrm>
              <a:off x="5189346" y="4654314"/>
              <a:ext cx="221136" cy="977649"/>
            </a:xfrm>
            <a:custGeom>
              <a:avLst/>
              <a:gdLst/>
              <a:ahLst/>
              <a:cxnLst/>
              <a:rect l="l" t="t" r="r" b="b"/>
              <a:pathLst>
                <a:path w="39" h="171">
                  <a:moveTo>
                    <a:pt x="20" y="171"/>
                  </a:moveTo>
                  <a:cubicBezTo>
                    <a:pt x="20" y="171"/>
                    <a:pt x="20" y="171"/>
                    <a:pt x="20" y="171"/>
                  </a:cubicBezTo>
                  <a:cubicBezTo>
                    <a:pt x="9" y="171"/>
                    <a:pt x="0" y="162"/>
                    <a:pt x="0" y="151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151"/>
                    <a:pt x="39" y="151"/>
                    <a:pt x="39" y="151"/>
                  </a:cubicBezTo>
                  <a:cubicBezTo>
                    <a:pt x="39" y="162"/>
                    <a:pt x="30" y="171"/>
                    <a:pt x="20" y="171"/>
                  </a:cubicBezTo>
                  <a:close/>
                </a:path>
              </a:pathLst>
            </a:cu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9" name="AutoShape 149"/>
            <p:cNvSpPr/>
            <p:nvPr>
              <p:custDataLst>
                <p:tags r:id="rId147"/>
              </p:custDataLst>
            </p:nvPr>
          </p:nvSpPr>
          <p:spPr>
            <a:xfrm>
              <a:off x="4989161" y="5631962"/>
              <a:ext cx="90782" cy="200185"/>
            </a:xfrm>
            <a:prstGeom prst="rect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0" name="AutoShape 150"/>
            <p:cNvSpPr/>
            <p:nvPr>
              <p:custDataLst>
                <p:tags r:id="rId148"/>
              </p:custDataLst>
            </p:nvPr>
          </p:nvSpPr>
          <p:spPr>
            <a:xfrm>
              <a:off x="5273145" y="5527214"/>
              <a:ext cx="1131280" cy="966011"/>
            </a:xfrm>
            <a:custGeom>
              <a:avLst/>
              <a:gdLst/>
              <a:ahLst/>
              <a:cxnLst/>
              <a:rect l="l" t="t" r="r" b="b"/>
              <a:pathLst>
                <a:path w="198" h="169">
                  <a:moveTo>
                    <a:pt x="174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39"/>
                    <a:pt x="21" y="58"/>
                    <a:pt x="45" y="56"/>
                  </a:cubicBezTo>
                  <a:cubicBezTo>
                    <a:pt x="147" y="47"/>
                    <a:pt x="147" y="47"/>
                    <a:pt x="147" y="47"/>
                  </a:cubicBezTo>
                  <a:cubicBezTo>
                    <a:pt x="124" y="169"/>
                    <a:pt x="124" y="169"/>
                    <a:pt x="124" y="169"/>
                  </a:cubicBezTo>
                  <a:cubicBezTo>
                    <a:pt x="168" y="169"/>
                    <a:pt x="168" y="169"/>
                    <a:pt x="168" y="169"/>
                  </a:cubicBezTo>
                  <a:cubicBezTo>
                    <a:pt x="195" y="26"/>
                    <a:pt x="195" y="26"/>
                    <a:pt x="195" y="26"/>
                  </a:cubicBezTo>
                  <a:cubicBezTo>
                    <a:pt x="198" y="12"/>
                    <a:pt x="188" y="0"/>
                    <a:pt x="174" y="0"/>
                  </a:cubicBezTo>
                  <a:close/>
                </a:path>
              </a:pathLst>
            </a:custGeom>
            <a:solidFill>
              <a:srgbClr val="13122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1" name="AutoShape 151"/>
            <p:cNvSpPr/>
            <p:nvPr>
              <p:custDataLst>
                <p:tags r:id="rId149"/>
              </p:custDataLst>
            </p:nvPr>
          </p:nvSpPr>
          <p:spPr>
            <a:xfrm>
              <a:off x="5952844" y="6493225"/>
              <a:ext cx="605212" cy="258379"/>
            </a:xfrm>
            <a:custGeom>
              <a:avLst/>
              <a:gdLst/>
              <a:ahLst/>
              <a:cxnLst/>
              <a:rect l="l" t="t" r="r" b="b"/>
              <a:pathLst>
                <a:path w="106" h="45">
                  <a:moveTo>
                    <a:pt x="106" y="45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17"/>
                    <a:pt x="5" y="8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97" y="19"/>
                    <a:pt x="106" y="31"/>
                    <a:pt x="106" y="45"/>
                  </a:cubicBezTo>
                  <a:close/>
                </a:path>
              </a:pathLst>
            </a:custGeom>
            <a:solidFill>
              <a:srgbClr val="66263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2" name="AutoShape 152"/>
            <p:cNvSpPr/>
            <p:nvPr>
              <p:custDataLst>
                <p:tags r:id="rId150"/>
              </p:custDataLst>
            </p:nvPr>
          </p:nvSpPr>
          <p:spPr>
            <a:xfrm>
              <a:off x="6011036" y="6493225"/>
              <a:ext cx="193203" cy="86127"/>
            </a:xfrm>
            <a:custGeom>
              <a:avLst/>
              <a:gdLst/>
              <a:ahLst/>
              <a:cxnLst/>
              <a:rect l="l" t="t" r="r" b="b"/>
              <a:pathLst>
                <a:path w="34" h="1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7" y="15"/>
                    <a:pt x="15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27" y="15"/>
                    <a:pt x="34" y="9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8877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3" name="AutoShape 153"/>
            <p:cNvSpPr/>
            <p:nvPr>
              <p:custDataLst>
                <p:tags r:id="rId151"/>
              </p:custDataLst>
            </p:nvPr>
          </p:nvSpPr>
          <p:spPr>
            <a:xfrm>
              <a:off x="5936549" y="6751603"/>
              <a:ext cx="644784" cy="51210"/>
            </a:xfrm>
            <a:custGeom>
              <a:avLst/>
              <a:gdLst/>
              <a:ahLst/>
              <a:cxnLst/>
              <a:rect l="l" t="t" r="r" b="b"/>
              <a:pathLst>
                <a:path w="113" h="9">
                  <a:moveTo>
                    <a:pt x="110" y="9"/>
                  </a:moveTo>
                  <a:cubicBezTo>
                    <a:pt x="3" y="9"/>
                    <a:pt x="3" y="9"/>
                    <a:pt x="3" y="9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2" y="0"/>
                    <a:pt x="113" y="1"/>
                    <a:pt x="113" y="3"/>
                  </a:cubicBezTo>
                  <a:cubicBezTo>
                    <a:pt x="113" y="6"/>
                    <a:pt x="113" y="6"/>
                    <a:pt x="113" y="6"/>
                  </a:cubicBezTo>
                  <a:cubicBezTo>
                    <a:pt x="113" y="8"/>
                    <a:pt x="112" y="9"/>
                    <a:pt x="110" y="9"/>
                  </a:cubicBezTo>
                  <a:close/>
                </a:path>
              </a:pathLst>
            </a:custGeom>
            <a:solidFill>
              <a:srgbClr val="C2C4C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4" name="AutoShape 154"/>
            <p:cNvSpPr/>
            <p:nvPr>
              <p:custDataLst>
                <p:tags r:id="rId152"/>
              </p:custDataLst>
            </p:nvPr>
          </p:nvSpPr>
          <p:spPr>
            <a:xfrm>
              <a:off x="5063648" y="5527214"/>
              <a:ext cx="1128953" cy="966011"/>
            </a:xfrm>
            <a:custGeom>
              <a:avLst/>
              <a:gdLst/>
              <a:ahLst/>
              <a:cxnLst/>
              <a:rect l="l" t="t" r="r" b="b"/>
              <a:pathLst>
                <a:path w="198" h="169">
                  <a:moveTo>
                    <a:pt x="173" y="0"/>
                  </a:moveTo>
                  <a:cubicBezTo>
                    <a:pt x="168" y="0"/>
                    <a:pt x="168" y="0"/>
                    <a:pt x="168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39"/>
                    <a:pt x="20" y="58"/>
                    <a:pt x="44" y="56"/>
                  </a:cubicBezTo>
                  <a:cubicBezTo>
                    <a:pt x="147" y="47"/>
                    <a:pt x="147" y="47"/>
                    <a:pt x="147" y="47"/>
                  </a:cubicBezTo>
                  <a:cubicBezTo>
                    <a:pt x="123" y="169"/>
                    <a:pt x="123" y="169"/>
                    <a:pt x="123" y="169"/>
                  </a:cubicBezTo>
                  <a:cubicBezTo>
                    <a:pt x="168" y="169"/>
                    <a:pt x="168" y="169"/>
                    <a:pt x="168" y="169"/>
                  </a:cubicBezTo>
                  <a:cubicBezTo>
                    <a:pt x="195" y="26"/>
                    <a:pt x="195" y="26"/>
                    <a:pt x="195" y="26"/>
                  </a:cubicBezTo>
                  <a:cubicBezTo>
                    <a:pt x="198" y="12"/>
                    <a:pt x="187" y="0"/>
                    <a:pt x="173" y="0"/>
                  </a:cubicBezTo>
                  <a:close/>
                </a:path>
              </a:pathLst>
            </a:custGeom>
            <a:solidFill>
              <a:srgbClr val="282249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5" name="AutoShape 155"/>
            <p:cNvSpPr/>
            <p:nvPr>
              <p:custDataLst>
                <p:tags r:id="rId153"/>
              </p:custDataLst>
            </p:nvPr>
          </p:nvSpPr>
          <p:spPr>
            <a:xfrm>
              <a:off x="5606010" y="5527214"/>
              <a:ext cx="586590" cy="966011"/>
            </a:xfrm>
            <a:custGeom>
              <a:avLst/>
              <a:gdLst/>
              <a:ahLst/>
              <a:cxnLst/>
              <a:rect l="l" t="t" r="r" b="b"/>
              <a:pathLst>
                <a:path w="103" h="169">
                  <a:moveTo>
                    <a:pt x="7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" y="15"/>
                    <a:pt x="9" y="36"/>
                    <a:pt x="2" y="52"/>
                  </a:cubicBezTo>
                  <a:cubicBezTo>
                    <a:pt x="52" y="47"/>
                    <a:pt x="52" y="47"/>
                    <a:pt x="52" y="47"/>
                  </a:cubicBezTo>
                  <a:cubicBezTo>
                    <a:pt x="28" y="169"/>
                    <a:pt x="28" y="169"/>
                    <a:pt x="28" y="169"/>
                  </a:cubicBezTo>
                  <a:cubicBezTo>
                    <a:pt x="73" y="169"/>
                    <a:pt x="73" y="169"/>
                    <a:pt x="73" y="169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103" y="12"/>
                    <a:pt x="92" y="0"/>
                    <a:pt x="78" y="0"/>
                  </a:cubicBezTo>
                  <a:close/>
                </a:path>
              </a:pathLst>
            </a:custGeom>
            <a:solidFill>
              <a:srgbClr val="231E4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6" name="AutoShape 156"/>
            <p:cNvSpPr/>
            <p:nvPr>
              <p:custDataLst>
                <p:tags r:id="rId154"/>
              </p:custDataLst>
            </p:nvPr>
          </p:nvSpPr>
          <p:spPr>
            <a:xfrm>
              <a:off x="5741019" y="6493225"/>
              <a:ext cx="605212" cy="258379"/>
            </a:xfrm>
            <a:custGeom>
              <a:avLst/>
              <a:gdLst/>
              <a:ahLst/>
              <a:cxnLst/>
              <a:rect l="l" t="t" r="r" b="b"/>
              <a:pathLst>
                <a:path w="106" h="45">
                  <a:moveTo>
                    <a:pt x="106" y="45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2" y="17"/>
                    <a:pt x="5" y="8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97" y="19"/>
                    <a:pt x="106" y="31"/>
                    <a:pt x="106" y="45"/>
                  </a:cubicBezTo>
                  <a:close/>
                </a:path>
              </a:pathLst>
            </a:custGeom>
            <a:solidFill>
              <a:srgbClr val="85445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7" name="AutoShape 157"/>
            <p:cNvSpPr/>
            <p:nvPr>
              <p:custDataLst>
                <p:tags r:id="rId155"/>
              </p:custDataLst>
            </p:nvPr>
          </p:nvSpPr>
          <p:spPr>
            <a:xfrm>
              <a:off x="5792229" y="6493225"/>
              <a:ext cx="195530" cy="86127"/>
            </a:xfrm>
            <a:custGeom>
              <a:avLst/>
              <a:gdLst/>
              <a:ahLst/>
              <a:cxnLst/>
              <a:rect l="l" t="t" r="r" b="b"/>
              <a:pathLst>
                <a:path w="34" h="1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7" y="15"/>
                    <a:pt x="16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7" y="15"/>
                    <a:pt x="34" y="9"/>
                    <a:pt x="34" y="0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8" name="AutoShape 158"/>
            <p:cNvSpPr/>
            <p:nvPr>
              <p:custDataLst>
                <p:tags r:id="rId156"/>
              </p:custDataLst>
            </p:nvPr>
          </p:nvSpPr>
          <p:spPr>
            <a:xfrm>
              <a:off x="5724726" y="6751603"/>
              <a:ext cx="644784" cy="51210"/>
            </a:xfrm>
            <a:custGeom>
              <a:avLst/>
              <a:gdLst/>
              <a:ahLst/>
              <a:cxnLst/>
              <a:rect l="l" t="t" r="r" b="b"/>
              <a:pathLst>
                <a:path w="113" h="9">
                  <a:moveTo>
                    <a:pt x="110" y="9"/>
                  </a:moveTo>
                  <a:cubicBezTo>
                    <a:pt x="3" y="9"/>
                    <a:pt x="3" y="9"/>
                    <a:pt x="3" y="9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1" y="0"/>
                    <a:pt x="113" y="1"/>
                    <a:pt x="113" y="3"/>
                  </a:cubicBezTo>
                  <a:cubicBezTo>
                    <a:pt x="113" y="6"/>
                    <a:pt x="113" y="6"/>
                    <a:pt x="113" y="6"/>
                  </a:cubicBezTo>
                  <a:cubicBezTo>
                    <a:pt x="113" y="8"/>
                    <a:pt x="111" y="9"/>
                    <a:pt x="110" y="9"/>
                  </a:cubicBezTo>
                  <a:close/>
                </a:path>
              </a:pathLst>
            </a:custGeom>
            <a:solidFill>
              <a:srgbClr val="E1E3E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9" name="AutoShape 159"/>
            <p:cNvSpPr/>
            <p:nvPr>
              <p:custDataLst>
                <p:tags r:id="rId157"/>
              </p:custDataLst>
            </p:nvPr>
          </p:nvSpPr>
          <p:spPr>
            <a:xfrm>
              <a:off x="4926311" y="6009056"/>
              <a:ext cx="216480" cy="181563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0" name="AutoShape 160"/>
            <p:cNvSpPr/>
            <p:nvPr>
              <p:custDataLst>
                <p:tags r:id="rId158"/>
              </p:custDataLst>
            </p:nvPr>
          </p:nvSpPr>
          <p:spPr>
            <a:xfrm>
              <a:off x="4989161" y="6190619"/>
              <a:ext cx="90782" cy="90782"/>
            </a:xfrm>
            <a:prstGeom prst="rect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1" name="AutoShape 161"/>
            <p:cNvSpPr/>
            <p:nvPr>
              <p:custDataLst>
                <p:tags r:id="rId159"/>
              </p:custDataLst>
            </p:nvPr>
          </p:nvSpPr>
          <p:spPr>
            <a:xfrm>
              <a:off x="4930966" y="6281400"/>
              <a:ext cx="200185" cy="172252"/>
            </a:xfrm>
            <a:prstGeom prst="rect">
              <a:avLst/>
            </a:pr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2" name="AutoShape 162"/>
            <p:cNvSpPr/>
            <p:nvPr>
              <p:custDataLst>
                <p:tags r:id="rId160"/>
              </p:custDataLst>
            </p:nvPr>
          </p:nvSpPr>
          <p:spPr>
            <a:xfrm>
              <a:off x="5000799" y="6453652"/>
              <a:ext cx="72161" cy="239758"/>
            </a:xfrm>
            <a:prstGeom prst="rect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3" name="AutoShape 163"/>
            <p:cNvSpPr/>
            <p:nvPr>
              <p:custDataLst>
                <p:tags r:id="rId161"/>
              </p:custDataLst>
            </p:nvPr>
          </p:nvSpPr>
          <p:spPr>
            <a:xfrm>
              <a:off x="4521285" y="6523485"/>
              <a:ext cx="1021877" cy="169925"/>
            </a:xfrm>
            <a:custGeom>
              <a:avLst/>
              <a:gdLst/>
              <a:ahLst/>
              <a:cxnLst/>
              <a:rect l="l" t="t" r="r" b="b"/>
              <a:pathLst>
                <a:path w="179" h="30">
                  <a:moveTo>
                    <a:pt x="0" y="22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16"/>
                    <a:pt x="18" y="11"/>
                    <a:pt x="25" y="11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61" y="11"/>
                    <a:pt x="167" y="16"/>
                    <a:pt x="167" y="23"/>
                  </a:cubicBezTo>
                  <a:cubicBezTo>
                    <a:pt x="167" y="30"/>
                    <a:pt x="167" y="30"/>
                    <a:pt x="167" y="30"/>
                  </a:cubicBezTo>
                  <a:cubicBezTo>
                    <a:pt x="179" y="30"/>
                    <a:pt x="179" y="30"/>
                    <a:pt x="179" y="30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10"/>
                    <a:pt x="170" y="0"/>
                    <a:pt x="157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lose/>
                </a:path>
              </a:pathLst>
            </a:cu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4" name="AutoShape 164"/>
            <p:cNvSpPr/>
            <p:nvPr>
              <p:custDataLst>
                <p:tags r:id="rId162"/>
              </p:custDataLst>
            </p:nvPr>
          </p:nvSpPr>
          <p:spPr>
            <a:xfrm>
              <a:off x="4479385" y="6649182"/>
              <a:ext cx="155959" cy="153631"/>
            </a:xfrm>
            <a:prstGeom prst="ellipse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5" name="AutoShape 165"/>
            <p:cNvSpPr/>
            <p:nvPr>
              <p:custDataLst>
                <p:tags r:id="rId163"/>
              </p:custDataLst>
            </p:nvPr>
          </p:nvSpPr>
          <p:spPr>
            <a:xfrm>
              <a:off x="4958899" y="6649182"/>
              <a:ext cx="155959" cy="153631"/>
            </a:xfrm>
            <a:prstGeom prst="ellipse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6" name="AutoShape 166"/>
            <p:cNvSpPr/>
            <p:nvPr>
              <p:custDataLst>
                <p:tags r:id="rId164"/>
              </p:custDataLst>
            </p:nvPr>
          </p:nvSpPr>
          <p:spPr>
            <a:xfrm>
              <a:off x="5433758" y="6649182"/>
              <a:ext cx="153631" cy="153631"/>
            </a:xfrm>
            <a:prstGeom prst="ellipse">
              <a:avLst/>
            </a:prstGeom>
            <a:solidFill>
              <a:srgbClr val="26222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7" name="AutoShape 167"/>
            <p:cNvSpPr/>
            <p:nvPr>
              <p:custDataLst>
                <p:tags r:id="rId165"/>
              </p:custDataLst>
            </p:nvPr>
          </p:nvSpPr>
          <p:spPr>
            <a:xfrm>
              <a:off x="4954244" y="5832148"/>
              <a:ext cx="765826" cy="221136"/>
            </a:xfrm>
            <a:custGeom>
              <a:avLst/>
              <a:gdLst/>
              <a:ahLst/>
              <a:cxnLst/>
              <a:rect l="l" t="t" r="r" b="b"/>
              <a:pathLst>
                <a:path w="134" h="39"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25" y="0"/>
                    <a:pt x="134" y="9"/>
                    <a:pt x="134" y="19"/>
                  </a:cubicBezTo>
                  <a:cubicBezTo>
                    <a:pt x="134" y="19"/>
                    <a:pt x="134" y="19"/>
                    <a:pt x="134" y="19"/>
                  </a:cubicBezTo>
                  <a:cubicBezTo>
                    <a:pt x="134" y="30"/>
                    <a:pt x="125" y="39"/>
                    <a:pt x="114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9" y="39"/>
                    <a:pt x="0" y="30"/>
                    <a:pt x="0" y="19"/>
                  </a:cubicBezTo>
                  <a:close/>
                </a:path>
              </a:pathLst>
            </a:custGeom>
            <a:solidFill>
              <a:srgbClr val="363538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8" name="AutoShape 168"/>
            <p:cNvSpPr/>
            <p:nvPr>
              <p:custDataLst>
                <p:tags r:id="rId166"/>
              </p:custDataLst>
            </p:nvPr>
          </p:nvSpPr>
          <p:spPr>
            <a:xfrm>
              <a:off x="4549218" y="5832148"/>
              <a:ext cx="679699" cy="221136"/>
            </a:xfrm>
            <a:custGeom>
              <a:avLst/>
              <a:gdLst/>
              <a:ahLst/>
              <a:cxnLst/>
              <a:rect l="l" t="t" r="r" b="b"/>
              <a:pathLst>
                <a:path w="119" h="39"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10" y="0"/>
                    <a:pt x="119" y="9"/>
                    <a:pt x="119" y="19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19" y="30"/>
                    <a:pt x="110" y="39"/>
                    <a:pt x="100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9" y="39"/>
                    <a:pt x="0" y="30"/>
                    <a:pt x="0" y="19"/>
                  </a:cubicBezTo>
                  <a:close/>
                </a:path>
              </a:pathLst>
            </a:cu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9" name="AutoShape 169"/>
            <p:cNvSpPr/>
            <p:nvPr>
              <p:custDataLst>
                <p:tags r:id="rId167"/>
              </p:custDataLst>
            </p:nvPr>
          </p:nvSpPr>
          <p:spPr>
            <a:xfrm>
              <a:off x="6022676" y="5282802"/>
              <a:ext cx="512102" cy="114060"/>
            </a:xfrm>
            <a:custGeom>
              <a:avLst/>
              <a:gdLst/>
              <a:ahLst/>
              <a:cxnLst/>
              <a:rect l="l" t="t" r="r" b="b"/>
              <a:pathLst>
                <a:path w="90" h="20">
                  <a:moveTo>
                    <a:pt x="83" y="4"/>
                  </a:moveTo>
                  <a:cubicBezTo>
                    <a:pt x="83" y="4"/>
                    <a:pt x="83" y="4"/>
                    <a:pt x="83" y="4"/>
                  </a:cubicBezTo>
                  <a:cubicBezTo>
                    <a:pt x="78" y="1"/>
                    <a:pt x="72" y="0"/>
                    <a:pt x="65" y="0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4" y="2"/>
                    <a:pt x="41" y="4"/>
                    <a:pt x="38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0" y="10"/>
                    <a:pt x="87" y="6"/>
                    <a:pt x="83" y="4"/>
                  </a:cubicBez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0" name="AutoShape 170"/>
            <p:cNvSpPr/>
            <p:nvPr>
              <p:custDataLst>
                <p:tags r:id="rId168"/>
              </p:custDataLst>
            </p:nvPr>
          </p:nvSpPr>
          <p:spPr>
            <a:xfrm>
              <a:off x="6199584" y="5282802"/>
              <a:ext cx="335194" cy="114060"/>
            </a:xfrm>
            <a:custGeom>
              <a:avLst/>
              <a:gdLst/>
              <a:ahLst/>
              <a:cxnLst/>
              <a:rect l="l" t="t" r="r" b="b"/>
              <a:pathLst>
                <a:path w="59" h="20">
                  <a:moveTo>
                    <a:pt x="52" y="4"/>
                  </a:moveTo>
                  <a:cubicBezTo>
                    <a:pt x="52" y="4"/>
                    <a:pt x="52" y="4"/>
                    <a:pt x="52" y="4"/>
                  </a:cubicBezTo>
                  <a:cubicBezTo>
                    <a:pt x="47" y="1"/>
                    <a:pt x="41" y="0"/>
                    <a:pt x="34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3" y="2"/>
                    <a:pt x="10" y="4"/>
                    <a:pt x="7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14"/>
                    <a:pt x="59" y="14"/>
                    <a:pt x="59" y="14"/>
                  </a:cubicBezTo>
                  <a:cubicBezTo>
                    <a:pt x="59" y="10"/>
                    <a:pt x="56" y="6"/>
                    <a:pt x="52" y="4"/>
                  </a:cubicBez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1" name="AutoShape 171"/>
            <p:cNvSpPr/>
            <p:nvPr>
              <p:custDataLst>
                <p:tags r:id="rId169"/>
              </p:custDataLst>
            </p:nvPr>
          </p:nvSpPr>
          <p:spPr>
            <a:xfrm>
              <a:off x="5457035" y="4631036"/>
              <a:ext cx="581934" cy="765826"/>
            </a:xfrm>
            <a:custGeom>
              <a:avLst/>
              <a:gdLst/>
              <a:ahLst/>
              <a:cxnLst/>
              <a:rect l="l" t="t" r="r" b="b"/>
              <a:pathLst>
                <a:path w="102" h="134">
                  <a:moveTo>
                    <a:pt x="54" y="104"/>
                  </a:moveTo>
                  <a:cubicBezTo>
                    <a:pt x="44" y="23"/>
                    <a:pt x="44" y="23"/>
                    <a:pt x="44" y="23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5" y="100"/>
                    <a:pt x="5" y="100"/>
                    <a:pt x="5" y="100"/>
                  </a:cubicBezTo>
                  <a:cubicBezTo>
                    <a:pt x="0" y="117"/>
                    <a:pt x="13" y="134"/>
                    <a:pt x="31" y="134"/>
                  </a:cubicBezTo>
                  <a:cubicBezTo>
                    <a:pt x="102" y="134"/>
                    <a:pt x="102" y="134"/>
                    <a:pt x="102" y="134"/>
                  </a:cubicBezTo>
                  <a:cubicBezTo>
                    <a:pt x="102" y="112"/>
                    <a:pt x="102" y="112"/>
                    <a:pt x="102" y="112"/>
                  </a:cubicBezTo>
                  <a:lnTo>
                    <a:pt x="54" y="104"/>
                  </a:lnTo>
                  <a:close/>
                </a:path>
              </a:pathLst>
            </a:custGeom>
            <a:solidFill>
              <a:srgbClr val="00999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2" name="AutoShape 172"/>
            <p:cNvSpPr/>
            <p:nvPr>
              <p:custDataLst>
                <p:tags r:id="rId170"/>
              </p:custDataLst>
            </p:nvPr>
          </p:nvSpPr>
          <p:spPr>
            <a:xfrm>
              <a:off x="4970539" y="4442489"/>
              <a:ext cx="742549" cy="1084725"/>
            </a:xfrm>
            <a:custGeom>
              <a:avLst/>
              <a:gdLst/>
              <a:ahLst/>
              <a:cxnLst/>
              <a:rect l="l" t="t" r="r" b="b"/>
              <a:pathLst>
                <a:path w="130" h="190">
                  <a:moveTo>
                    <a:pt x="116" y="19"/>
                  </a:moveTo>
                  <a:cubicBezTo>
                    <a:pt x="114" y="17"/>
                    <a:pt x="114" y="17"/>
                    <a:pt x="114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00" y="5"/>
                    <a:pt x="81" y="0"/>
                    <a:pt x="63" y="4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33" y="11"/>
                    <a:pt x="20" y="22"/>
                    <a:pt x="13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" y="171"/>
                    <a:pt x="1" y="171"/>
                    <a:pt x="1" y="171"/>
                  </a:cubicBezTo>
                  <a:cubicBezTo>
                    <a:pt x="0" y="181"/>
                    <a:pt x="8" y="190"/>
                    <a:pt x="18" y="190"/>
                  </a:cubicBezTo>
                  <a:cubicBezTo>
                    <a:pt x="109" y="190"/>
                    <a:pt x="109" y="190"/>
                    <a:pt x="109" y="190"/>
                  </a:cubicBezTo>
                  <a:cubicBezTo>
                    <a:pt x="114" y="190"/>
                    <a:pt x="118" y="186"/>
                    <a:pt x="119" y="181"/>
                  </a:cubicBezTo>
                  <a:cubicBezTo>
                    <a:pt x="121" y="157"/>
                    <a:pt x="128" y="90"/>
                    <a:pt x="129" y="65"/>
                  </a:cubicBezTo>
                  <a:cubicBezTo>
                    <a:pt x="130" y="61"/>
                    <a:pt x="129" y="50"/>
                    <a:pt x="129" y="50"/>
                  </a:cubicBezTo>
                  <a:cubicBezTo>
                    <a:pt x="129" y="38"/>
                    <a:pt x="124" y="27"/>
                    <a:pt x="116" y="19"/>
                  </a:cubicBezTo>
                  <a:close/>
                </a:path>
              </a:pathLst>
            </a:custGeom>
            <a:solidFill>
              <a:srgbClr val="4FBAB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3" name="AutoShape 173"/>
            <p:cNvSpPr/>
            <p:nvPr>
              <p:custDataLst>
                <p:tags r:id="rId171"/>
              </p:custDataLst>
            </p:nvPr>
          </p:nvSpPr>
          <p:spPr>
            <a:xfrm>
              <a:off x="5245212" y="4442489"/>
              <a:ext cx="467876" cy="577278"/>
            </a:xfrm>
            <a:custGeom>
              <a:avLst/>
              <a:gdLst/>
              <a:ahLst/>
              <a:cxnLst/>
              <a:rect l="l" t="t" r="r" b="b"/>
              <a:pathLst>
                <a:path w="82" h="101">
                  <a:moveTo>
                    <a:pt x="79" y="101"/>
                  </a:moveTo>
                  <a:cubicBezTo>
                    <a:pt x="80" y="86"/>
                    <a:pt x="81" y="73"/>
                    <a:pt x="81" y="65"/>
                  </a:cubicBezTo>
                  <a:cubicBezTo>
                    <a:pt x="82" y="61"/>
                    <a:pt x="81" y="50"/>
                    <a:pt x="81" y="50"/>
                  </a:cubicBezTo>
                  <a:cubicBezTo>
                    <a:pt x="81" y="38"/>
                    <a:pt x="76" y="27"/>
                    <a:pt x="68" y="19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52" y="5"/>
                    <a:pt x="33" y="0"/>
                    <a:pt x="15" y="4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7"/>
                    <a:pt x="10" y="79"/>
                    <a:pt x="79" y="101"/>
                  </a:cubicBezTo>
                  <a:close/>
                </a:path>
              </a:pathLst>
            </a:custGeom>
            <a:solidFill>
              <a:srgbClr val="1BB1A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4" name="AutoShape 174"/>
            <p:cNvSpPr/>
            <p:nvPr>
              <p:custDataLst>
                <p:tags r:id="rId172"/>
              </p:custDataLst>
            </p:nvPr>
          </p:nvSpPr>
          <p:spPr>
            <a:xfrm>
              <a:off x="5815507" y="5282802"/>
              <a:ext cx="342178" cy="114060"/>
            </a:xfrm>
            <a:custGeom>
              <a:avLst/>
              <a:gdLst/>
              <a:ahLst/>
              <a:cxnLst/>
              <a:rect l="l" t="t" r="r" b="b"/>
              <a:pathLst>
                <a:path w="60" h="20">
                  <a:moveTo>
                    <a:pt x="44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8"/>
                    <a:pt x="2" y="20"/>
                    <a:pt x="4" y="20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0"/>
                    <a:pt x="60" y="18"/>
                    <a:pt x="60" y="16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60" y="7"/>
                    <a:pt x="53" y="0"/>
                    <a:pt x="44" y="0"/>
                  </a:cubicBezTo>
                  <a:close/>
                </a:path>
              </a:pathLst>
            </a:custGeom>
            <a:solidFill>
              <a:srgbClr val="EEF0F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5" name="AutoShape 175"/>
            <p:cNvSpPr/>
            <p:nvPr>
              <p:custDataLst>
                <p:tags r:id="rId173"/>
              </p:custDataLst>
            </p:nvPr>
          </p:nvSpPr>
          <p:spPr>
            <a:xfrm>
              <a:off x="4868118" y="4584481"/>
              <a:ext cx="519086" cy="812380"/>
            </a:xfrm>
            <a:custGeom>
              <a:avLst/>
              <a:gdLst/>
              <a:ahLst/>
              <a:cxnLst/>
              <a:rect l="l" t="t" r="r" b="b"/>
              <a:pathLst>
                <a:path w="91" h="142">
                  <a:moveTo>
                    <a:pt x="56" y="97"/>
                  </a:moveTo>
                  <a:cubicBezTo>
                    <a:pt x="70" y="29"/>
                    <a:pt x="70" y="29"/>
                    <a:pt x="70" y="29"/>
                  </a:cubicBezTo>
                  <a:cubicBezTo>
                    <a:pt x="73" y="17"/>
                    <a:pt x="65" y="4"/>
                    <a:pt x="52" y="2"/>
                  </a:cubicBezTo>
                  <a:cubicBezTo>
                    <a:pt x="41" y="0"/>
                    <a:pt x="31" y="7"/>
                    <a:pt x="28" y="18"/>
                  </a:cubicBezTo>
                  <a:cubicBezTo>
                    <a:pt x="5" y="108"/>
                    <a:pt x="5" y="108"/>
                    <a:pt x="5" y="108"/>
                  </a:cubicBezTo>
                  <a:cubicBezTo>
                    <a:pt x="0" y="125"/>
                    <a:pt x="13" y="142"/>
                    <a:pt x="31" y="142"/>
                  </a:cubicBezTo>
                  <a:cubicBezTo>
                    <a:pt x="91" y="142"/>
                    <a:pt x="91" y="142"/>
                    <a:pt x="91" y="142"/>
                  </a:cubicBezTo>
                  <a:cubicBezTo>
                    <a:pt x="91" y="97"/>
                    <a:pt x="91" y="97"/>
                    <a:pt x="91" y="97"/>
                  </a:cubicBezTo>
                  <a:lnTo>
                    <a:pt x="56" y="97"/>
                  </a:lnTo>
                  <a:close/>
                </a:path>
              </a:pathLst>
            </a:custGeom>
            <a:solidFill>
              <a:srgbClr val="88CBC5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6" name="AutoShape 176"/>
            <p:cNvSpPr/>
            <p:nvPr>
              <p:custDataLst>
                <p:tags r:id="rId174"/>
              </p:custDataLst>
            </p:nvPr>
          </p:nvSpPr>
          <p:spPr>
            <a:xfrm>
              <a:off x="5387203" y="5145465"/>
              <a:ext cx="691339" cy="235102"/>
            </a:xfrm>
            <a:custGeom>
              <a:avLst/>
              <a:gdLst/>
              <a:ahLst/>
              <a:cxnLst/>
              <a:rect l="l" t="t" r="r" b="b"/>
              <a:pathLst>
                <a:path w="121" h="41">
                  <a:moveTo>
                    <a:pt x="117" y="18"/>
                  </a:moveTo>
                  <a:cubicBezTo>
                    <a:pt x="116" y="17"/>
                    <a:pt x="116" y="17"/>
                    <a:pt x="116" y="17"/>
                  </a:cubicBezTo>
                  <a:cubicBezTo>
                    <a:pt x="116" y="16"/>
                    <a:pt x="116" y="16"/>
                    <a:pt x="116" y="16"/>
                  </a:cubicBezTo>
                  <a:cubicBezTo>
                    <a:pt x="117" y="13"/>
                    <a:pt x="115" y="9"/>
                    <a:pt x="112" y="8"/>
                  </a:cubicBezTo>
                  <a:cubicBezTo>
                    <a:pt x="105" y="4"/>
                    <a:pt x="105" y="4"/>
                    <a:pt x="105" y="4"/>
                  </a:cubicBezTo>
                  <a:cubicBezTo>
                    <a:pt x="99" y="1"/>
                    <a:pt x="92" y="0"/>
                    <a:pt x="85" y="0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63" y="2"/>
                    <a:pt x="59" y="4"/>
                    <a:pt x="56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39"/>
                    <a:pt x="61" y="41"/>
                    <a:pt x="65" y="40"/>
                  </a:cubicBezTo>
                  <a:cubicBezTo>
                    <a:pt x="87" y="39"/>
                    <a:pt x="87" y="39"/>
                    <a:pt x="87" y="39"/>
                  </a:cubicBezTo>
                  <a:cubicBezTo>
                    <a:pt x="89" y="39"/>
                    <a:pt x="90" y="39"/>
                    <a:pt x="92" y="39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4" y="40"/>
                    <a:pt x="107" y="38"/>
                    <a:pt x="107" y="34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3" y="34"/>
                    <a:pt x="115" y="32"/>
                    <a:pt x="115" y="29"/>
                  </a:cubicBezTo>
                  <a:cubicBezTo>
                    <a:pt x="115" y="27"/>
                    <a:pt x="115" y="27"/>
                    <a:pt x="115" y="27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8" y="27"/>
                    <a:pt x="119" y="26"/>
                    <a:pt x="120" y="24"/>
                  </a:cubicBezTo>
                  <a:cubicBezTo>
                    <a:pt x="121" y="22"/>
                    <a:pt x="120" y="19"/>
                    <a:pt x="117" y="18"/>
                  </a:cubicBez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7" name="AutoShape 177"/>
            <p:cNvSpPr/>
            <p:nvPr>
              <p:custDataLst>
                <p:tags r:id="rId175"/>
              </p:custDataLst>
            </p:nvPr>
          </p:nvSpPr>
          <p:spPr>
            <a:xfrm>
              <a:off x="5331337" y="4132901"/>
              <a:ext cx="251396" cy="493480"/>
            </a:xfrm>
            <a:custGeom>
              <a:avLst/>
              <a:gdLst/>
              <a:ahLst/>
              <a:cxnLst/>
              <a:rect l="l" t="t" r="r" b="b"/>
              <a:pathLst>
                <a:path w="44" h="86">
                  <a:moveTo>
                    <a:pt x="4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6"/>
                    <a:pt x="5" y="74"/>
                    <a:pt x="13" y="80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24" y="86"/>
                    <a:pt x="31" y="86"/>
                    <a:pt x="37" y="81"/>
                  </a:cubicBezTo>
                  <a:cubicBezTo>
                    <a:pt x="37" y="81"/>
                    <a:pt x="37" y="81"/>
                    <a:pt x="37" y="81"/>
                  </a:cubicBezTo>
                  <a:cubicBezTo>
                    <a:pt x="41" y="78"/>
                    <a:pt x="44" y="72"/>
                    <a:pt x="44" y="66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F5B0A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8" name="AutoShape 178"/>
            <p:cNvSpPr/>
            <p:nvPr>
              <p:custDataLst>
                <p:tags r:id="rId176"/>
              </p:custDataLst>
            </p:nvPr>
          </p:nvSpPr>
          <p:spPr>
            <a:xfrm>
              <a:off x="5764296" y="4077035"/>
              <a:ext cx="114060" cy="204841"/>
            </a:xfrm>
            <a:custGeom>
              <a:avLst/>
              <a:gdLst/>
              <a:ahLst/>
              <a:cxnLst/>
              <a:rect l="l" t="t" r="r" b="b"/>
              <a:pathLst>
                <a:path w="20" h="36">
                  <a:moveTo>
                    <a:pt x="4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13" y="0"/>
                    <a:pt x="20" y="7"/>
                    <a:pt x="20" y="15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9"/>
                    <a:pt x="13" y="36"/>
                    <a:pt x="5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2" y="36"/>
                    <a:pt x="0" y="34"/>
                    <a:pt x="0" y="3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898B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9" name="AutoShape 179"/>
            <p:cNvSpPr/>
            <p:nvPr>
              <p:custDataLst>
                <p:tags r:id="rId177"/>
              </p:custDataLst>
            </p:nvPr>
          </p:nvSpPr>
          <p:spPr>
            <a:xfrm>
              <a:off x="5764296" y="4077035"/>
              <a:ext cx="74488" cy="204841"/>
            </a:xfrm>
            <a:custGeom>
              <a:avLst/>
              <a:gdLst/>
              <a:ahLst/>
              <a:cxnLst/>
              <a:rect l="l" t="t" r="r" b="b"/>
              <a:pathLst>
                <a:path w="13" h="36">
                  <a:moveTo>
                    <a:pt x="13" y="3"/>
                  </a:moveTo>
                  <a:cubicBezTo>
                    <a:pt x="11" y="1"/>
                    <a:pt x="8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4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8" y="36"/>
                    <a:pt x="11" y="35"/>
                    <a:pt x="13" y="34"/>
                  </a:cubicBezTo>
                  <a:lnTo>
                    <a:pt x="13" y="3"/>
                  </a:lnTo>
                  <a:close/>
                </a:path>
              </a:pathLst>
            </a:cu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0" name="AutoShape 180"/>
            <p:cNvSpPr/>
            <p:nvPr>
              <p:custDataLst>
                <p:tags r:id="rId178"/>
              </p:custDataLst>
            </p:nvPr>
          </p:nvSpPr>
          <p:spPr>
            <a:xfrm>
              <a:off x="5291766" y="3727875"/>
              <a:ext cx="519086" cy="428303"/>
            </a:xfrm>
            <a:custGeom>
              <a:avLst/>
              <a:gdLst/>
              <a:ahLst/>
              <a:cxnLst/>
              <a:rect l="l" t="t" r="r" b="b"/>
              <a:pathLst>
                <a:path w="91" h="75">
                  <a:moveTo>
                    <a:pt x="61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91" y="75"/>
                    <a:pt x="91" y="75"/>
                    <a:pt x="91" y="75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14"/>
                    <a:pt x="78" y="0"/>
                    <a:pt x="61" y="0"/>
                  </a:cubicBezTo>
                  <a:close/>
                </a:path>
              </a:pathLst>
            </a:custGeom>
            <a:solidFill>
              <a:srgbClr val="4F1F3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1" name="AutoShape 181"/>
            <p:cNvSpPr/>
            <p:nvPr>
              <p:custDataLst>
                <p:tags r:id="rId179"/>
              </p:custDataLst>
            </p:nvPr>
          </p:nvSpPr>
          <p:spPr>
            <a:xfrm>
              <a:off x="5331337" y="3797707"/>
              <a:ext cx="479514" cy="742548"/>
            </a:xfrm>
            <a:custGeom>
              <a:avLst/>
              <a:gdLst/>
              <a:ahLst/>
              <a:cxnLst/>
              <a:rect l="l" t="t" r="r" b="b"/>
              <a:pathLst>
                <a:path w="84" h="130">
                  <a:moveTo>
                    <a:pt x="50" y="130"/>
                  </a:moveTo>
                  <a:cubicBezTo>
                    <a:pt x="50" y="130"/>
                    <a:pt x="50" y="130"/>
                    <a:pt x="50" y="130"/>
                  </a:cubicBezTo>
                  <a:cubicBezTo>
                    <a:pt x="42" y="130"/>
                    <a:pt x="35" y="128"/>
                    <a:pt x="29" y="123"/>
                  </a:cubicBezTo>
                  <a:cubicBezTo>
                    <a:pt x="19" y="113"/>
                    <a:pt x="19" y="113"/>
                    <a:pt x="19" y="113"/>
                  </a:cubicBezTo>
                  <a:cubicBezTo>
                    <a:pt x="7" y="103"/>
                    <a:pt x="0" y="88"/>
                    <a:pt x="0" y="72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3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9" y="0"/>
                    <a:pt x="84" y="22"/>
                    <a:pt x="84" y="40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84" y="101"/>
                    <a:pt x="62" y="130"/>
                    <a:pt x="50" y="130"/>
                  </a:cubicBezTo>
                  <a:close/>
                </a:path>
              </a:pathLst>
            </a:custGeom>
            <a:solidFill>
              <a:srgbClr val="F6BFB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2" name="AutoShape 182"/>
            <p:cNvSpPr/>
            <p:nvPr>
              <p:custDataLst>
                <p:tags r:id="rId180"/>
              </p:custDataLst>
            </p:nvPr>
          </p:nvSpPr>
          <p:spPr>
            <a:xfrm>
              <a:off x="5331337" y="3797707"/>
              <a:ext cx="479514" cy="393388"/>
            </a:xfrm>
            <a:custGeom>
              <a:avLst/>
              <a:gdLst/>
              <a:ahLst/>
              <a:cxnLst/>
              <a:rect l="l" t="t" r="r" b="b"/>
              <a:pathLst>
                <a:path w="84" h="69">
                  <a:moveTo>
                    <a:pt x="14" y="41"/>
                  </a:moveTo>
                  <a:cubicBezTo>
                    <a:pt x="22" y="37"/>
                    <a:pt x="22" y="37"/>
                    <a:pt x="22" y="37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2" y="21"/>
                    <a:pt x="25" y="18"/>
                    <a:pt x="28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6" y="18"/>
                    <a:pt x="79" y="21"/>
                    <a:pt x="79" y="24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4" y="44"/>
                    <a:pt x="84" y="44"/>
                    <a:pt x="84" y="44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22"/>
                    <a:pt x="69" y="0"/>
                    <a:pt x="51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0" y="68"/>
                    <a:pt x="0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6" y="69"/>
                    <a:pt x="7" y="67"/>
                    <a:pt x="7" y="65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7" y="47"/>
                    <a:pt x="10" y="43"/>
                    <a:pt x="14" y="41"/>
                  </a:cubicBezTo>
                  <a:close/>
                </a:path>
              </a:pathLst>
            </a:custGeom>
            <a:solidFill>
              <a:srgbClr val="4F1F3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3" name="AutoShape 183"/>
            <p:cNvSpPr/>
            <p:nvPr>
              <p:custDataLst>
                <p:tags r:id="rId181"/>
              </p:custDataLst>
            </p:nvPr>
          </p:nvSpPr>
          <p:spPr>
            <a:xfrm>
              <a:off x="5280127" y="3683647"/>
              <a:ext cx="263035" cy="421321"/>
            </a:xfrm>
            <a:custGeom>
              <a:avLst/>
              <a:gdLst/>
              <a:ahLst/>
              <a:cxnLst/>
              <a:rect l="l" t="t" r="r" b="b"/>
              <a:pathLst>
                <a:path w="46" h="74">
                  <a:moveTo>
                    <a:pt x="46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5" y="0"/>
                    <a:pt x="0" y="15"/>
                    <a:pt x="0" y="33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3"/>
                    <a:pt x="1" y="74"/>
                    <a:pt x="3" y="74"/>
                  </a:cubicBezTo>
                  <a:cubicBezTo>
                    <a:pt x="4" y="74"/>
                    <a:pt x="5" y="73"/>
                    <a:pt x="5" y="72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5" y="17"/>
                    <a:pt x="17" y="5"/>
                    <a:pt x="33" y="5"/>
                  </a:cubicBezTo>
                  <a:cubicBezTo>
                    <a:pt x="46" y="5"/>
                    <a:pt x="46" y="5"/>
                    <a:pt x="46" y="5"/>
                  </a:cubicBezTo>
                  <a:lnTo>
                    <a:pt x="46" y="0"/>
                  </a:lnTo>
                  <a:close/>
                </a:path>
              </a:pathLst>
            </a:custGeom>
            <a:solidFill>
              <a:srgbClr val="B5B8B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4" name="AutoShape 184"/>
            <p:cNvSpPr/>
            <p:nvPr>
              <p:custDataLst>
                <p:tags r:id="rId182"/>
              </p:custDataLst>
            </p:nvPr>
          </p:nvSpPr>
          <p:spPr>
            <a:xfrm>
              <a:off x="5552473" y="4363346"/>
              <a:ext cx="148975" cy="79143"/>
            </a:xfrm>
            <a:custGeom>
              <a:avLst/>
              <a:gdLst/>
              <a:ahLst/>
              <a:cxnLst/>
              <a:rect l="l" t="t" r="r" b="b"/>
              <a:pathLst>
                <a:path w="26" h="14">
                  <a:moveTo>
                    <a:pt x="2" y="0"/>
                  </a:moveTo>
                  <a:cubicBezTo>
                    <a:pt x="1" y="0"/>
                    <a:pt x="0" y="2"/>
                    <a:pt x="0" y="3"/>
                  </a:cubicBezTo>
                  <a:cubicBezTo>
                    <a:pt x="3" y="10"/>
                    <a:pt x="8" y="14"/>
                    <a:pt x="13" y="14"/>
                  </a:cubicBezTo>
                  <a:cubicBezTo>
                    <a:pt x="18" y="14"/>
                    <a:pt x="23" y="10"/>
                    <a:pt x="25" y="3"/>
                  </a:cubicBezTo>
                  <a:cubicBezTo>
                    <a:pt x="26" y="2"/>
                    <a:pt x="25" y="0"/>
                    <a:pt x="23" y="0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CFC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5" name="AutoShape 185"/>
            <p:cNvSpPr/>
            <p:nvPr>
              <p:custDataLst>
                <p:tags r:id="rId183"/>
              </p:custDataLst>
            </p:nvPr>
          </p:nvSpPr>
          <p:spPr>
            <a:xfrm>
              <a:off x="5582733" y="4281876"/>
              <a:ext cx="79143" cy="69832"/>
            </a:xfrm>
            <a:custGeom>
              <a:avLst/>
              <a:gdLst/>
              <a:ahLst/>
              <a:cxnLst/>
              <a:rect l="l" t="t" r="r" b="b"/>
              <a:pathLst>
                <a:path w="14" h="12">
                  <a:moveTo>
                    <a:pt x="0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6"/>
                    <a:pt x="4" y="9"/>
                    <a:pt x="7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9" y="12"/>
                    <a:pt x="11" y="12"/>
                    <a:pt x="12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3" y="8"/>
                    <a:pt x="14" y="6"/>
                    <a:pt x="14" y="4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C7FA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6" name="AutoShape 186"/>
            <p:cNvSpPr/>
            <p:nvPr>
              <p:custDataLst>
                <p:tags r:id="rId184"/>
              </p:custDataLst>
            </p:nvPr>
          </p:nvSpPr>
          <p:spPr>
            <a:xfrm>
              <a:off x="5575750" y="4179455"/>
              <a:ext cx="109404" cy="137337"/>
            </a:xfrm>
            <a:custGeom>
              <a:avLst/>
              <a:gdLst/>
              <a:ahLst/>
              <a:cxnLst/>
              <a:rect l="l" t="t" r="r" b="b"/>
              <a:pathLst>
                <a:path w="19" h="24">
                  <a:moveTo>
                    <a:pt x="6" y="3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0" y="18"/>
                    <a:pt x="2" y="20"/>
                    <a:pt x="4" y="21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2" y="24"/>
                    <a:pt x="15" y="24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8" y="21"/>
                    <a:pt x="19" y="19"/>
                    <a:pt x="18" y="17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0"/>
                    <a:pt x="7" y="0"/>
                    <a:pt x="6" y="3"/>
                  </a:cubicBezTo>
                  <a:close/>
                </a:path>
              </a:pathLst>
            </a:custGeom>
            <a:solidFill>
              <a:srgbClr val="F9D7D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7" name="AutoShape 187"/>
            <p:cNvSpPr/>
            <p:nvPr>
              <p:custDataLst>
                <p:tags r:id="rId185"/>
              </p:custDataLst>
            </p:nvPr>
          </p:nvSpPr>
          <p:spPr>
            <a:xfrm>
              <a:off x="5445397" y="4077035"/>
              <a:ext cx="118715" cy="39572"/>
            </a:xfrm>
            <a:custGeom>
              <a:avLst/>
              <a:gdLst/>
              <a:ahLst/>
              <a:cxnLst/>
              <a:rect l="l" t="t" r="r" b="b"/>
              <a:pathLst>
                <a:path w="21" h="7">
                  <a:moveTo>
                    <a:pt x="0" y="7"/>
                  </a:moveTo>
                  <a:cubicBezTo>
                    <a:pt x="0" y="7"/>
                    <a:pt x="12" y="0"/>
                    <a:pt x="21" y="7"/>
                  </a:cubicBezTo>
                </a:path>
              </a:pathLst>
            </a:custGeom>
            <a:ln w="15875">
              <a:solidFill>
                <a:srgbClr val="4F1F3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88" name="AutoShape 188"/>
            <p:cNvSpPr/>
            <p:nvPr>
              <p:custDataLst>
                <p:tags r:id="rId186"/>
              </p:custDataLst>
            </p:nvPr>
          </p:nvSpPr>
          <p:spPr>
            <a:xfrm>
              <a:off x="5678171" y="4093328"/>
              <a:ext cx="114060" cy="23277"/>
            </a:xfrm>
            <a:custGeom>
              <a:avLst/>
              <a:gdLst/>
              <a:ahLst/>
              <a:cxnLst/>
              <a:rect l="l" t="t" r="r" b="b"/>
              <a:pathLst>
                <a:path w="20" h="4">
                  <a:moveTo>
                    <a:pt x="20" y="3"/>
                  </a:moveTo>
                  <a:cubicBezTo>
                    <a:pt x="13" y="0"/>
                    <a:pt x="6" y="0"/>
                    <a:pt x="0" y="4"/>
                  </a:cubicBezTo>
                </a:path>
              </a:pathLst>
            </a:custGeom>
            <a:ln w="15875">
              <a:solidFill>
                <a:srgbClr val="4F1F3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89" name="AutoShape 189"/>
            <p:cNvSpPr/>
            <p:nvPr>
              <p:custDataLst>
                <p:tags r:id="rId187"/>
              </p:custDataLst>
            </p:nvPr>
          </p:nvSpPr>
          <p:spPr>
            <a:xfrm>
              <a:off x="5233572" y="4077035"/>
              <a:ext cx="114060" cy="204841"/>
            </a:xfrm>
            <a:custGeom>
              <a:avLst/>
              <a:gdLst/>
              <a:ahLst/>
              <a:cxnLst/>
              <a:rect l="l" t="t" r="r" b="b"/>
              <a:pathLst>
                <a:path w="20" h="36">
                  <a:moveTo>
                    <a:pt x="15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9"/>
                    <a:pt x="6" y="36"/>
                    <a:pt x="14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8" y="36"/>
                    <a:pt x="20" y="34"/>
                    <a:pt x="20" y="32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2"/>
                    <a:pt x="18" y="0"/>
                    <a:pt x="15" y="0"/>
                  </a:cubicBezTo>
                  <a:close/>
                </a:path>
              </a:pathLst>
            </a:custGeom>
            <a:solidFill>
              <a:srgbClr val="898B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0" name="AutoShape 190"/>
            <p:cNvSpPr/>
            <p:nvPr>
              <p:custDataLst>
                <p:tags r:id="rId188"/>
              </p:custDataLst>
            </p:nvPr>
          </p:nvSpPr>
          <p:spPr>
            <a:xfrm>
              <a:off x="5303404" y="4226010"/>
              <a:ext cx="260707" cy="232774"/>
            </a:xfrm>
            <a:custGeom>
              <a:avLst/>
              <a:gdLst/>
              <a:ahLst/>
              <a:cxnLst/>
              <a:rect l="l" t="t" r="r" b="b"/>
              <a:pathLst>
                <a:path w="46" h="41">
                  <a:moveTo>
                    <a:pt x="46" y="41"/>
                  </a:moveTo>
                  <a:cubicBezTo>
                    <a:pt x="44" y="41"/>
                    <a:pt x="44" y="41"/>
                    <a:pt x="44" y="41"/>
                  </a:cubicBezTo>
                  <a:cubicBezTo>
                    <a:pt x="23" y="41"/>
                    <a:pt x="5" y="27"/>
                    <a:pt x="1" y="6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9" y="24"/>
                    <a:pt x="26" y="36"/>
                    <a:pt x="44" y="36"/>
                  </a:cubicBezTo>
                  <a:cubicBezTo>
                    <a:pt x="46" y="36"/>
                    <a:pt x="46" y="36"/>
                    <a:pt x="46" y="36"/>
                  </a:cubicBezTo>
                  <a:lnTo>
                    <a:pt x="46" y="41"/>
                  </a:lnTo>
                  <a:close/>
                </a:path>
              </a:pathLst>
            </a:custGeom>
            <a:solidFill>
              <a:srgbClr val="B5B8B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1" name="AutoShape 191"/>
            <p:cNvSpPr/>
            <p:nvPr>
              <p:custDataLst>
                <p:tags r:id="rId189"/>
              </p:custDataLst>
            </p:nvPr>
          </p:nvSpPr>
          <p:spPr>
            <a:xfrm>
              <a:off x="5564111" y="4419211"/>
              <a:ext cx="74488" cy="51210"/>
            </a:xfrm>
            <a:custGeom>
              <a:avLst/>
              <a:gdLst/>
              <a:ahLst/>
              <a:cxnLst/>
              <a:rect l="l" t="t" r="r" b="b"/>
              <a:pathLst>
                <a:path w="13" h="9">
                  <a:moveTo>
                    <a:pt x="1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1" y="9"/>
                    <a:pt x="2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2" y="9"/>
                    <a:pt x="13" y="8"/>
                    <a:pt x="13" y="7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1"/>
                    <a:pt x="12" y="0"/>
                    <a:pt x="11" y="0"/>
                  </a:cubicBezTo>
                  <a:close/>
                </a:path>
              </a:pathLst>
            </a:custGeom>
            <a:solidFill>
              <a:srgbClr val="898B8E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2" name="AutoShape 192"/>
            <p:cNvSpPr/>
            <p:nvPr>
              <p:custDataLst>
                <p:tags r:id="rId190"/>
              </p:custDataLst>
            </p:nvPr>
          </p:nvSpPr>
          <p:spPr>
            <a:xfrm>
              <a:off x="5771280" y="5506265"/>
              <a:ext cx="62850" cy="1296550"/>
            </a:xfrm>
            <a:prstGeom prst="rect">
              <a:avLst/>
            </a:pr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3" name="AutoShape 193"/>
            <p:cNvSpPr/>
            <p:nvPr>
              <p:custDataLst>
                <p:tags r:id="rId191"/>
              </p:custDataLst>
            </p:nvPr>
          </p:nvSpPr>
          <p:spPr>
            <a:xfrm>
              <a:off x="6495206" y="5506265"/>
              <a:ext cx="62850" cy="1296550"/>
            </a:xfrm>
            <a:prstGeom prst="rect">
              <a:avLst/>
            </a:prstGeom>
            <a:solidFill>
              <a:srgbClr val="5C5C5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4" name="AutoShape 194"/>
            <p:cNvSpPr/>
            <p:nvPr>
              <p:custDataLst>
                <p:tags r:id="rId192"/>
              </p:custDataLst>
            </p:nvPr>
          </p:nvSpPr>
          <p:spPr>
            <a:xfrm>
              <a:off x="6939804" y="4693884"/>
              <a:ext cx="993945" cy="651766"/>
            </a:xfrm>
            <a:custGeom>
              <a:avLst/>
              <a:gdLst/>
              <a:ahLst/>
              <a:cxnLst/>
              <a:rect l="l" t="t" r="r" b="b"/>
              <a:pathLst>
                <a:path w="174" h="114">
                  <a:moveTo>
                    <a:pt x="0" y="114"/>
                  </a:moveTo>
                  <a:cubicBezTo>
                    <a:pt x="148" y="114"/>
                    <a:pt x="148" y="114"/>
                    <a:pt x="148" y="114"/>
                  </a:cubicBezTo>
                  <a:cubicBezTo>
                    <a:pt x="151" y="114"/>
                    <a:pt x="154" y="112"/>
                    <a:pt x="155" y="109"/>
                  </a:cubicBezTo>
                  <a:cubicBezTo>
                    <a:pt x="173" y="5"/>
                    <a:pt x="173" y="5"/>
                    <a:pt x="173" y="5"/>
                  </a:cubicBezTo>
                  <a:cubicBezTo>
                    <a:pt x="174" y="2"/>
                    <a:pt x="172" y="0"/>
                    <a:pt x="169" y="0"/>
                  </a:cubicBezTo>
                  <a:cubicBezTo>
                    <a:pt x="20" y="0"/>
                    <a:pt x="20" y="0"/>
                    <a:pt x="20" y="0"/>
                  </a:cubicBezTo>
                  <a:lnTo>
                    <a:pt x="0" y="114"/>
                  </a:lnTo>
                  <a:close/>
                </a:path>
              </a:pathLst>
            </a:custGeom>
            <a:solidFill>
              <a:srgbClr val="DBDDD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5" name="AutoShape 195"/>
            <p:cNvSpPr/>
            <p:nvPr>
              <p:custDataLst>
                <p:tags r:id="rId193"/>
              </p:custDataLst>
            </p:nvPr>
          </p:nvSpPr>
          <p:spPr>
            <a:xfrm>
              <a:off x="6329937" y="5345650"/>
              <a:ext cx="684355" cy="51210"/>
            </a:xfrm>
            <a:custGeom>
              <a:avLst/>
              <a:gdLst/>
              <a:ahLst/>
              <a:cxnLst/>
              <a:rect l="l" t="t" r="r" b="b"/>
              <a:pathLst>
                <a:path w="120" h="9">
                  <a:moveTo>
                    <a:pt x="6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"/>
                    <a:pt x="3" y="9"/>
                    <a:pt x="6" y="9"/>
                  </a:cubicBezTo>
                  <a:close/>
                </a:path>
              </a:pathLst>
            </a:custGeom>
            <a:solidFill>
              <a:srgbClr val="B5B8B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6" name="AutoShape 196"/>
            <p:cNvSpPr/>
            <p:nvPr>
              <p:custDataLst>
                <p:tags r:id="rId194"/>
              </p:custDataLst>
            </p:nvPr>
          </p:nvSpPr>
          <p:spPr>
            <a:xfrm>
              <a:off x="7049207" y="4693884"/>
              <a:ext cx="879885" cy="23277"/>
            </a:xfrm>
            <a:custGeom>
              <a:avLst/>
              <a:gdLst/>
              <a:ahLst/>
              <a:cxnLst/>
              <a:rect l="l" t="t" r="r" b="b"/>
              <a:pathLst>
                <a:path w="154" h="4">
                  <a:moveTo>
                    <a:pt x="0" y="4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3" y="0"/>
                    <a:pt x="154" y="2"/>
                    <a:pt x="154" y="4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CDD0D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7" name="AutoShape 197"/>
            <p:cNvSpPr/>
            <p:nvPr>
              <p:custDataLst>
                <p:tags r:id="rId195"/>
              </p:custDataLst>
            </p:nvPr>
          </p:nvSpPr>
          <p:spPr>
            <a:xfrm>
              <a:off x="6939804" y="4693884"/>
              <a:ext cx="144320" cy="651766"/>
            </a:xfrm>
            <a:custGeom>
              <a:avLst/>
              <a:gdLst/>
              <a:ahLst/>
              <a:cxnLst/>
              <a:rect l="l" t="t" r="r" b="b"/>
              <a:pathLst>
                <a:path w="25" h="114">
                  <a:moveTo>
                    <a:pt x="1" y="107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3" y="114"/>
                    <a:pt x="5" y="112"/>
                    <a:pt x="6" y="109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5" y="2"/>
                    <a:pt x="23" y="0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lnTo>
                    <a:pt x="1" y="107"/>
                  </a:lnTo>
                  <a:close/>
                </a:path>
              </a:pathLst>
            </a:custGeom>
            <a:solidFill>
              <a:srgbClr val="B5B8BA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8" name="AutoShape 198"/>
            <p:cNvSpPr/>
            <p:nvPr>
              <p:custDataLst>
                <p:tags r:id="rId196"/>
              </p:custDataLst>
            </p:nvPr>
          </p:nvSpPr>
          <p:spPr>
            <a:xfrm>
              <a:off x="6876955" y="5345650"/>
              <a:ext cx="868247" cy="51210"/>
            </a:xfrm>
            <a:custGeom>
              <a:avLst/>
              <a:gdLst/>
              <a:ahLst/>
              <a:cxnLst/>
              <a:rect l="l" t="t" r="r" b="b"/>
              <a:pathLst>
                <a:path w="152" h="9">
                  <a:moveTo>
                    <a:pt x="0" y="9"/>
                  </a:moveTo>
                  <a:cubicBezTo>
                    <a:pt x="141" y="9"/>
                    <a:pt x="141" y="9"/>
                    <a:pt x="141" y="9"/>
                  </a:cubicBezTo>
                  <a:cubicBezTo>
                    <a:pt x="146" y="9"/>
                    <a:pt x="146" y="9"/>
                    <a:pt x="146" y="9"/>
                  </a:cubicBezTo>
                  <a:cubicBezTo>
                    <a:pt x="149" y="9"/>
                    <a:pt x="152" y="6"/>
                    <a:pt x="152" y="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6"/>
                    <a:pt x="3" y="9"/>
                    <a:pt x="0" y="9"/>
                  </a:cubicBezTo>
                  <a:close/>
                </a:path>
              </a:pathLst>
            </a:custGeom>
            <a:solidFill>
              <a:srgbClr val="CDD0D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9" name="AutoShape 199"/>
            <p:cNvSpPr/>
            <p:nvPr>
              <p:custDataLst>
                <p:tags r:id="rId197"/>
              </p:custDataLst>
            </p:nvPr>
          </p:nvSpPr>
          <p:spPr>
            <a:xfrm>
              <a:off x="5480312" y="4144539"/>
              <a:ext cx="62850" cy="69832"/>
            </a:xfrm>
            <a:prstGeom prst="ellipse">
              <a:avLst/>
            </a:prstGeom>
            <a:solidFill>
              <a:srgbClr val="4F1F3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0" name="AutoShape 200"/>
            <p:cNvSpPr/>
            <p:nvPr>
              <p:custDataLst>
                <p:tags r:id="rId198"/>
              </p:custDataLst>
            </p:nvPr>
          </p:nvSpPr>
          <p:spPr>
            <a:xfrm>
              <a:off x="5701448" y="4144539"/>
              <a:ext cx="62850" cy="74488"/>
            </a:xfrm>
            <a:prstGeom prst="ellipse">
              <a:avLst/>
            </a:prstGeom>
            <a:solidFill>
              <a:srgbClr val="4F1F3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1" name="AutoShape 201"/>
            <p:cNvSpPr/>
            <p:nvPr>
              <p:custDataLst>
                <p:tags r:id="rId199"/>
              </p:custDataLst>
            </p:nvPr>
          </p:nvSpPr>
          <p:spPr>
            <a:xfrm>
              <a:off x="1364663" y="1944932"/>
              <a:ext cx="2741962" cy="959551"/>
            </a:xfrm>
            <a:prstGeom prst="rect">
              <a:avLst/>
            </a:prstGeom>
            <a:ln w="19050">
              <a:solidFill>
                <a:srgbClr val="4A58D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02" name="AutoShape 202"/>
            <p:cNvSpPr/>
            <p:nvPr>
              <p:custDataLst>
                <p:tags r:id="rId200"/>
              </p:custDataLst>
            </p:nvPr>
          </p:nvSpPr>
          <p:spPr>
            <a:xfrm>
              <a:off x="2433987" y="1648964"/>
              <a:ext cx="603314" cy="603314"/>
            </a:xfrm>
            <a:prstGeom prst="ellipse">
              <a:avLst/>
            </a:prstGeom>
            <a:solidFill>
              <a:srgbClr val="4A58DA">
                <a:alpha val="100000"/>
              </a:srgbClr>
            </a:solidFill>
            <a:ln w="381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03" name="AutoShape 203"/>
            <p:cNvSpPr/>
            <p:nvPr>
              <p:custDataLst>
                <p:tags r:id="rId201"/>
              </p:custDataLst>
            </p:nvPr>
          </p:nvSpPr>
          <p:spPr>
            <a:xfrm>
              <a:off x="4725019" y="1944932"/>
              <a:ext cx="2741962" cy="959551"/>
            </a:xfrm>
            <a:prstGeom prst="rect">
              <a:avLst/>
            </a:prstGeom>
            <a:ln w="19050">
              <a:solidFill>
                <a:srgbClr val="DCDCDC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04" name="AutoShape 204"/>
            <p:cNvSpPr/>
            <p:nvPr>
              <p:custDataLst>
                <p:tags r:id="rId202"/>
              </p:custDataLst>
            </p:nvPr>
          </p:nvSpPr>
          <p:spPr>
            <a:xfrm>
              <a:off x="5794343" y="1648964"/>
              <a:ext cx="603314" cy="603314"/>
            </a:xfrm>
            <a:prstGeom prst="ellipse">
              <a:avLst/>
            </a:prstGeom>
            <a:solidFill>
              <a:srgbClr val="DCDCDC">
                <a:alpha val="100000"/>
              </a:srgbClr>
            </a:solidFill>
            <a:ln w="381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05" name="AutoShape 205"/>
            <p:cNvSpPr/>
            <p:nvPr>
              <p:custDataLst>
                <p:tags r:id="rId203"/>
              </p:custDataLst>
            </p:nvPr>
          </p:nvSpPr>
          <p:spPr>
            <a:xfrm>
              <a:off x="8085375" y="1944932"/>
              <a:ext cx="2741962" cy="959551"/>
            </a:xfrm>
            <a:prstGeom prst="rect">
              <a:avLst/>
            </a:prstGeom>
            <a:ln w="19050">
              <a:solidFill>
                <a:srgbClr val="9D9D9D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06" name="AutoShape 206"/>
            <p:cNvSpPr/>
            <p:nvPr>
              <p:custDataLst>
                <p:tags r:id="rId204"/>
              </p:custDataLst>
            </p:nvPr>
          </p:nvSpPr>
          <p:spPr>
            <a:xfrm>
              <a:off x="9154699" y="1648964"/>
              <a:ext cx="603314" cy="603314"/>
            </a:xfrm>
            <a:prstGeom prst="ellipse">
              <a:avLst/>
            </a:prstGeom>
            <a:solidFill>
              <a:srgbClr val="9D9D9D">
                <a:alpha val="100000"/>
              </a:srgbClr>
            </a:solidFill>
            <a:ln w="381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07" name="AutoShape 207"/>
            <p:cNvSpPr/>
            <p:nvPr>
              <p:custDataLst>
                <p:tags r:id="rId205"/>
              </p:custDataLst>
            </p:nvPr>
          </p:nvSpPr>
          <p:spPr>
            <a:xfrm>
              <a:off x="4415822" y="1648964"/>
              <a:ext cx="0" cy="1681671"/>
            </a:xfrm>
            <a:prstGeom prst="line">
              <a:avLst/>
            </a:prstGeom>
            <a:ln w="6350">
              <a:solidFill>
                <a:srgbClr val="768394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08" name="AutoShape 208"/>
            <p:cNvSpPr/>
            <p:nvPr>
              <p:custDataLst>
                <p:tags r:id="rId206"/>
              </p:custDataLst>
            </p:nvPr>
          </p:nvSpPr>
          <p:spPr>
            <a:xfrm>
              <a:off x="7776178" y="1648964"/>
              <a:ext cx="0" cy="1681671"/>
            </a:xfrm>
            <a:prstGeom prst="line">
              <a:avLst/>
            </a:prstGeom>
            <a:ln w="6350">
              <a:solidFill>
                <a:srgbClr val="768394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09" name="TextBox 209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聚焦三大高潜力群体</a:t>
              </a:r>
              <a:endParaRPr lang="en-US" sz="1100"/>
            </a:p>
          </p:txBody>
        </p:sp>
        <p:grpSp>
          <p:nvGrpSpPr>
            <p:cNvPr id="210" name="Group 210"/>
            <p:cNvGrpSpPr/>
            <p:nvPr/>
          </p:nvGrpSpPr>
          <p:grpSpPr>
            <a:xfrm rot="0">
              <a:off x="1486283" y="1786828"/>
              <a:ext cx="2498722" cy="1856179"/>
              <a:chOff x="1486283" y="1786828"/>
              <a:chExt cx="2498722" cy="1856179"/>
            </a:xfrm>
          </p:grpSpPr>
          <p:sp>
            <p:nvSpPr>
              <p:cNvPr id="211" name="TextBox 211"/>
              <p:cNvSpPr txBox="1"/>
              <p:nvPr>
                <p:custDataLst>
                  <p:tags r:id="rId207"/>
                </p:custDataLst>
              </p:nvPr>
            </p:nvSpPr>
            <p:spPr>
              <a:xfrm flipH="1">
                <a:off x="1486283" y="2703870"/>
                <a:ext cx="2498722" cy="939137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缺乏求职经验，对职业规划困惑，学习能力强，乐于接受新技术。</a:t>
                </a:r>
                <a:endParaRPr lang="en-US" sz="1100"/>
              </a:p>
            </p:txBody>
          </p:sp>
          <p:sp>
            <p:nvSpPr>
              <p:cNvPr id="212" name="TextBox 212"/>
              <p:cNvSpPr txBox="1"/>
              <p:nvPr>
                <p:custDataLst>
                  <p:tags r:id="rId208"/>
                </p:custDataLst>
              </p:nvPr>
            </p:nvSpPr>
            <p:spPr>
              <a:xfrm flipH="1">
                <a:off x="1486283" y="2330940"/>
                <a:ext cx="2498722" cy="37293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高校应届毕业生</a:t>
                </a:r>
                <a:endParaRPr lang="en-US" sz="1100"/>
              </a:p>
            </p:txBody>
          </p:sp>
          <p:sp>
            <p:nvSpPr>
              <p:cNvPr id="213" name="AutoShape 213"/>
              <p:cNvSpPr/>
              <p:nvPr>
                <p:custDataLst>
                  <p:tags r:id="rId209"/>
                </p:custDataLst>
              </p:nvPr>
            </p:nvSpPr>
            <p:spPr>
              <a:xfrm>
                <a:off x="2576764" y="1786828"/>
                <a:ext cx="317761" cy="327587"/>
              </a:xfrm>
              <a:custGeom>
                <a:avLst/>
                <a:gdLst/>
                <a:ahLst/>
                <a:cxnLst/>
                <a:rect l="l" t="t" r="r" b="b"/>
                <a:pathLst>
                  <a:path w="5499" h="5677">
                    <a:moveTo>
                      <a:pt x="5363" y="3960"/>
                    </a:moveTo>
                    <a:cubicBezTo>
                      <a:pt x="5342" y="3930"/>
                      <a:pt x="5320" y="3902"/>
                      <a:pt x="5296" y="3876"/>
                    </a:cubicBezTo>
                    <a:cubicBezTo>
                      <a:pt x="5326" y="3832"/>
                      <a:pt x="5349" y="3782"/>
                      <a:pt x="5363" y="3729"/>
                    </a:cubicBezTo>
                    <a:cubicBezTo>
                      <a:pt x="5405" y="3570"/>
                      <a:pt x="5363" y="3403"/>
                      <a:pt x="5251" y="3283"/>
                    </a:cubicBezTo>
                    <a:cubicBezTo>
                      <a:pt x="5178" y="3205"/>
                      <a:pt x="5093" y="3143"/>
                      <a:pt x="4995" y="3096"/>
                    </a:cubicBezTo>
                    <a:cubicBezTo>
                      <a:pt x="4980" y="2847"/>
                      <a:pt x="4773" y="2649"/>
                      <a:pt x="4520" y="2649"/>
                    </a:cubicBezTo>
                    <a:cubicBezTo>
                      <a:pt x="4272" y="2649"/>
                      <a:pt x="4067" y="2841"/>
                      <a:pt x="4047" y="3085"/>
                    </a:cubicBezTo>
                    <a:cubicBezTo>
                      <a:pt x="4017" y="3098"/>
                      <a:pt x="3989" y="3112"/>
                      <a:pt x="3962" y="3128"/>
                    </a:cubicBezTo>
                    <a:lnTo>
                      <a:pt x="3673" y="3040"/>
                    </a:lnTo>
                    <a:cubicBezTo>
                      <a:pt x="3673" y="3040"/>
                      <a:pt x="3673" y="3041"/>
                      <a:pt x="3673" y="3041"/>
                    </a:cubicBezTo>
                    <a:lnTo>
                      <a:pt x="3133" y="2877"/>
                    </a:lnTo>
                    <a:cubicBezTo>
                      <a:pt x="3116" y="2825"/>
                      <a:pt x="3077" y="2779"/>
                      <a:pt x="3023" y="2741"/>
                    </a:cubicBezTo>
                    <a:cubicBezTo>
                      <a:pt x="3083" y="2675"/>
                      <a:pt x="3133" y="2608"/>
                      <a:pt x="3171" y="2553"/>
                    </a:cubicBezTo>
                    <a:cubicBezTo>
                      <a:pt x="3261" y="2421"/>
                      <a:pt x="3337" y="2280"/>
                      <a:pt x="3389" y="2144"/>
                    </a:cubicBezTo>
                    <a:cubicBezTo>
                      <a:pt x="3414" y="2087"/>
                      <a:pt x="3436" y="2029"/>
                      <a:pt x="3454" y="1972"/>
                    </a:cubicBezTo>
                    <a:cubicBezTo>
                      <a:pt x="3524" y="1914"/>
                      <a:pt x="3565" y="1826"/>
                      <a:pt x="3565" y="1734"/>
                    </a:cubicBezTo>
                    <a:lnTo>
                      <a:pt x="3565" y="1508"/>
                    </a:lnTo>
                    <a:cubicBezTo>
                      <a:pt x="3565" y="1443"/>
                      <a:pt x="3545" y="1380"/>
                      <a:pt x="3507" y="1328"/>
                    </a:cubicBezTo>
                    <a:lnTo>
                      <a:pt x="3507" y="1010"/>
                    </a:lnTo>
                    <a:cubicBezTo>
                      <a:pt x="3507" y="453"/>
                      <a:pt x="3054" y="0"/>
                      <a:pt x="2497" y="0"/>
                    </a:cubicBezTo>
                    <a:lnTo>
                      <a:pt x="2170" y="0"/>
                    </a:lnTo>
                    <a:cubicBezTo>
                      <a:pt x="1613" y="0"/>
                      <a:pt x="1160" y="453"/>
                      <a:pt x="1160" y="1010"/>
                    </a:cubicBezTo>
                    <a:lnTo>
                      <a:pt x="1160" y="1328"/>
                    </a:lnTo>
                    <a:cubicBezTo>
                      <a:pt x="1122" y="1380"/>
                      <a:pt x="1102" y="1444"/>
                      <a:pt x="1102" y="1508"/>
                    </a:cubicBezTo>
                    <a:lnTo>
                      <a:pt x="1102" y="1734"/>
                    </a:lnTo>
                    <a:cubicBezTo>
                      <a:pt x="1102" y="1826"/>
                      <a:pt x="1143" y="1914"/>
                      <a:pt x="1213" y="1972"/>
                    </a:cubicBezTo>
                    <a:cubicBezTo>
                      <a:pt x="1231" y="2029"/>
                      <a:pt x="1253" y="2087"/>
                      <a:pt x="1279" y="2144"/>
                    </a:cubicBezTo>
                    <a:cubicBezTo>
                      <a:pt x="1331" y="2280"/>
                      <a:pt x="1406" y="2421"/>
                      <a:pt x="1496" y="2552"/>
                    </a:cubicBezTo>
                    <a:cubicBezTo>
                      <a:pt x="1534" y="2608"/>
                      <a:pt x="1584" y="2674"/>
                      <a:pt x="1644" y="2740"/>
                    </a:cubicBezTo>
                    <a:cubicBezTo>
                      <a:pt x="1590" y="2779"/>
                      <a:pt x="1551" y="2825"/>
                      <a:pt x="1534" y="2877"/>
                    </a:cubicBezTo>
                    <a:lnTo>
                      <a:pt x="814" y="3095"/>
                    </a:lnTo>
                    <a:cubicBezTo>
                      <a:pt x="307" y="3241"/>
                      <a:pt x="3" y="5432"/>
                      <a:pt x="3" y="5432"/>
                    </a:cubicBezTo>
                    <a:lnTo>
                      <a:pt x="3" y="5432"/>
                    </a:lnTo>
                    <a:cubicBezTo>
                      <a:pt x="1" y="5442"/>
                      <a:pt x="0" y="5452"/>
                      <a:pt x="0" y="5462"/>
                    </a:cubicBezTo>
                    <a:cubicBezTo>
                      <a:pt x="0" y="5567"/>
                      <a:pt x="86" y="5653"/>
                      <a:pt x="191" y="5653"/>
                    </a:cubicBezTo>
                    <a:lnTo>
                      <a:pt x="4372" y="5653"/>
                    </a:lnTo>
                    <a:cubicBezTo>
                      <a:pt x="4418" y="5668"/>
                      <a:pt x="4468" y="5677"/>
                      <a:pt x="4520" y="5677"/>
                    </a:cubicBezTo>
                    <a:cubicBezTo>
                      <a:pt x="4783" y="5677"/>
                      <a:pt x="4996" y="5464"/>
                      <a:pt x="4996" y="5202"/>
                    </a:cubicBezTo>
                    <a:lnTo>
                      <a:pt x="4996" y="5161"/>
                    </a:lnTo>
                    <a:cubicBezTo>
                      <a:pt x="5091" y="5119"/>
                      <a:pt x="5175" y="5063"/>
                      <a:pt x="5248" y="4994"/>
                    </a:cubicBezTo>
                    <a:cubicBezTo>
                      <a:pt x="5412" y="4838"/>
                      <a:pt x="5499" y="4635"/>
                      <a:pt x="5499" y="4406"/>
                    </a:cubicBezTo>
                    <a:cubicBezTo>
                      <a:pt x="5499" y="4239"/>
                      <a:pt x="5453" y="4089"/>
                      <a:pt x="5363" y="3960"/>
                    </a:cubicBezTo>
                    <a:close/>
                    <a:moveTo>
                      <a:pt x="2140" y="3663"/>
                    </a:moveTo>
                    <a:cubicBezTo>
                      <a:pt x="2137" y="3689"/>
                      <a:pt x="2118" y="3711"/>
                      <a:pt x="2093" y="3718"/>
                    </a:cubicBezTo>
                    <a:cubicBezTo>
                      <a:pt x="2087" y="3720"/>
                      <a:pt x="2081" y="3721"/>
                      <a:pt x="2075" y="3721"/>
                    </a:cubicBezTo>
                    <a:cubicBezTo>
                      <a:pt x="2055" y="3721"/>
                      <a:pt x="2036" y="3711"/>
                      <a:pt x="2024" y="3695"/>
                    </a:cubicBezTo>
                    <a:lnTo>
                      <a:pt x="1842" y="3454"/>
                    </a:lnTo>
                    <a:cubicBezTo>
                      <a:pt x="1833" y="3442"/>
                      <a:pt x="1829" y="3429"/>
                      <a:pt x="1829" y="3415"/>
                    </a:cubicBezTo>
                    <a:lnTo>
                      <a:pt x="1829" y="3028"/>
                    </a:lnTo>
                    <a:cubicBezTo>
                      <a:pt x="1829" y="3005"/>
                      <a:pt x="1841" y="2984"/>
                      <a:pt x="1860" y="2972"/>
                    </a:cubicBezTo>
                    <a:cubicBezTo>
                      <a:pt x="1880" y="2961"/>
                      <a:pt x="1904" y="2960"/>
                      <a:pt x="1924" y="2970"/>
                    </a:cubicBezTo>
                    <a:cubicBezTo>
                      <a:pt x="1977" y="2998"/>
                      <a:pt x="2030" y="3017"/>
                      <a:pt x="2081" y="3026"/>
                    </a:cubicBezTo>
                    <a:cubicBezTo>
                      <a:pt x="2112" y="3032"/>
                      <a:pt x="2135" y="3059"/>
                      <a:pt x="2135" y="3090"/>
                    </a:cubicBezTo>
                    <a:lnTo>
                      <a:pt x="2135" y="3252"/>
                    </a:lnTo>
                    <a:cubicBezTo>
                      <a:pt x="2144" y="3255"/>
                      <a:pt x="2152" y="3261"/>
                      <a:pt x="2159" y="3268"/>
                    </a:cubicBezTo>
                    <a:cubicBezTo>
                      <a:pt x="2171" y="3282"/>
                      <a:pt x="2177" y="3300"/>
                      <a:pt x="2175" y="3318"/>
                    </a:cubicBezTo>
                    <a:lnTo>
                      <a:pt x="2140" y="3663"/>
                    </a:lnTo>
                    <a:close/>
                    <a:moveTo>
                      <a:pt x="2825" y="3454"/>
                    </a:moveTo>
                    <a:lnTo>
                      <a:pt x="2644" y="3695"/>
                    </a:lnTo>
                    <a:cubicBezTo>
                      <a:pt x="2631" y="3711"/>
                      <a:pt x="2612" y="3721"/>
                      <a:pt x="2592" y="3721"/>
                    </a:cubicBezTo>
                    <a:cubicBezTo>
                      <a:pt x="2586" y="3721"/>
                      <a:pt x="2580" y="3720"/>
                      <a:pt x="2574" y="3718"/>
                    </a:cubicBezTo>
                    <a:cubicBezTo>
                      <a:pt x="2549" y="3711"/>
                      <a:pt x="2530" y="3689"/>
                      <a:pt x="2527" y="3662"/>
                    </a:cubicBezTo>
                    <a:lnTo>
                      <a:pt x="2492" y="3318"/>
                    </a:lnTo>
                    <a:cubicBezTo>
                      <a:pt x="2490" y="3300"/>
                      <a:pt x="2496" y="3282"/>
                      <a:pt x="2508" y="3268"/>
                    </a:cubicBezTo>
                    <a:cubicBezTo>
                      <a:pt x="2515" y="3261"/>
                      <a:pt x="2523" y="3255"/>
                      <a:pt x="2533" y="3252"/>
                    </a:cubicBezTo>
                    <a:lnTo>
                      <a:pt x="2533" y="3090"/>
                    </a:lnTo>
                    <a:cubicBezTo>
                      <a:pt x="2533" y="3059"/>
                      <a:pt x="2555" y="3032"/>
                      <a:pt x="2586" y="3026"/>
                    </a:cubicBezTo>
                    <a:cubicBezTo>
                      <a:pt x="2637" y="3017"/>
                      <a:pt x="2690" y="2998"/>
                      <a:pt x="2743" y="2971"/>
                    </a:cubicBezTo>
                    <a:cubicBezTo>
                      <a:pt x="2763" y="2960"/>
                      <a:pt x="2787" y="2961"/>
                      <a:pt x="2807" y="2972"/>
                    </a:cubicBezTo>
                    <a:cubicBezTo>
                      <a:pt x="2826" y="2984"/>
                      <a:pt x="2838" y="3005"/>
                      <a:pt x="2838" y="3028"/>
                    </a:cubicBezTo>
                    <a:lnTo>
                      <a:pt x="2838" y="3415"/>
                    </a:lnTo>
                    <a:cubicBezTo>
                      <a:pt x="2838" y="3429"/>
                      <a:pt x="2834" y="3442"/>
                      <a:pt x="2825" y="3454"/>
                    </a:cubicBezTo>
                    <a:close/>
                    <a:moveTo>
                      <a:pt x="2508" y="2684"/>
                    </a:moveTo>
                    <a:lnTo>
                      <a:pt x="2160" y="2684"/>
                    </a:lnTo>
                    <a:cubicBezTo>
                      <a:pt x="2083" y="2684"/>
                      <a:pt x="1934" y="2581"/>
                      <a:pt x="1776" y="2351"/>
                    </a:cubicBezTo>
                    <a:cubicBezTo>
                      <a:pt x="1651" y="2170"/>
                      <a:pt x="1564" y="1970"/>
                      <a:pt x="1544" y="1815"/>
                    </a:cubicBezTo>
                    <a:lnTo>
                      <a:pt x="1540" y="1788"/>
                    </a:lnTo>
                    <a:lnTo>
                      <a:pt x="1477" y="1747"/>
                    </a:lnTo>
                    <a:cubicBezTo>
                      <a:pt x="1459" y="1735"/>
                      <a:pt x="1448" y="1715"/>
                      <a:pt x="1448" y="1693"/>
                    </a:cubicBezTo>
                    <a:lnTo>
                      <a:pt x="1448" y="1586"/>
                    </a:lnTo>
                    <a:cubicBezTo>
                      <a:pt x="1448" y="1551"/>
                      <a:pt x="1477" y="1522"/>
                      <a:pt x="1513" y="1522"/>
                    </a:cubicBezTo>
                    <a:lnTo>
                      <a:pt x="1539" y="1522"/>
                    </a:lnTo>
                    <a:lnTo>
                      <a:pt x="1539" y="1406"/>
                    </a:lnTo>
                    <a:cubicBezTo>
                      <a:pt x="1539" y="1382"/>
                      <a:pt x="1553" y="1359"/>
                      <a:pt x="1575" y="1348"/>
                    </a:cubicBezTo>
                    <a:cubicBezTo>
                      <a:pt x="1664" y="1304"/>
                      <a:pt x="1841" y="1229"/>
                      <a:pt x="2024" y="1229"/>
                    </a:cubicBezTo>
                    <a:cubicBezTo>
                      <a:pt x="2170" y="1229"/>
                      <a:pt x="2292" y="1278"/>
                      <a:pt x="2384" y="1374"/>
                    </a:cubicBezTo>
                    <a:cubicBezTo>
                      <a:pt x="2500" y="1493"/>
                      <a:pt x="2633" y="1554"/>
                      <a:pt x="2781" y="1554"/>
                    </a:cubicBezTo>
                    <a:cubicBezTo>
                      <a:pt x="2864" y="1554"/>
                      <a:pt x="2950" y="1534"/>
                      <a:pt x="3037" y="1495"/>
                    </a:cubicBezTo>
                    <a:cubicBezTo>
                      <a:pt x="3057" y="1486"/>
                      <a:pt x="3080" y="1488"/>
                      <a:pt x="3098" y="1500"/>
                    </a:cubicBezTo>
                    <a:cubicBezTo>
                      <a:pt x="3107" y="1506"/>
                      <a:pt x="3114" y="1513"/>
                      <a:pt x="3119" y="1522"/>
                    </a:cubicBezTo>
                    <a:lnTo>
                      <a:pt x="3154" y="1522"/>
                    </a:lnTo>
                    <a:cubicBezTo>
                      <a:pt x="3190" y="1522"/>
                      <a:pt x="3219" y="1551"/>
                      <a:pt x="3219" y="1586"/>
                    </a:cubicBezTo>
                    <a:lnTo>
                      <a:pt x="3219" y="1693"/>
                    </a:lnTo>
                    <a:cubicBezTo>
                      <a:pt x="3219" y="1715"/>
                      <a:pt x="3208" y="1735"/>
                      <a:pt x="3190" y="1747"/>
                    </a:cubicBezTo>
                    <a:lnTo>
                      <a:pt x="3127" y="1788"/>
                    </a:lnTo>
                    <a:lnTo>
                      <a:pt x="3123" y="1815"/>
                    </a:lnTo>
                    <a:cubicBezTo>
                      <a:pt x="3103" y="1970"/>
                      <a:pt x="3016" y="2170"/>
                      <a:pt x="2891" y="2351"/>
                    </a:cubicBezTo>
                    <a:cubicBezTo>
                      <a:pt x="2733" y="2581"/>
                      <a:pt x="2584" y="2684"/>
                      <a:pt x="2508" y="2684"/>
                    </a:cubicBezTo>
                    <a:close/>
                    <a:moveTo>
                      <a:pt x="5035" y="4769"/>
                    </a:moveTo>
                    <a:cubicBezTo>
                      <a:pt x="4947" y="4852"/>
                      <a:pt x="4830" y="4908"/>
                      <a:pt x="4686" y="4935"/>
                    </a:cubicBezTo>
                    <a:lnTo>
                      <a:pt x="4686" y="5202"/>
                    </a:lnTo>
                    <a:cubicBezTo>
                      <a:pt x="4686" y="5293"/>
                      <a:pt x="4612" y="5367"/>
                      <a:pt x="4520" y="5367"/>
                    </a:cubicBezTo>
                    <a:cubicBezTo>
                      <a:pt x="4429" y="5367"/>
                      <a:pt x="4355" y="5293"/>
                      <a:pt x="4355" y="5202"/>
                    </a:cubicBezTo>
                    <a:lnTo>
                      <a:pt x="4355" y="4944"/>
                    </a:lnTo>
                    <a:cubicBezTo>
                      <a:pt x="4144" y="4915"/>
                      <a:pt x="3987" y="4824"/>
                      <a:pt x="3887" y="4672"/>
                    </a:cubicBezTo>
                    <a:cubicBezTo>
                      <a:pt x="3857" y="4626"/>
                      <a:pt x="3851" y="4567"/>
                      <a:pt x="3873" y="4516"/>
                    </a:cubicBezTo>
                    <a:cubicBezTo>
                      <a:pt x="3895" y="4465"/>
                      <a:pt x="3941" y="4428"/>
                      <a:pt x="3995" y="4418"/>
                    </a:cubicBezTo>
                    <a:lnTo>
                      <a:pt x="4121" y="4395"/>
                    </a:lnTo>
                    <a:cubicBezTo>
                      <a:pt x="4185" y="4383"/>
                      <a:pt x="4250" y="4410"/>
                      <a:pt x="4287" y="4463"/>
                    </a:cubicBezTo>
                    <a:cubicBezTo>
                      <a:pt x="4334" y="4531"/>
                      <a:pt x="4414" y="4565"/>
                      <a:pt x="4524" y="4565"/>
                    </a:cubicBezTo>
                    <a:cubicBezTo>
                      <a:pt x="4693" y="4565"/>
                      <a:pt x="4693" y="4498"/>
                      <a:pt x="4693" y="4475"/>
                    </a:cubicBezTo>
                    <a:cubicBezTo>
                      <a:pt x="4693" y="4443"/>
                      <a:pt x="4681" y="4420"/>
                      <a:pt x="4656" y="4402"/>
                    </a:cubicBezTo>
                    <a:cubicBezTo>
                      <a:pt x="4629" y="4384"/>
                      <a:pt x="4581" y="4367"/>
                      <a:pt x="4512" y="4353"/>
                    </a:cubicBezTo>
                    <a:cubicBezTo>
                      <a:pt x="4237" y="4297"/>
                      <a:pt x="4059" y="4224"/>
                      <a:pt x="3985" y="4136"/>
                    </a:cubicBezTo>
                    <a:cubicBezTo>
                      <a:pt x="3909" y="4048"/>
                      <a:pt x="3872" y="3948"/>
                      <a:pt x="3872" y="3833"/>
                    </a:cubicBezTo>
                    <a:cubicBezTo>
                      <a:pt x="3872" y="3707"/>
                      <a:pt x="3914" y="3595"/>
                      <a:pt x="3995" y="3497"/>
                    </a:cubicBezTo>
                    <a:cubicBezTo>
                      <a:pt x="4074" y="3403"/>
                      <a:pt x="4195" y="3342"/>
                      <a:pt x="4355" y="3316"/>
                    </a:cubicBezTo>
                    <a:lnTo>
                      <a:pt x="4355" y="3124"/>
                    </a:lnTo>
                    <a:cubicBezTo>
                      <a:pt x="4355" y="3033"/>
                      <a:pt x="4429" y="2959"/>
                      <a:pt x="4520" y="2959"/>
                    </a:cubicBezTo>
                    <a:cubicBezTo>
                      <a:pt x="4612" y="2959"/>
                      <a:pt x="4686" y="3033"/>
                      <a:pt x="4686" y="3124"/>
                    </a:cubicBezTo>
                    <a:lnTo>
                      <a:pt x="4686" y="3319"/>
                    </a:lnTo>
                    <a:cubicBezTo>
                      <a:pt x="4829" y="3346"/>
                      <a:pt x="4940" y="3404"/>
                      <a:pt x="5024" y="3494"/>
                    </a:cubicBezTo>
                    <a:cubicBezTo>
                      <a:pt x="5063" y="3536"/>
                      <a:pt x="5078" y="3595"/>
                      <a:pt x="5064" y="3650"/>
                    </a:cubicBezTo>
                    <a:cubicBezTo>
                      <a:pt x="5049" y="3705"/>
                      <a:pt x="5007" y="3749"/>
                      <a:pt x="4953" y="3766"/>
                    </a:cubicBezTo>
                    <a:lnTo>
                      <a:pt x="4867" y="3793"/>
                    </a:lnTo>
                    <a:cubicBezTo>
                      <a:pt x="4805" y="3812"/>
                      <a:pt x="4737" y="3793"/>
                      <a:pt x="4693" y="3744"/>
                    </a:cubicBezTo>
                    <a:cubicBezTo>
                      <a:pt x="4650" y="3696"/>
                      <a:pt x="4586" y="3671"/>
                      <a:pt x="4503" y="3671"/>
                    </a:cubicBezTo>
                    <a:cubicBezTo>
                      <a:pt x="4436" y="3671"/>
                      <a:pt x="4356" y="3687"/>
                      <a:pt x="4356" y="3763"/>
                    </a:cubicBezTo>
                    <a:cubicBezTo>
                      <a:pt x="4356" y="3785"/>
                      <a:pt x="4364" y="3804"/>
                      <a:pt x="4379" y="3819"/>
                    </a:cubicBezTo>
                    <a:cubicBezTo>
                      <a:pt x="4396" y="3835"/>
                      <a:pt x="4444" y="3852"/>
                      <a:pt x="4521" y="3870"/>
                    </a:cubicBezTo>
                    <a:cubicBezTo>
                      <a:pt x="4701" y="3909"/>
                      <a:pt x="4832" y="3945"/>
                      <a:pt x="4910" y="3976"/>
                    </a:cubicBezTo>
                    <a:cubicBezTo>
                      <a:pt x="4990" y="4008"/>
                      <a:pt x="5057" y="4062"/>
                      <a:pt x="5110" y="4137"/>
                    </a:cubicBezTo>
                    <a:cubicBezTo>
                      <a:pt x="5162" y="4213"/>
                      <a:pt x="5189" y="4303"/>
                      <a:pt x="5189" y="4406"/>
                    </a:cubicBezTo>
                    <a:cubicBezTo>
                      <a:pt x="5189" y="4550"/>
                      <a:pt x="5137" y="4672"/>
                      <a:pt x="5035" y="476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214" name="Group 214"/>
            <p:cNvGrpSpPr/>
            <p:nvPr/>
          </p:nvGrpSpPr>
          <p:grpSpPr>
            <a:xfrm rot="0">
              <a:off x="4846639" y="1786828"/>
              <a:ext cx="2498722" cy="1856179"/>
              <a:chOff x="4846639" y="1786828"/>
              <a:chExt cx="2498722" cy="1856179"/>
            </a:xfrm>
          </p:grpSpPr>
          <p:sp>
            <p:nvSpPr>
              <p:cNvPr id="215" name="TextBox 215"/>
              <p:cNvSpPr txBox="1"/>
              <p:nvPr>
                <p:custDataLst>
                  <p:tags r:id="rId210"/>
                </p:custDataLst>
              </p:nvPr>
            </p:nvSpPr>
            <p:spPr>
              <a:xfrm flipH="1">
                <a:off x="4846639" y="2703870"/>
                <a:ext cx="2498722" cy="939137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对现有工作不满或有明确晋升目标，愿意为更好机会投入资源。</a:t>
                </a:r>
                <a:endParaRPr lang="en-US" sz="1100"/>
              </a:p>
            </p:txBody>
          </p:sp>
          <p:sp>
            <p:nvSpPr>
              <p:cNvPr id="216" name="TextBox 216"/>
              <p:cNvSpPr txBox="1"/>
              <p:nvPr>
                <p:custDataLst>
                  <p:tags r:id="rId211"/>
                </p:custDataLst>
              </p:nvPr>
            </p:nvSpPr>
            <p:spPr>
              <a:xfrm flipH="1">
                <a:off x="4846639" y="2330940"/>
                <a:ext cx="2498722" cy="37293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职场转行者</a:t>
                </a:r>
                <a:endParaRPr lang="en-US" sz="1100"/>
              </a:p>
            </p:txBody>
          </p:sp>
          <p:sp>
            <p:nvSpPr>
              <p:cNvPr id="217" name="AutoShape 217"/>
              <p:cNvSpPr/>
              <p:nvPr>
                <p:custDataLst>
                  <p:tags r:id="rId212"/>
                </p:custDataLst>
              </p:nvPr>
            </p:nvSpPr>
            <p:spPr>
              <a:xfrm>
                <a:off x="5937120" y="1786828"/>
                <a:ext cx="317761" cy="327587"/>
              </a:xfrm>
              <a:custGeom>
                <a:avLst/>
                <a:gdLst/>
                <a:ahLst/>
                <a:cxnLst/>
                <a:rect l="l" t="t" r="r" b="b"/>
                <a:pathLst>
                  <a:path w="5499" h="5677">
                    <a:moveTo>
                      <a:pt x="5363" y="3960"/>
                    </a:moveTo>
                    <a:cubicBezTo>
                      <a:pt x="5342" y="3930"/>
                      <a:pt x="5320" y="3902"/>
                      <a:pt x="5296" y="3876"/>
                    </a:cubicBezTo>
                    <a:cubicBezTo>
                      <a:pt x="5326" y="3832"/>
                      <a:pt x="5349" y="3782"/>
                      <a:pt x="5363" y="3729"/>
                    </a:cubicBezTo>
                    <a:cubicBezTo>
                      <a:pt x="5405" y="3570"/>
                      <a:pt x="5363" y="3403"/>
                      <a:pt x="5251" y="3283"/>
                    </a:cubicBezTo>
                    <a:cubicBezTo>
                      <a:pt x="5178" y="3205"/>
                      <a:pt x="5093" y="3143"/>
                      <a:pt x="4995" y="3096"/>
                    </a:cubicBezTo>
                    <a:cubicBezTo>
                      <a:pt x="4980" y="2847"/>
                      <a:pt x="4773" y="2649"/>
                      <a:pt x="4520" y="2649"/>
                    </a:cubicBezTo>
                    <a:cubicBezTo>
                      <a:pt x="4272" y="2649"/>
                      <a:pt x="4067" y="2841"/>
                      <a:pt x="4047" y="3085"/>
                    </a:cubicBezTo>
                    <a:cubicBezTo>
                      <a:pt x="4017" y="3098"/>
                      <a:pt x="3989" y="3112"/>
                      <a:pt x="3962" y="3128"/>
                    </a:cubicBezTo>
                    <a:lnTo>
                      <a:pt x="3673" y="3040"/>
                    </a:lnTo>
                    <a:cubicBezTo>
                      <a:pt x="3673" y="3040"/>
                      <a:pt x="3673" y="3041"/>
                      <a:pt x="3673" y="3041"/>
                    </a:cubicBezTo>
                    <a:lnTo>
                      <a:pt x="3133" y="2877"/>
                    </a:lnTo>
                    <a:cubicBezTo>
                      <a:pt x="3116" y="2825"/>
                      <a:pt x="3077" y="2779"/>
                      <a:pt x="3023" y="2741"/>
                    </a:cubicBezTo>
                    <a:cubicBezTo>
                      <a:pt x="3083" y="2675"/>
                      <a:pt x="3133" y="2608"/>
                      <a:pt x="3171" y="2553"/>
                    </a:cubicBezTo>
                    <a:cubicBezTo>
                      <a:pt x="3261" y="2421"/>
                      <a:pt x="3337" y="2280"/>
                      <a:pt x="3389" y="2144"/>
                    </a:cubicBezTo>
                    <a:cubicBezTo>
                      <a:pt x="3414" y="2087"/>
                      <a:pt x="3436" y="2029"/>
                      <a:pt x="3454" y="1972"/>
                    </a:cubicBezTo>
                    <a:cubicBezTo>
                      <a:pt x="3524" y="1914"/>
                      <a:pt x="3565" y="1826"/>
                      <a:pt x="3565" y="1734"/>
                    </a:cubicBezTo>
                    <a:lnTo>
                      <a:pt x="3565" y="1508"/>
                    </a:lnTo>
                    <a:cubicBezTo>
                      <a:pt x="3565" y="1443"/>
                      <a:pt x="3545" y="1380"/>
                      <a:pt x="3507" y="1328"/>
                    </a:cubicBezTo>
                    <a:lnTo>
                      <a:pt x="3507" y="1010"/>
                    </a:lnTo>
                    <a:cubicBezTo>
                      <a:pt x="3507" y="453"/>
                      <a:pt x="3054" y="0"/>
                      <a:pt x="2497" y="0"/>
                    </a:cubicBezTo>
                    <a:lnTo>
                      <a:pt x="2170" y="0"/>
                    </a:lnTo>
                    <a:cubicBezTo>
                      <a:pt x="1613" y="0"/>
                      <a:pt x="1160" y="453"/>
                      <a:pt x="1160" y="1010"/>
                    </a:cubicBezTo>
                    <a:lnTo>
                      <a:pt x="1160" y="1328"/>
                    </a:lnTo>
                    <a:cubicBezTo>
                      <a:pt x="1122" y="1380"/>
                      <a:pt x="1102" y="1444"/>
                      <a:pt x="1102" y="1508"/>
                    </a:cubicBezTo>
                    <a:lnTo>
                      <a:pt x="1102" y="1734"/>
                    </a:lnTo>
                    <a:cubicBezTo>
                      <a:pt x="1102" y="1826"/>
                      <a:pt x="1143" y="1914"/>
                      <a:pt x="1213" y="1972"/>
                    </a:cubicBezTo>
                    <a:cubicBezTo>
                      <a:pt x="1231" y="2029"/>
                      <a:pt x="1253" y="2087"/>
                      <a:pt x="1279" y="2144"/>
                    </a:cubicBezTo>
                    <a:cubicBezTo>
                      <a:pt x="1331" y="2280"/>
                      <a:pt x="1406" y="2421"/>
                      <a:pt x="1496" y="2552"/>
                    </a:cubicBezTo>
                    <a:cubicBezTo>
                      <a:pt x="1534" y="2608"/>
                      <a:pt x="1584" y="2674"/>
                      <a:pt x="1644" y="2740"/>
                    </a:cubicBezTo>
                    <a:cubicBezTo>
                      <a:pt x="1590" y="2779"/>
                      <a:pt x="1551" y="2825"/>
                      <a:pt x="1534" y="2877"/>
                    </a:cubicBezTo>
                    <a:lnTo>
                      <a:pt x="814" y="3095"/>
                    </a:lnTo>
                    <a:cubicBezTo>
                      <a:pt x="307" y="3241"/>
                      <a:pt x="3" y="5432"/>
                      <a:pt x="3" y="5432"/>
                    </a:cubicBezTo>
                    <a:lnTo>
                      <a:pt x="3" y="5432"/>
                    </a:lnTo>
                    <a:cubicBezTo>
                      <a:pt x="1" y="5442"/>
                      <a:pt x="0" y="5452"/>
                      <a:pt x="0" y="5462"/>
                    </a:cubicBezTo>
                    <a:cubicBezTo>
                      <a:pt x="0" y="5567"/>
                      <a:pt x="86" y="5653"/>
                      <a:pt x="191" y="5653"/>
                    </a:cubicBezTo>
                    <a:lnTo>
                      <a:pt x="4372" y="5653"/>
                    </a:lnTo>
                    <a:cubicBezTo>
                      <a:pt x="4418" y="5668"/>
                      <a:pt x="4468" y="5677"/>
                      <a:pt x="4520" y="5677"/>
                    </a:cubicBezTo>
                    <a:cubicBezTo>
                      <a:pt x="4783" y="5677"/>
                      <a:pt x="4996" y="5464"/>
                      <a:pt x="4996" y="5202"/>
                    </a:cubicBezTo>
                    <a:lnTo>
                      <a:pt x="4996" y="5161"/>
                    </a:lnTo>
                    <a:cubicBezTo>
                      <a:pt x="5091" y="5119"/>
                      <a:pt x="5175" y="5063"/>
                      <a:pt x="5248" y="4994"/>
                    </a:cubicBezTo>
                    <a:cubicBezTo>
                      <a:pt x="5412" y="4838"/>
                      <a:pt x="5499" y="4635"/>
                      <a:pt x="5499" y="4406"/>
                    </a:cubicBezTo>
                    <a:cubicBezTo>
                      <a:pt x="5499" y="4239"/>
                      <a:pt x="5453" y="4089"/>
                      <a:pt x="5363" y="3960"/>
                    </a:cubicBezTo>
                    <a:close/>
                    <a:moveTo>
                      <a:pt x="2140" y="3663"/>
                    </a:moveTo>
                    <a:cubicBezTo>
                      <a:pt x="2137" y="3689"/>
                      <a:pt x="2118" y="3711"/>
                      <a:pt x="2093" y="3718"/>
                    </a:cubicBezTo>
                    <a:cubicBezTo>
                      <a:pt x="2087" y="3720"/>
                      <a:pt x="2081" y="3721"/>
                      <a:pt x="2075" y="3721"/>
                    </a:cubicBezTo>
                    <a:cubicBezTo>
                      <a:pt x="2055" y="3721"/>
                      <a:pt x="2036" y="3711"/>
                      <a:pt x="2024" y="3695"/>
                    </a:cubicBezTo>
                    <a:lnTo>
                      <a:pt x="1842" y="3454"/>
                    </a:lnTo>
                    <a:cubicBezTo>
                      <a:pt x="1833" y="3442"/>
                      <a:pt x="1829" y="3429"/>
                      <a:pt x="1829" y="3415"/>
                    </a:cubicBezTo>
                    <a:lnTo>
                      <a:pt x="1829" y="3028"/>
                    </a:lnTo>
                    <a:cubicBezTo>
                      <a:pt x="1829" y="3005"/>
                      <a:pt x="1841" y="2984"/>
                      <a:pt x="1860" y="2972"/>
                    </a:cubicBezTo>
                    <a:cubicBezTo>
                      <a:pt x="1880" y="2961"/>
                      <a:pt x="1904" y="2960"/>
                      <a:pt x="1924" y="2970"/>
                    </a:cubicBezTo>
                    <a:cubicBezTo>
                      <a:pt x="1977" y="2998"/>
                      <a:pt x="2030" y="3017"/>
                      <a:pt x="2081" y="3026"/>
                    </a:cubicBezTo>
                    <a:cubicBezTo>
                      <a:pt x="2112" y="3032"/>
                      <a:pt x="2135" y="3059"/>
                      <a:pt x="2135" y="3090"/>
                    </a:cubicBezTo>
                    <a:lnTo>
                      <a:pt x="2135" y="3252"/>
                    </a:lnTo>
                    <a:cubicBezTo>
                      <a:pt x="2144" y="3255"/>
                      <a:pt x="2152" y="3261"/>
                      <a:pt x="2159" y="3268"/>
                    </a:cubicBezTo>
                    <a:cubicBezTo>
                      <a:pt x="2171" y="3282"/>
                      <a:pt x="2177" y="3300"/>
                      <a:pt x="2175" y="3318"/>
                    </a:cubicBezTo>
                    <a:lnTo>
                      <a:pt x="2140" y="3663"/>
                    </a:lnTo>
                    <a:close/>
                    <a:moveTo>
                      <a:pt x="2825" y="3454"/>
                    </a:moveTo>
                    <a:lnTo>
                      <a:pt x="2644" y="3695"/>
                    </a:lnTo>
                    <a:cubicBezTo>
                      <a:pt x="2631" y="3711"/>
                      <a:pt x="2612" y="3721"/>
                      <a:pt x="2592" y="3721"/>
                    </a:cubicBezTo>
                    <a:cubicBezTo>
                      <a:pt x="2586" y="3721"/>
                      <a:pt x="2580" y="3720"/>
                      <a:pt x="2574" y="3718"/>
                    </a:cubicBezTo>
                    <a:cubicBezTo>
                      <a:pt x="2549" y="3711"/>
                      <a:pt x="2530" y="3689"/>
                      <a:pt x="2527" y="3662"/>
                    </a:cubicBezTo>
                    <a:lnTo>
                      <a:pt x="2492" y="3318"/>
                    </a:lnTo>
                    <a:cubicBezTo>
                      <a:pt x="2490" y="3300"/>
                      <a:pt x="2496" y="3282"/>
                      <a:pt x="2508" y="3268"/>
                    </a:cubicBezTo>
                    <a:cubicBezTo>
                      <a:pt x="2515" y="3261"/>
                      <a:pt x="2523" y="3255"/>
                      <a:pt x="2533" y="3252"/>
                    </a:cubicBezTo>
                    <a:lnTo>
                      <a:pt x="2533" y="3090"/>
                    </a:lnTo>
                    <a:cubicBezTo>
                      <a:pt x="2533" y="3059"/>
                      <a:pt x="2555" y="3032"/>
                      <a:pt x="2586" y="3026"/>
                    </a:cubicBezTo>
                    <a:cubicBezTo>
                      <a:pt x="2637" y="3017"/>
                      <a:pt x="2690" y="2998"/>
                      <a:pt x="2743" y="2971"/>
                    </a:cubicBezTo>
                    <a:cubicBezTo>
                      <a:pt x="2763" y="2960"/>
                      <a:pt x="2787" y="2961"/>
                      <a:pt x="2807" y="2972"/>
                    </a:cubicBezTo>
                    <a:cubicBezTo>
                      <a:pt x="2826" y="2984"/>
                      <a:pt x="2838" y="3005"/>
                      <a:pt x="2838" y="3028"/>
                    </a:cubicBezTo>
                    <a:lnTo>
                      <a:pt x="2838" y="3415"/>
                    </a:lnTo>
                    <a:cubicBezTo>
                      <a:pt x="2838" y="3429"/>
                      <a:pt x="2834" y="3442"/>
                      <a:pt x="2825" y="3454"/>
                    </a:cubicBezTo>
                    <a:close/>
                    <a:moveTo>
                      <a:pt x="2508" y="2684"/>
                    </a:moveTo>
                    <a:lnTo>
                      <a:pt x="2160" y="2684"/>
                    </a:lnTo>
                    <a:cubicBezTo>
                      <a:pt x="2083" y="2684"/>
                      <a:pt x="1934" y="2581"/>
                      <a:pt x="1776" y="2351"/>
                    </a:cubicBezTo>
                    <a:cubicBezTo>
                      <a:pt x="1651" y="2170"/>
                      <a:pt x="1564" y="1970"/>
                      <a:pt x="1544" y="1815"/>
                    </a:cubicBezTo>
                    <a:lnTo>
                      <a:pt x="1540" y="1788"/>
                    </a:lnTo>
                    <a:lnTo>
                      <a:pt x="1477" y="1747"/>
                    </a:lnTo>
                    <a:cubicBezTo>
                      <a:pt x="1459" y="1735"/>
                      <a:pt x="1448" y="1715"/>
                      <a:pt x="1448" y="1693"/>
                    </a:cubicBezTo>
                    <a:lnTo>
                      <a:pt x="1448" y="1586"/>
                    </a:lnTo>
                    <a:cubicBezTo>
                      <a:pt x="1448" y="1551"/>
                      <a:pt x="1477" y="1522"/>
                      <a:pt x="1513" y="1522"/>
                    </a:cubicBezTo>
                    <a:lnTo>
                      <a:pt x="1539" y="1522"/>
                    </a:lnTo>
                    <a:lnTo>
                      <a:pt x="1539" y="1406"/>
                    </a:lnTo>
                    <a:cubicBezTo>
                      <a:pt x="1539" y="1382"/>
                      <a:pt x="1553" y="1359"/>
                      <a:pt x="1575" y="1348"/>
                    </a:cubicBezTo>
                    <a:cubicBezTo>
                      <a:pt x="1664" y="1304"/>
                      <a:pt x="1841" y="1229"/>
                      <a:pt x="2024" y="1229"/>
                    </a:cubicBezTo>
                    <a:cubicBezTo>
                      <a:pt x="2170" y="1229"/>
                      <a:pt x="2292" y="1278"/>
                      <a:pt x="2384" y="1374"/>
                    </a:cubicBezTo>
                    <a:cubicBezTo>
                      <a:pt x="2500" y="1493"/>
                      <a:pt x="2633" y="1554"/>
                      <a:pt x="2781" y="1554"/>
                    </a:cubicBezTo>
                    <a:cubicBezTo>
                      <a:pt x="2864" y="1554"/>
                      <a:pt x="2950" y="1534"/>
                      <a:pt x="3037" y="1495"/>
                    </a:cubicBezTo>
                    <a:cubicBezTo>
                      <a:pt x="3057" y="1486"/>
                      <a:pt x="3080" y="1488"/>
                      <a:pt x="3098" y="1500"/>
                    </a:cubicBezTo>
                    <a:cubicBezTo>
                      <a:pt x="3107" y="1506"/>
                      <a:pt x="3114" y="1513"/>
                      <a:pt x="3119" y="1522"/>
                    </a:cubicBezTo>
                    <a:lnTo>
                      <a:pt x="3154" y="1522"/>
                    </a:lnTo>
                    <a:cubicBezTo>
                      <a:pt x="3190" y="1522"/>
                      <a:pt x="3219" y="1551"/>
                      <a:pt x="3219" y="1586"/>
                    </a:cubicBezTo>
                    <a:lnTo>
                      <a:pt x="3219" y="1693"/>
                    </a:lnTo>
                    <a:cubicBezTo>
                      <a:pt x="3219" y="1715"/>
                      <a:pt x="3208" y="1735"/>
                      <a:pt x="3190" y="1747"/>
                    </a:cubicBezTo>
                    <a:lnTo>
                      <a:pt x="3127" y="1788"/>
                    </a:lnTo>
                    <a:lnTo>
                      <a:pt x="3123" y="1815"/>
                    </a:lnTo>
                    <a:cubicBezTo>
                      <a:pt x="3103" y="1970"/>
                      <a:pt x="3016" y="2170"/>
                      <a:pt x="2891" y="2351"/>
                    </a:cubicBezTo>
                    <a:cubicBezTo>
                      <a:pt x="2733" y="2581"/>
                      <a:pt x="2584" y="2684"/>
                      <a:pt x="2508" y="2684"/>
                    </a:cubicBezTo>
                    <a:close/>
                    <a:moveTo>
                      <a:pt x="5035" y="4769"/>
                    </a:moveTo>
                    <a:cubicBezTo>
                      <a:pt x="4947" y="4852"/>
                      <a:pt x="4830" y="4908"/>
                      <a:pt x="4686" y="4935"/>
                    </a:cubicBezTo>
                    <a:lnTo>
                      <a:pt x="4686" y="5202"/>
                    </a:lnTo>
                    <a:cubicBezTo>
                      <a:pt x="4686" y="5293"/>
                      <a:pt x="4612" y="5367"/>
                      <a:pt x="4520" y="5367"/>
                    </a:cubicBezTo>
                    <a:cubicBezTo>
                      <a:pt x="4429" y="5367"/>
                      <a:pt x="4355" y="5293"/>
                      <a:pt x="4355" y="5202"/>
                    </a:cubicBezTo>
                    <a:lnTo>
                      <a:pt x="4355" y="4944"/>
                    </a:lnTo>
                    <a:cubicBezTo>
                      <a:pt x="4144" y="4915"/>
                      <a:pt x="3987" y="4824"/>
                      <a:pt x="3887" y="4672"/>
                    </a:cubicBezTo>
                    <a:cubicBezTo>
                      <a:pt x="3857" y="4626"/>
                      <a:pt x="3851" y="4567"/>
                      <a:pt x="3873" y="4516"/>
                    </a:cubicBezTo>
                    <a:cubicBezTo>
                      <a:pt x="3895" y="4465"/>
                      <a:pt x="3941" y="4428"/>
                      <a:pt x="3995" y="4418"/>
                    </a:cubicBezTo>
                    <a:lnTo>
                      <a:pt x="4121" y="4395"/>
                    </a:lnTo>
                    <a:cubicBezTo>
                      <a:pt x="4185" y="4383"/>
                      <a:pt x="4250" y="4410"/>
                      <a:pt x="4287" y="4463"/>
                    </a:cubicBezTo>
                    <a:cubicBezTo>
                      <a:pt x="4334" y="4531"/>
                      <a:pt x="4414" y="4565"/>
                      <a:pt x="4524" y="4565"/>
                    </a:cubicBezTo>
                    <a:cubicBezTo>
                      <a:pt x="4693" y="4565"/>
                      <a:pt x="4693" y="4498"/>
                      <a:pt x="4693" y="4475"/>
                    </a:cubicBezTo>
                    <a:cubicBezTo>
                      <a:pt x="4693" y="4443"/>
                      <a:pt x="4681" y="4420"/>
                      <a:pt x="4656" y="4402"/>
                    </a:cubicBezTo>
                    <a:cubicBezTo>
                      <a:pt x="4629" y="4384"/>
                      <a:pt x="4581" y="4367"/>
                      <a:pt x="4512" y="4353"/>
                    </a:cubicBezTo>
                    <a:cubicBezTo>
                      <a:pt x="4237" y="4297"/>
                      <a:pt x="4059" y="4224"/>
                      <a:pt x="3985" y="4136"/>
                    </a:cubicBezTo>
                    <a:cubicBezTo>
                      <a:pt x="3909" y="4048"/>
                      <a:pt x="3872" y="3948"/>
                      <a:pt x="3872" y="3833"/>
                    </a:cubicBezTo>
                    <a:cubicBezTo>
                      <a:pt x="3872" y="3707"/>
                      <a:pt x="3914" y="3595"/>
                      <a:pt x="3995" y="3497"/>
                    </a:cubicBezTo>
                    <a:cubicBezTo>
                      <a:pt x="4074" y="3403"/>
                      <a:pt x="4195" y="3342"/>
                      <a:pt x="4355" y="3316"/>
                    </a:cubicBezTo>
                    <a:lnTo>
                      <a:pt x="4355" y="3124"/>
                    </a:lnTo>
                    <a:cubicBezTo>
                      <a:pt x="4355" y="3033"/>
                      <a:pt x="4429" y="2959"/>
                      <a:pt x="4520" y="2959"/>
                    </a:cubicBezTo>
                    <a:cubicBezTo>
                      <a:pt x="4612" y="2959"/>
                      <a:pt x="4686" y="3033"/>
                      <a:pt x="4686" y="3124"/>
                    </a:cubicBezTo>
                    <a:lnTo>
                      <a:pt x="4686" y="3319"/>
                    </a:lnTo>
                    <a:cubicBezTo>
                      <a:pt x="4829" y="3346"/>
                      <a:pt x="4940" y="3404"/>
                      <a:pt x="5024" y="3494"/>
                    </a:cubicBezTo>
                    <a:cubicBezTo>
                      <a:pt x="5063" y="3536"/>
                      <a:pt x="5078" y="3595"/>
                      <a:pt x="5064" y="3650"/>
                    </a:cubicBezTo>
                    <a:cubicBezTo>
                      <a:pt x="5049" y="3705"/>
                      <a:pt x="5007" y="3749"/>
                      <a:pt x="4953" y="3766"/>
                    </a:cubicBezTo>
                    <a:lnTo>
                      <a:pt x="4867" y="3793"/>
                    </a:lnTo>
                    <a:cubicBezTo>
                      <a:pt x="4805" y="3812"/>
                      <a:pt x="4737" y="3793"/>
                      <a:pt x="4693" y="3744"/>
                    </a:cubicBezTo>
                    <a:cubicBezTo>
                      <a:pt x="4650" y="3696"/>
                      <a:pt x="4586" y="3671"/>
                      <a:pt x="4503" y="3671"/>
                    </a:cubicBezTo>
                    <a:cubicBezTo>
                      <a:pt x="4436" y="3671"/>
                      <a:pt x="4356" y="3687"/>
                      <a:pt x="4356" y="3763"/>
                    </a:cubicBezTo>
                    <a:cubicBezTo>
                      <a:pt x="4356" y="3785"/>
                      <a:pt x="4364" y="3804"/>
                      <a:pt x="4379" y="3819"/>
                    </a:cubicBezTo>
                    <a:cubicBezTo>
                      <a:pt x="4396" y="3835"/>
                      <a:pt x="4444" y="3852"/>
                      <a:pt x="4521" y="3870"/>
                    </a:cubicBezTo>
                    <a:cubicBezTo>
                      <a:pt x="4701" y="3909"/>
                      <a:pt x="4832" y="3945"/>
                      <a:pt x="4910" y="3976"/>
                    </a:cubicBezTo>
                    <a:cubicBezTo>
                      <a:pt x="4990" y="4008"/>
                      <a:pt x="5057" y="4062"/>
                      <a:pt x="5110" y="4137"/>
                    </a:cubicBezTo>
                    <a:cubicBezTo>
                      <a:pt x="5162" y="4213"/>
                      <a:pt x="5189" y="4303"/>
                      <a:pt x="5189" y="4406"/>
                    </a:cubicBezTo>
                    <a:cubicBezTo>
                      <a:pt x="5189" y="4550"/>
                      <a:pt x="5137" y="4672"/>
                      <a:pt x="5035" y="476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218" name="Group 218"/>
            <p:cNvGrpSpPr/>
            <p:nvPr/>
          </p:nvGrpSpPr>
          <p:grpSpPr>
            <a:xfrm rot="0">
              <a:off x="8206995" y="1786828"/>
              <a:ext cx="2498722" cy="1856179"/>
              <a:chOff x="8206995" y="1786828"/>
              <a:chExt cx="2498722" cy="1856179"/>
            </a:xfrm>
          </p:grpSpPr>
          <p:sp>
            <p:nvSpPr>
              <p:cNvPr id="219" name="TextBox 219"/>
              <p:cNvSpPr txBox="1"/>
              <p:nvPr>
                <p:custDataLst>
                  <p:tags r:id="rId213"/>
                </p:custDataLst>
              </p:nvPr>
            </p:nvSpPr>
            <p:spPr>
              <a:xfrm flipH="1">
                <a:off x="8206995" y="2703870"/>
                <a:ext cx="2498722" cy="939137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面临较大经济和时间压力，对求职服务效果和性价比高度敏感。</a:t>
                </a:r>
                <a:endParaRPr lang="en-US" sz="1100"/>
              </a:p>
            </p:txBody>
          </p:sp>
          <p:sp>
            <p:nvSpPr>
              <p:cNvPr id="220" name="TextBox 220"/>
              <p:cNvSpPr txBox="1"/>
              <p:nvPr>
                <p:custDataLst>
                  <p:tags r:id="rId214"/>
                </p:custDataLst>
              </p:nvPr>
            </p:nvSpPr>
            <p:spPr>
              <a:xfrm flipH="1">
                <a:off x="8206995" y="2330940"/>
                <a:ext cx="2498722" cy="37293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被动离职者</a:t>
                </a:r>
                <a:endParaRPr lang="en-US" sz="1100"/>
              </a:p>
            </p:txBody>
          </p:sp>
          <p:sp>
            <p:nvSpPr>
              <p:cNvPr id="221" name="AutoShape 221"/>
              <p:cNvSpPr/>
              <p:nvPr>
                <p:custDataLst>
                  <p:tags r:id="rId215"/>
                </p:custDataLst>
              </p:nvPr>
            </p:nvSpPr>
            <p:spPr>
              <a:xfrm>
                <a:off x="9297476" y="1786828"/>
                <a:ext cx="317761" cy="327587"/>
              </a:xfrm>
              <a:custGeom>
                <a:avLst/>
                <a:gdLst/>
                <a:ahLst/>
                <a:cxnLst/>
                <a:rect l="l" t="t" r="r" b="b"/>
                <a:pathLst>
                  <a:path w="5499" h="5677">
                    <a:moveTo>
                      <a:pt x="5363" y="3960"/>
                    </a:moveTo>
                    <a:cubicBezTo>
                      <a:pt x="5342" y="3930"/>
                      <a:pt x="5320" y="3902"/>
                      <a:pt x="5296" y="3876"/>
                    </a:cubicBezTo>
                    <a:cubicBezTo>
                      <a:pt x="5326" y="3832"/>
                      <a:pt x="5349" y="3782"/>
                      <a:pt x="5363" y="3729"/>
                    </a:cubicBezTo>
                    <a:cubicBezTo>
                      <a:pt x="5405" y="3570"/>
                      <a:pt x="5363" y="3403"/>
                      <a:pt x="5251" y="3283"/>
                    </a:cubicBezTo>
                    <a:cubicBezTo>
                      <a:pt x="5178" y="3205"/>
                      <a:pt x="5093" y="3143"/>
                      <a:pt x="4995" y="3096"/>
                    </a:cubicBezTo>
                    <a:cubicBezTo>
                      <a:pt x="4980" y="2847"/>
                      <a:pt x="4773" y="2649"/>
                      <a:pt x="4520" y="2649"/>
                    </a:cubicBezTo>
                    <a:cubicBezTo>
                      <a:pt x="4272" y="2649"/>
                      <a:pt x="4067" y="2841"/>
                      <a:pt x="4047" y="3085"/>
                    </a:cubicBezTo>
                    <a:cubicBezTo>
                      <a:pt x="4017" y="3098"/>
                      <a:pt x="3989" y="3112"/>
                      <a:pt x="3962" y="3128"/>
                    </a:cubicBezTo>
                    <a:lnTo>
                      <a:pt x="3673" y="3040"/>
                    </a:lnTo>
                    <a:cubicBezTo>
                      <a:pt x="3673" y="3040"/>
                      <a:pt x="3673" y="3041"/>
                      <a:pt x="3673" y="3041"/>
                    </a:cubicBezTo>
                    <a:lnTo>
                      <a:pt x="3133" y="2877"/>
                    </a:lnTo>
                    <a:cubicBezTo>
                      <a:pt x="3116" y="2825"/>
                      <a:pt x="3077" y="2779"/>
                      <a:pt x="3023" y="2741"/>
                    </a:cubicBezTo>
                    <a:cubicBezTo>
                      <a:pt x="3083" y="2675"/>
                      <a:pt x="3133" y="2608"/>
                      <a:pt x="3171" y="2553"/>
                    </a:cubicBezTo>
                    <a:cubicBezTo>
                      <a:pt x="3261" y="2421"/>
                      <a:pt x="3337" y="2280"/>
                      <a:pt x="3389" y="2144"/>
                    </a:cubicBezTo>
                    <a:cubicBezTo>
                      <a:pt x="3414" y="2087"/>
                      <a:pt x="3436" y="2029"/>
                      <a:pt x="3454" y="1972"/>
                    </a:cubicBezTo>
                    <a:cubicBezTo>
                      <a:pt x="3524" y="1914"/>
                      <a:pt x="3565" y="1826"/>
                      <a:pt x="3565" y="1734"/>
                    </a:cubicBezTo>
                    <a:lnTo>
                      <a:pt x="3565" y="1508"/>
                    </a:lnTo>
                    <a:cubicBezTo>
                      <a:pt x="3565" y="1443"/>
                      <a:pt x="3545" y="1380"/>
                      <a:pt x="3507" y="1328"/>
                    </a:cubicBezTo>
                    <a:lnTo>
                      <a:pt x="3507" y="1010"/>
                    </a:lnTo>
                    <a:cubicBezTo>
                      <a:pt x="3507" y="453"/>
                      <a:pt x="3054" y="0"/>
                      <a:pt x="2497" y="0"/>
                    </a:cubicBezTo>
                    <a:lnTo>
                      <a:pt x="2170" y="0"/>
                    </a:lnTo>
                    <a:cubicBezTo>
                      <a:pt x="1613" y="0"/>
                      <a:pt x="1160" y="453"/>
                      <a:pt x="1160" y="1010"/>
                    </a:cubicBezTo>
                    <a:lnTo>
                      <a:pt x="1160" y="1328"/>
                    </a:lnTo>
                    <a:cubicBezTo>
                      <a:pt x="1122" y="1380"/>
                      <a:pt x="1102" y="1444"/>
                      <a:pt x="1102" y="1508"/>
                    </a:cubicBezTo>
                    <a:lnTo>
                      <a:pt x="1102" y="1734"/>
                    </a:lnTo>
                    <a:cubicBezTo>
                      <a:pt x="1102" y="1826"/>
                      <a:pt x="1143" y="1914"/>
                      <a:pt x="1213" y="1972"/>
                    </a:cubicBezTo>
                    <a:cubicBezTo>
                      <a:pt x="1231" y="2029"/>
                      <a:pt x="1253" y="2087"/>
                      <a:pt x="1279" y="2144"/>
                    </a:cubicBezTo>
                    <a:cubicBezTo>
                      <a:pt x="1331" y="2280"/>
                      <a:pt x="1406" y="2421"/>
                      <a:pt x="1496" y="2552"/>
                    </a:cubicBezTo>
                    <a:cubicBezTo>
                      <a:pt x="1534" y="2608"/>
                      <a:pt x="1584" y="2674"/>
                      <a:pt x="1644" y="2740"/>
                    </a:cubicBezTo>
                    <a:cubicBezTo>
                      <a:pt x="1590" y="2779"/>
                      <a:pt x="1551" y="2825"/>
                      <a:pt x="1534" y="2877"/>
                    </a:cubicBezTo>
                    <a:lnTo>
                      <a:pt x="814" y="3095"/>
                    </a:lnTo>
                    <a:cubicBezTo>
                      <a:pt x="307" y="3241"/>
                      <a:pt x="3" y="5432"/>
                      <a:pt x="3" y="5432"/>
                    </a:cubicBezTo>
                    <a:lnTo>
                      <a:pt x="3" y="5432"/>
                    </a:lnTo>
                    <a:cubicBezTo>
                      <a:pt x="1" y="5442"/>
                      <a:pt x="0" y="5452"/>
                      <a:pt x="0" y="5462"/>
                    </a:cubicBezTo>
                    <a:cubicBezTo>
                      <a:pt x="0" y="5567"/>
                      <a:pt x="86" y="5653"/>
                      <a:pt x="191" y="5653"/>
                    </a:cubicBezTo>
                    <a:lnTo>
                      <a:pt x="4372" y="5653"/>
                    </a:lnTo>
                    <a:cubicBezTo>
                      <a:pt x="4418" y="5668"/>
                      <a:pt x="4468" y="5677"/>
                      <a:pt x="4520" y="5677"/>
                    </a:cubicBezTo>
                    <a:cubicBezTo>
                      <a:pt x="4783" y="5677"/>
                      <a:pt x="4996" y="5464"/>
                      <a:pt x="4996" y="5202"/>
                    </a:cubicBezTo>
                    <a:lnTo>
                      <a:pt x="4996" y="5161"/>
                    </a:lnTo>
                    <a:cubicBezTo>
                      <a:pt x="5091" y="5119"/>
                      <a:pt x="5175" y="5063"/>
                      <a:pt x="5248" y="4994"/>
                    </a:cubicBezTo>
                    <a:cubicBezTo>
                      <a:pt x="5412" y="4838"/>
                      <a:pt x="5499" y="4635"/>
                      <a:pt x="5499" y="4406"/>
                    </a:cubicBezTo>
                    <a:cubicBezTo>
                      <a:pt x="5499" y="4239"/>
                      <a:pt x="5453" y="4089"/>
                      <a:pt x="5363" y="3960"/>
                    </a:cubicBezTo>
                    <a:close/>
                    <a:moveTo>
                      <a:pt x="2140" y="3663"/>
                    </a:moveTo>
                    <a:cubicBezTo>
                      <a:pt x="2137" y="3689"/>
                      <a:pt x="2118" y="3711"/>
                      <a:pt x="2093" y="3718"/>
                    </a:cubicBezTo>
                    <a:cubicBezTo>
                      <a:pt x="2087" y="3720"/>
                      <a:pt x="2081" y="3721"/>
                      <a:pt x="2075" y="3721"/>
                    </a:cubicBezTo>
                    <a:cubicBezTo>
                      <a:pt x="2055" y="3721"/>
                      <a:pt x="2036" y="3711"/>
                      <a:pt x="2024" y="3695"/>
                    </a:cubicBezTo>
                    <a:lnTo>
                      <a:pt x="1842" y="3454"/>
                    </a:lnTo>
                    <a:cubicBezTo>
                      <a:pt x="1833" y="3442"/>
                      <a:pt x="1829" y="3429"/>
                      <a:pt x="1829" y="3415"/>
                    </a:cubicBezTo>
                    <a:lnTo>
                      <a:pt x="1829" y="3028"/>
                    </a:lnTo>
                    <a:cubicBezTo>
                      <a:pt x="1829" y="3005"/>
                      <a:pt x="1841" y="2984"/>
                      <a:pt x="1860" y="2972"/>
                    </a:cubicBezTo>
                    <a:cubicBezTo>
                      <a:pt x="1880" y="2961"/>
                      <a:pt x="1904" y="2960"/>
                      <a:pt x="1924" y="2970"/>
                    </a:cubicBezTo>
                    <a:cubicBezTo>
                      <a:pt x="1977" y="2998"/>
                      <a:pt x="2030" y="3017"/>
                      <a:pt x="2081" y="3026"/>
                    </a:cubicBezTo>
                    <a:cubicBezTo>
                      <a:pt x="2112" y="3032"/>
                      <a:pt x="2135" y="3059"/>
                      <a:pt x="2135" y="3090"/>
                    </a:cubicBezTo>
                    <a:lnTo>
                      <a:pt x="2135" y="3252"/>
                    </a:lnTo>
                    <a:cubicBezTo>
                      <a:pt x="2144" y="3255"/>
                      <a:pt x="2152" y="3261"/>
                      <a:pt x="2159" y="3268"/>
                    </a:cubicBezTo>
                    <a:cubicBezTo>
                      <a:pt x="2171" y="3282"/>
                      <a:pt x="2177" y="3300"/>
                      <a:pt x="2175" y="3318"/>
                    </a:cubicBezTo>
                    <a:lnTo>
                      <a:pt x="2140" y="3663"/>
                    </a:lnTo>
                    <a:close/>
                    <a:moveTo>
                      <a:pt x="2825" y="3454"/>
                    </a:moveTo>
                    <a:lnTo>
                      <a:pt x="2644" y="3695"/>
                    </a:lnTo>
                    <a:cubicBezTo>
                      <a:pt x="2631" y="3711"/>
                      <a:pt x="2612" y="3721"/>
                      <a:pt x="2592" y="3721"/>
                    </a:cubicBezTo>
                    <a:cubicBezTo>
                      <a:pt x="2586" y="3721"/>
                      <a:pt x="2580" y="3720"/>
                      <a:pt x="2574" y="3718"/>
                    </a:cubicBezTo>
                    <a:cubicBezTo>
                      <a:pt x="2549" y="3711"/>
                      <a:pt x="2530" y="3689"/>
                      <a:pt x="2527" y="3662"/>
                    </a:cubicBezTo>
                    <a:lnTo>
                      <a:pt x="2492" y="3318"/>
                    </a:lnTo>
                    <a:cubicBezTo>
                      <a:pt x="2490" y="3300"/>
                      <a:pt x="2496" y="3282"/>
                      <a:pt x="2508" y="3268"/>
                    </a:cubicBezTo>
                    <a:cubicBezTo>
                      <a:pt x="2515" y="3261"/>
                      <a:pt x="2523" y="3255"/>
                      <a:pt x="2533" y="3252"/>
                    </a:cubicBezTo>
                    <a:lnTo>
                      <a:pt x="2533" y="3090"/>
                    </a:lnTo>
                    <a:cubicBezTo>
                      <a:pt x="2533" y="3059"/>
                      <a:pt x="2555" y="3032"/>
                      <a:pt x="2586" y="3026"/>
                    </a:cubicBezTo>
                    <a:cubicBezTo>
                      <a:pt x="2637" y="3017"/>
                      <a:pt x="2690" y="2998"/>
                      <a:pt x="2743" y="2971"/>
                    </a:cubicBezTo>
                    <a:cubicBezTo>
                      <a:pt x="2763" y="2960"/>
                      <a:pt x="2787" y="2961"/>
                      <a:pt x="2807" y="2972"/>
                    </a:cubicBezTo>
                    <a:cubicBezTo>
                      <a:pt x="2826" y="2984"/>
                      <a:pt x="2838" y="3005"/>
                      <a:pt x="2838" y="3028"/>
                    </a:cubicBezTo>
                    <a:lnTo>
                      <a:pt x="2838" y="3415"/>
                    </a:lnTo>
                    <a:cubicBezTo>
                      <a:pt x="2838" y="3429"/>
                      <a:pt x="2834" y="3442"/>
                      <a:pt x="2825" y="3454"/>
                    </a:cubicBezTo>
                    <a:close/>
                    <a:moveTo>
                      <a:pt x="2508" y="2684"/>
                    </a:moveTo>
                    <a:lnTo>
                      <a:pt x="2160" y="2684"/>
                    </a:lnTo>
                    <a:cubicBezTo>
                      <a:pt x="2083" y="2684"/>
                      <a:pt x="1934" y="2581"/>
                      <a:pt x="1776" y="2351"/>
                    </a:cubicBezTo>
                    <a:cubicBezTo>
                      <a:pt x="1651" y="2170"/>
                      <a:pt x="1564" y="1970"/>
                      <a:pt x="1544" y="1815"/>
                    </a:cubicBezTo>
                    <a:lnTo>
                      <a:pt x="1540" y="1788"/>
                    </a:lnTo>
                    <a:lnTo>
                      <a:pt x="1477" y="1747"/>
                    </a:lnTo>
                    <a:cubicBezTo>
                      <a:pt x="1459" y="1735"/>
                      <a:pt x="1448" y="1715"/>
                      <a:pt x="1448" y="1693"/>
                    </a:cubicBezTo>
                    <a:lnTo>
                      <a:pt x="1448" y="1586"/>
                    </a:lnTo>
                    <a:cubicBezTo>
                      <a:pt x="1448" y="1551"/>
                      <a:pt x="1477" y="1522"/>
                      <a:pt x="1513" y="1522"/>
                    </a:cubicBezTo>
                    <a:lnTo>
                      <a:pt x="1539" y="1522"/>
                    </a:lnTo>
                    <a:lnTo>
                      <a:pt x="1539" y="1406"/>
                    </a:lnTo>
                    <a:cubicBezTo>
                      <a:pt x="1539" y="1382"/>
                      <a:pt x="1553" y="1359"/>
                      <a:pt x="1575" y="1348"/>
                    </a:cubicBezTo>
                    <a:cubicBezTo>
                      <a:pt x="1664" y="1304"/>
                      <a:pt x="1841" y="1229"/>
                      <a:pt x="2024" y="1229"/>
                    </a:cubicBezTo>
                    <a:cubicBezTo>
                      <a:pt x="2170" y="1229"/>
                      <a:pt x="2292" y="1278"/>
                      <a:pt x="2384" y="1374"/>
                    </a:cubicBezTo>
                    <a:cubicBezTo>
                      <a:pt x="2500" y="1493"/>
                      <a:pt x="2633" y="1554"/>
                      <a:pt x="2781" y="1554"/>
                    </a:cubicBezTo>
                    <a:cubicBezTo>
                      <a:pt x="2864" y="1554"/>
                      <a:pt x="2950" y="1534"/>
                      <a:pt x="3037" y="1495"/>
                    </a:cubicBezTo>
                    <a:cubicBezTo>
                      <a:pt x="3057" y="1486"/>
                      <a:pt x="3080" y="1488"/>
                      <a:pt x="3098" y="1500"/>
                    </a:cubicBezTo>
                    <a:cubicBezTo>
                      <a:pt x="3107" y="1506"/>
                      <a:pt x="3114" y="1513"/>
                      <a:pt x="3119" y="1522"/>
                    </a:cubicBezTo>
                    <a:lnTo>
                      <a:pt x="3154" y="1522"/>
                    </a:lnTo>
                    <a:cubicBezTo>
                      <a:pt x="3190" y="1522"/>
                      <a:pt x="3219" y="1551"/>
                      <a:pt x="3219" y="1586"/>
                    </a:cubicBezTo>
                    <a:lnTo>
                      <a:pt x="3219" y="1693"/>
                    </a:lnTo>
                    <a:cubicBezTo>
                      <a:pt x="3219" y="1715"/>
                      <a:pt x="3208" y="1735"/>
                      <a:pt x="3190" y="1747"/>
                    </a:cubicBezTo>
                    <a:lnTo>
                      <a:pt x="3127" y="1788"/>
                    </a:lnTo>
                    <a:lnTo>
                      <a:pt x="3123" y="1815"/>
                    </a:lnTo>
                    <a:cubicBezTo>
                      <a:pt x="3103" y="1970"/>
                      <a:pt x="3016" y="2170"/>
                      <a:pt x="2891" y="2351"/>
                    </a:cubicBezTo>
                    <a:cubicBezTo>
                      <a:pt x="2733" y="2581"/>
                      <a:pt x="2584" y="2684"/>
                      <a:pt x="2508" y="2684"/>
                    </a:cubicBezTo>
                    <a:close/>
                    <a:moveTo>
                      <a:pt x="5035" y="4769"/>
                    </a:moveTo>
                    <a:cubicBezTo>
                      <a:pt x="4947" y="4852"/>
                      <a:pt x="4830" y="4908"/>
                      <a:pt x="4686" y="4935"/>
                    </a:cubicBezTo>
                    <a:lnTo>
                      <a:pt x="4686" y="5202"/>
                    </a:lnTo>
                    <a:cubicBezTo>
                      <a:pt x="4686" y="5293"/>
                      <a:pt x="4612" y="5367"/>
                      <a:pt x="4520" y="5367"/>
                    </a:cubicBezTo>
                    <a:cubicBezTo>
                      <a:pt x="4429" y="5367"/>
                      <a:pt x="4355" y="5293"/>
                      <a:pt x="4355" y="5202"/>
                    </a:cubicBezTo>
                    <a:lnTo>
                      <a:pt x="4355" y="4944"/>
                    </a:lnTo>
                    <a:cubicBezTo>
                      <a:pt x="4144" y="4915"/>
                      <a:pt x="3987" y="4824"/>
                      <a:pt x="3887" y="4672"/>
                    </a:cubicBezTo>
                    <a:cubicBezTo>
                      <a:pt x="3857" y="4626"/>
                      <a:pt x="3851" y="4567"/>
                      <a:pt x="3873" y="4516"/>
                    </a:cubicBezTo>
                    <a:cubicBezTo>
                      <a:pt x="3895" y="4465"/>
                      <a:pt x="3941" y="4428"/>
                      <a:pt x="3995" y="4418"/>
                    </a:cubicBezTo>
                    <a:lnTo>
                      <a:pt x="4121" y="4395"/>
                    </a:lnTo>
                    <a:cubicBezTo>
                      <a:pt x="4185" y="4383"/>
                      <a:pt x="4250" y="4410"/>
                      <a:pt x="4287" y="4463"/>
                    </a:cubicBezTo>
                    <a:cubicBezTo>
                      <a:pt x="4334" y="4531"/>
                      <a:pt x="4414" y="4565"/>
                      <a:pt x="4524" y="4565"/>
                    </a:cubicBezTo>
                    <a:cubicBezTo>
                      <a:pt x="4693" y="4565"/>
                      <a:pt x="4693" y="4498"/>
                      <a:pt x="4693" y="4475"/>
                    </a:cubicBezTo>
                    <a:cubicBezTo>
                      <a:pt x="4693" y="4443"/>
                      <a:pt x="4681" y="4420"/>
                      <a:pt x="4656" y="4402"/>
                    </a:cubicBezTo>
                    <a:cubicBezTo>
                      <a:pt x="4629" y="4384"/>
                      <a:pt x="4581" y="4367"/>
                      <a:pt x="4512" y="4353"/>
                    </a:cubicBezTo>
                    <a:cubicBezTo>
                      <a:pt x="4237" y="4297"/>
                      <a:pt x="4059" y="4224"/>
                      <a:pt x="3985" y="4136"/>
                    </a:cubicBezTo>
                    <a:cubicBezTo>
                      <a:pt x="3909" y="4048"/>
                      <a:pt x="3872" y="3948"/>
                      <a:pt x="3872" y="3833"/>
                    </a:cubicBezTo>
                    <a:cubicBezTo>
                      <a:pt x="3872" y="3707"/>
                      <a:pt x="3914" y="3595"/>
                      <a:pt x="3995" y="3497"/>
                    </a:cubicBezTo>
                    <a:cubicBezTo>
                      <a:pt x="4074" y="3403"/>
                      <a:pt x="4195" y="3342"/>
                      <a:pt x="4355" y="3316"/>
                    </a:cubicBezTo>
                    <a:lnTo>
                      <a:pt x="4355" y="3124"/>
                    </a:lnTo>
                    <a:cubicBezTo>
                      <a:pt x="4355" y="3033"/>
                      <a:pt x="4429" y="2959"/>
                      <a:pt x="4520" y="2959"/>
                    </a:cubicBezTo>
                    <a:cubicBezTo>
                      <a:pt x="4612" y="2959"/>
                      <a:pt x="4686" y="3033"/>
                      <a:pt x="4686" y="3124"/>
                    </a:cubicBezTo>
                    <a:lnTo>
                      <a:pt x="4686" y="3319"/>
                    </a:lnTo>
                    <a:cubicBezTo>
                      <a:pt x="4829" y="3346"/>
                      <a:pt x="4940" y="3404"/>
                      <a:pt x="5024" y="3494"/>
                    </a:cubicBezTo>
                    <a:cubicBezTo>
                      <a:pt x="5063" y="3536"/>
                      <a:pt x="5078" y="3595"/>
                      <a:pt x="5064" y="3650"/>
                    </a:cubicBezTo>
                    <a:cubicBezTo>
                      <a:pt x="5049" y="3705"/>
                      <a:pt x="5007" y="3749"/>
                      <a:pt x="4953" y="3766"/>
                    </a:cubicBezTo>
                    <a:lnTo>
                      <a:pt x="4867" y="3793"/>
                    </a:lnTo>
                    <a:cubicBezTo>
                      <a:pt x="4805" y="3812"/>
                      <a:pt x="4737" y="3793"/>
                      <a:pt x="4693" y="3744"/>
                    </a:cubicBezTo>
                    <a:cubicBezTo>
                      <a:pt x="4650" y="3696"/>
                      <a:pt x="4586" y="3671"/>
                      <a:pt x="4503" y="3671"/>
                    </a:cubicBezTo>
                    <a:cubicBezTo>
                      <a:pt x="4436" y="3671"/>
                      <a:pt x="4356" y="3687"/>
                      <a:pt x="4356" y="3763"/>
                    </a:cubicBezTo>
                    <a:cubicBezTo>
                      <a:pt x="4356" y="3785"/>
                      <a:pt x="4364" y="3804"/>
                      <a:pt x="4379" y="3819"/>
                    </a:cubicBezTo>
                    <a:cubicBezTo>
                      <a:pt x="4396" y="3835"/>
                      <a:pt x="4444" y="3852"/>
                      <a:pt x="4521" y="3870"/>
                    </a:cubicBezTo>
                    <a:cubicBezTo>
                      <a:pt x="4701" y="3909"/>
                      <a:pt x="4832" y="3945"/>
                      <a:pt x="4910" y="3976"/>
                    </a:cubicBezTo>
                    <a:cubicBezTo>
                      <a:pt x="4990" y="4008"/>
                      <a:pt x="5057" y="4062"/>
                      <a:pt x="5110" y="4137"/>
                    </a:cubicBezTo>
                    <a:cubicBezTo>
                      <a:pt x="5162" y="4213"/>
                      <a:pt x="5189" y="4303"/>
                      <a:pt x="5189" y="4406"/>
                    </a:cubicBezTo>
                    <a:cubicBezTo>
                      <a:pt x="5189" y="4550"/>
                      <a:pt x="5137" y="4672"/>
                      <a:pt x="5035" y="476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sp>
        <p:nvSpPr>
          <p:cNvPr id="222" name="TextBox 2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目标用户画像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fc495a9-4d23-48e7-8540-9a6d08eb7036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1589" y="0"/>
            <a:ext cx="12188825" cy="6858001"/>
            <a:chOff x="1589" y="0"/>
            <a:chExt cx="12188825" cy="6858001"/>
          </a:xfrm>
        </p:grpSpPr>
        <p:sp>
          <p:nvSpPr>
            <p:cNvPr id="4" name="AutoShape 4"/>
            <p:cNvSpPr/>
            <p:nvPr/>
          </p:nvSpPr>
          <p:spPr>
            <a:xfrm>
              <a:off x="1589" y="5403847"/>
              <a:ext cx="2523898" cy="1454154"/>
            </a:xfrm>
            <a:custGeom>
              <a:avLst/>
              <a:gdLst/>
              <a:ahLst/>
              <a:cxnLst/>
              <a:rect l="l" t="t" r="r" b="b"/>
              <a:pathLst>
                <a:path w="2752" h="1585">
                  <a:moveTo>
                    <a:pt x="2545" y="944"/>
                  </a:moveTo>
                  <a:cubicBezTo>
                    <a:pt x="2295" y="510"/>
                    <a:pt x="1551" y="716"/>
                    <a:pt x="1030" y="944"/>
                  </a:cubicBezTo>
                  <a:cubicBezTo>
                    <a:pt x="509" y="1172"/>
                    <a:pt x="648" y="748"/>
                    <a:pt x="426" y="327"/>
                  </a:cubicBezTo>
                  <a:cubicBezTo>
                    <a:pt x="253" y="0"/>
                    <a:pt x="73" y="81"/>
                    <a:pt x="0" y="134"/>
                  </a:cubicBezTo>
                  <a:cubicBezTo>
                    <a:pt x="0" y="1585"/>
                    <a:pt x="0" y="1585"/>
                    <a:pt x="0" y="1585"/>
                  </a:cubicBezTo>
                  <a:cubicBezTo>
                    <a:pt x="2744" y="1585"/>
                    <a:pt x="2744" y="1585"/>
                    <a:pt x="2744" y="1585"/>
                  </a:cubicBezTo>
                  <a:cubicBezTo>
                    <a:pt x="2319" y="1449"/>
                    <a:pt x="2752" y="1302"/>
                    <a:pt x="2545" y="944"/>
                  </a:cubicBezTo>
                  <a:close/>
                </a:path>
              </a:pathLst>
            </a:custGeom>
            <a:gradFill>
              <a:gsLst>
                <a:gs pos="0">
                  <a:srgbClr val="9D9D9D">
                    <a:alpha val="0"/>
                    <a:lumMod val="20000"/>
                    <a:lumOff val="80000"/>
                  </a:srgbClr>
                </a:gs>
                <a:gs pos="60000">
                  <a:srgbClr val="9D9D9D">
                    <a:alpha val="40000"/>
                    <a:lumMod val="60000"/>
                    <a:lumOff val="40000"/>
                  </a:srgbClr>
                </a:gs>
                <a:gs pos="100000">
                  <a:srgbClr val="9D9D9D">
                    <a:alpha val="100000"/>
                  </a:srgbClr>
                </a:gs>
              </a:gsLst>
              <a:lin ang="7200000"/>
            </a:gradFill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9390026" y="0"/>
              <a:ext cx="2800388" cy="1476422"/>
            </a:xfrm>
            <a:custGeom>
              <a:avLst/>
              <a:gdLst/>
              <a:ahLst/>
              <a:cxnLst/>
              <a:rect l="l" t="t" r="r" b="b"/>
              <a:pathLst>
                <a:path w="2444" h="1288">
                  <a:moveTo>
                    <a:pt x="354" y="526"/>
                  </a:moveTo>
                  <a:cubicBezTo>
                    <a:pt x="516" y="764"/>
                    <a:pt x="1170" y="714"/>
                    <a:pt x="1598" y="526"/>
                  </a:cubicBezTo>
                  <a:cubicBezTo>
                    <a:pt x="2026" y="339"/>
                    <a:pt x="1981" y="659"/>
                    <a:pt x="2094" y="1033"/>
                  </a:cubicBezTo>
                  <a:cubicBezTo>
                    <a:pt x="2172" y="1288"/>
                    <a:pt x="2400" y="1272"/>
                    <a:pt x="2444" y="1192"/>
                  </a:cubicBezTo>
                  <a:cubicBezTo>
                    <a:pt x="2444" y="0"/>
                    <a:pt x="2444" y="0"/>
                    <a:pt x="244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5" y="116"/>
                    <a:pt x="163" y="246"/>
                    <a:pt x="354" y="526"/>
                  </a:cubicBezTo>
                  <a:close/>
                </a:path>
              </a:pathLst>
            </a:custGeom>
            <a:gradFill>
              <a:gsLst>
                <a:gs pos="0">
                  <a:srgbClr val="9D9D9D">
                    <a:alpha val="0"/>
                    <a:lumMod val="20000"/>
                    <a:lumOff val="80000"/>
                  </a:srgbClr>
                </a:gs>
                <a:gs pos="60000">
                  <a:srgbClr val="9D9D9D">
                    <a:alpha val="40000"/>
                    <a:lumMod val="60000"/>
                    <a:lumOff val="40000"/>
                  </a:srgbClr>
                </a:gs>
                <a:gs pos="100000">
                  <a:srgbClr val="9D9D9D">
                    <a:alpha val="100000"/>
                  </a:srgbClr>
                </a:gs>
              </a:gsLst>
              <a:lin ang="16800000"/>
            </a:gra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rot="17100000">
              <a:off x="10372245" y="4964984"/>
              <a:ext cx="1076440" cy="1076440"/>
            </a:xfrm>
            <a:prstGeom prst="ellipse">
              <a:avLst/>
            </a:prstGeom>
            <a:gradFill>
              <a:gsLst>
                <a:gs pos="0">
                  <a:srgbClr val="9D9D9D">
                    <a:alpha val="0"/>
                    <a:lumMod val="20000"/>
                    <a:lumOff val="80000"/>
                  </a:srgbClr>
                </a:gs>
                <a:gs pos="60000">
                  <a:srgbClr val="9D9D9D">
                    <a:alpha val="25098"/>
                    <a:lumMod val="60000"/>
                    <a:lumOff val="40000"/>
                  </a:srgbClr>
                </a:gs>
                <a:gs pos="100000">
                  <a:srgbClr val="9D9D9D">
                    <a:alpha val="30196"/>
                  </a:srgbClr>
                </a:gs>
              </a:gsLst>
              <a:lin ang="7200000"/>
            </a:gra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rot="17100000">
              <a:off x="9295183" y="6000563"/>
              <a:ext cx="470273" cy="470273"/>
            </a:xfrm>
            <a:prstGeom prst="ellipse">
              <a:avLst/>
            </a:prstGeom>
            <a:gradFill>
              <a:gsLst>
                <a:gs pos="0">
                  <a:srgbClr val="9D9D9D">
                    <a:alpha val="0"/>
                    <a:lumMod val="20000"/>
                    <a:lumOff val="80000"/>
                  </a:srgbClr>
                </a:gs>
                <a:gs pos="60000">
                  <a:srgbClr val="9D9D9D">
                    <a:alpha val="25098"/>
                    <a:lumMod val="60000"/>
                    <a:lumOff val="40000"/>
                  </a:srgbClr>
                </a:gs>
                <a:gs pos="100000">
                  <a:srgbClr val="9D9D9D">
                    <a:alpha val="30196"/>
                  </a:srgbClr>
                </a:gs>
              </a:gsLst>
              <a:lin ang="7200000"/>
            </a:gradFill>
            <a:ln>
              <a:headEnd type="none"/>
              <a:tailEnd type="none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3884" y="1911985"/>
              <a:ext cx="2664460" cy="185547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l">
                <a:lnSpc>
                  <a:spcPct val="150000"/>
                </a:lnSpc>
                <a:defRPr/>
              </a:pPr>
              <a:r>
                <a:rPr lang="en-US" sz="2400" b="1" i="0">
                  <a:solidFill>
                    <a:srgbClr val="4A58D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400" b="1" i="0">
                  <a:solidFill>
                    <a:srgbClr val="4A58D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个月保入职</a:t>
              </a:r>
              <a:endParaRPr lang="zh-CN" altLang="en-US" sz="2400" b="1" i="0">
                <a:solidFill>
                  <a:srgbClr val="4A58D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zh-CN" altLang="en-US" sz="2400" b="1" i="0">
                  <a:solidFill>
                    <a:srgbClr val="4A58D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不入职不付费</a:t>
              </a:r>
              <a:endParaRPr lang="zh-CN" altLang="en-US" sz="2400" b="1" i="0">
                <a:solidFill>
                  <a:srgbClr val="4A58D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50000"/>
                </a:lnSpc>
                <a:defRPr/>
              </a:pPr>
              <a:r>
                <a:rPr lang="en-US" sz="2400" b="1" i="0">
                  <a:solidFill>
                    <a:srgbClr val="4A58D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先服务后付费</a:t>
              </a:r>
              <a:endParaRPr lang="en-US" sz="2400" b="1" i="0">
                <a:solidFill>
                  <a:srgbClr val="4A58D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9" name="Group 9"/>
            <p:cNvGrpSpPr/>
            <p:nvPr/>
          </p:nvGrpSpPr>
          <p:grpSpPr>
            <a:xfrm rot="0">
              <a:off x="4755783" y="1386961"/>
              <a:ext cx="2104571" cy="4084079"/>
              <a:chOff x="4755783" y="1386961"/>
              <a:chExt cx="2104571" cy="4084079"/>
            </a:xfrm>
          </p:grpSpPr>
          <p:sp>
            <p:nvSpPr>
              <p:cNvPr id="10" name="AutoShape 10"/>
              <p:cNvSpPr/>
              <p:nvPr>
                <p:custDataLst>
                  <p:tags r:id="rId2"/>
                </p:custDataLst>
              </p:nvPr>
            </p:nvSpPr>
            <p:spPr>
              <a:xfrm>
                <a:off x="4755783" y="1386961"/>
                <a:ext cx="2104571" cy="4084079"/>
              </a:xfrm>
              <a:prstGeom prst="roundRect">
                <a:avLst>
                  <a:gd name="adj" fmla="val 49310"/>
                </a:avLst>
              </a:prstGeom>
              <a:solidFill>
                <a:srgbClr val="9D9D9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4842856" y="3451884"/>
                <a:ext cx="1930424" cy="10782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求职者在拿到offer前无需付费，成功入职后按约定支付服务费。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842856" y="2797957"/>
                <a:ext cx="1930424" cy="6539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模式定义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910419" y="1988621"/>
                <a:ext cx="1795299" cy="7694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7076895" y="1386961"/>
              <a:ext cx="2104571" cy="4084079"/>
              <a:chOff x="7076895" y="1386961"/>
              <a:chExt cx="2104571" cy="4084079"/>
            </a:xfrm>
          </p:grpSpPr>
          <p:sp>
            <p:nvSpPr>
              <p:cNvPr id="15" name="AutoShape 15"/>
              <p:cNvSpPr/>
              <p:nvPr>
                <p:custDataLst>
                  <p:tags r:id="rId6"/>
                </p:custDataLst>
              </p:nvPr>
            </p:nvSpPr>
            <p:spPr>
              <a:xfrm>
                <a:off x="7076895" y="1386961"/>
                <a:ext cx="2104571" cy="4084079"/>
              </a:xfrm>
              <a:prstGeom prst="roundRect">
                <a:avLst>
                  <a:gd name="adj" fmla="val 49310"/>
                </a:avLst>
              </a:prstGeom>
              <a:solidFill>
                <a:srgbClr val="CEA66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167710" y="3451884"/>
                <a:ext cx="1922940" cy="10782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消除了求职者对服务效果的顾虑，使其更愿意尝试和使用服务。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7167710" y="2797957"/>
                <a:ext cx="1922940" cy="6539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降低用户风险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231531" y="1988621"/>
                <a:ext cx="1795299" cy="7694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9398007" y="1386961"/>
              <a:ext cx="2104571" cy="4084079"/>
              <a:chOff x="9398007" y="1386961"/>
              <a:chExt cx="2104571" cy="4084079"/>
            </a:xfrm>
          </p:grpSpPr>
          <p:sp>
            <p:nvSpPr>
              <p:cNvPr id="20" name="AutoShape 20"/>
              <p:cNvSpPr/>
              <p:nvPr>
                <p:custDataLst>
                  <p:tags r:id="rId10"/>
                </p:custDataLst>
              </p:nvPr>
            </p:nvSpPr>
            <p:spPr>
              <a:xfrm>
                <a:off x="9398007" y="1386961"/>
                <a:ext cx="2104571" cy="4084079"/>
              </a:xfrm>
              <a:prstGeom prst="roundRect">
                <a:avLst>
                  <a:gd name="adj" fmla="val 49310"/>
                </a:avLst>
              </a:prstGeom>
              <a:solidFill>
                <a:srgbClr val="B6BFC8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9494393" y="3451884"/>
                <a:ext cx="1911798" cy="10782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独特的付费模式成为吸引用户的核心亮点，有效促进商业转化。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494392" y="2797957"/>
                <a:ext cx="1911798" cy="65392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提升转化率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9552643" y="1988621"/>
                <a:ext cx="1795299" cy="76944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5842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c5d31cd-4c95-4e77-883b-a86a5e149cad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44813"/>
            <a:ext cx="10868957" cy="4880296"/>
            <a:chOff x="660400" y="1144813"/>
            <a:chExt cx="10868957" cy="4880296"/>
          </a:xfrm>
        </p:grpSpPr>
        <p:sp>
          <p:nvSpPr>
            <p:cNvPr id="4" name="AutoShape 4"/>
            <p:cNvSpPr/>
            <p:nvPr/>
          </p:nvSpPr>
          <p:spPr>
            <a:xfrm>
              <a:off x="662643" y="2184573"/>
              <a:ext cx="10866714" cy="0"/>
            </a:xfrm>
            <a:prstGeom prst="line">
              <a:avLst/>
            </a:prstGeom>
            <a:ln w="6350">
              <a:solidFill>
                <a:srgbClr val="768394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144813"/>
              <a:ext cx="10858500" cy="90010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多元化收入，保障商业可持续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660400" y="2474089"/>
              <a:ext cx="2524219" cy="3551020"/>
              <a:chOff x="660400" y="2474089"/>
              <a:chExt cx="2524219" cy="355102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79731" y="5549083"/>
                <a:ext cx="2039905" cy="476026"/>
              </a:xfrm>
              <a:prstGeom prst="homePlate">
                <a:avLst>
                  <a:gd name="adj" fmla="val 93352"/>
                </a:avLst>
              </a:prstGeom>
              <a:solidFill>
                <a:srgbClr val="4A58D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400" y="3292952"/>
                <a:ext cx="2524219" cy="16494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成功获得offer后，收取固定金额的就业服务费，作为基础收入。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400" y="2474089"/>
                <a:ext cx="2524219" cy="8188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服务费</a:t>
                </a:r>
                <a:r>
                  <a:rPr lang="zh-CN" altLang="en-US" sz="18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定金</a:t>
                </a:r>
                <a:endParaRPr lang="zh-CN" altLang="en-US" sz="18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3438494" y="2474089"/>
              <a:ext cx="2524219" cy="3551020"/>
              <a:chOff x="3438494" y="2474089"/>
              <a:chExt cx="2524219" cy="355102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3438494" y="3292952"/>
                <a:ext cx="2524219" cy="16494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入职试用期内，按月收取月薪的一定比例作为佣金，确保持续收益。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438494" y="2474089"/>
                <a:ext cx="2524219" cy="8188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试用期佣金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558391" y="5549083"/>
                <a:ext cx="2039905" cy="476026"/>
              </a:xfrm>
              <a:prstGeom prst="chevron">
                <a:avLst/>
              </a:prstGeom>
              <a:solidFill>
                <a:srgbClr val="4A58D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6216588" y="2474089"/>
              <a:ext cx="2524219" cy="3550385"/>
              <a:chOff x="6216588" y="2474089"/>
              <a:chExt cx="2524219" cy="3550385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216588" y="3292952"/>
                <a:ext cx="2524219" cy="16494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成功转正后，一次性收取月薪的较高比例，实现高价值回报。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216588" y="2474089"/>
                <a:ext cx="2524219" cy="8188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转正后佣金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337051" y="5548448"/>
                <a:ext cx="2039905" cy="476026"/>
              </a:xfrm>
              <a:prstGeom prst="chevron">
                <a:avLst/>
              </a:prstGeom>
              <a:solidFill>
                <a:srgbClr val="4A58D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8994681" y="2474089"/>
              <a:ext cx="2524219" cy="3551020"/>
              <a:chOff x="8994681" y="2474089"/>
              <a:chExt cx="2524219" cy="355102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8994681" y="3292952"/>
                <a:ext cx="2524219" cy="16494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转正后提供持续服务，通过会员订阅或增值服务获取长期稳定收入。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994681" y="2474089"/>
                <a:ext cx="2524219" cy="8188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职后管理服务费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115710" y="5549083"/>
                <a:ext cx="2039905" cy="476026"/>
              </a:xfrm>
              <a:prstGeom prst="chevron">
                <a:avLst/>
              </a:prstGeom>
              <a:solidFill>
                <a:srgbClr val="4A58D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盈利模式设计</a:t>
            </a:r>
            <a:endParaRPr lang="en-US" sz="1100"/>
          </a:p>
        </p:txBody>
      </p:sp>
      <p:sp>
        <p:nvSpPr>
          <p:cNvPr id="23" name="文本框 22"/>
          <p:cNvSpPr txBox="1"/>
          <p:nvPr/>
        </p:nvSpPr>
        <p:spPr>
          <a:xfrm>
            <a:off x="662940" y="4114800"/>
            <a:ext cx="2574290" cy="521970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拿到</a:t>
            </a:r>
            <a:r>
              <a:rPr lang="en-US" altLang="zh-CN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offer</a:t>
            </a:r>
            <a:endParaRPr lang="en-US" altLang="zh-CN" sz="1400" b="1">
              <a:solidFill>
                <a:srgbClr val="4A58DA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defTabSz="266700"/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支付</a:t>
            </a:r>
            <a:r>
              <a:rPr lang="en-US" altLang="zh-CN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1800</a:t>
            </a:r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元</a:t>
            </a:r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服务费定金</a:t>
            </a:r>
            <a:endParaRPr lang="zh-CN" altLang="en-US" sz="1400" b="1">
              <a:solidFill>
                <a:srgbClr val="4A58DA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24200" y="4114800"/>
            <a:ext cx="3042285" cy="737235"/>
          </a:xfrm>
          <a:prstGeom prst="rect">
            <a:avLst/>
          </a:prstGeom>
        </p:spPr>
        <p:txBody>
          <a:bodyPr wrap="square">
            <a:spAutoFit/>
          </a:bodyPr>
          <a:p>
            <a:pPr marL="0" algn="ctr" defTabSz="266700">
              <a:buClrTx/>
              <a:buSzTx/>
              <a:buFontTx/>
              <a:buNone/>
            </a:pPr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入职第二个月</a:t>
            </a:r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月底</a:t>
            </a:r>
            <a:endParaRPr lang="zh-CN" altLang="en-US" sz="1400" b="1">
              <a:solidFill>
                <a:srgbClr val="4A58DA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marL="0" algn="ctr" defTabSz="266700">
              <a:buClrTx/>
              <a:buSzTx/>
              <a:buFontTx/>
              <a:buNone/>
            </a:pPr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支付</a:t>
            </a:r>
            <a:r>
              <a:rPr lang="en-US" altLang="zh-CN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2800</a:t>
            </a:r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元</a:t>
            </a:r>
            <a:endParaRPr lang="zh-CN" altLang="en-US" sz="1400" b="1">
              <a:solidFill>
                <a:srgbClr val="4A58DA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marL="0" algn="ctr" defTabSz="266700">
              <a:buClrTx/>
              <a:buSzTx/>
              <a:buFontTx/>
              <a:buNone/>
            </a:pPr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（领到</a:t>
            </a:r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第一笔工资</a:t>
            </a:r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了）</a:t>
            </a:r>
            <a:endParaRPr lang="zh-CN" altLang="en-US" sz="1400" b="1">
              <a:solidFill>
                <a:srgbClr val="4A58DA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019800" y="4128770"/>
            <a:ext cx="2574290" cy="737235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/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入职第三个月</a:t>
            </a:r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月底</a:t>
            </a:r>
            <a:endParaRPr lang="zh-CN" altLang="en-US" sz="1400" b="1">
              <a:solidFill>
                <a:srgbClr val="4A58DA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 defTabSz="266700"/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支付尾款</a:t>
            </a:r>
            <a:r>
              <a:rPr lang="en-US" altLang="zh-CN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1800</a:t>
            </a:r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元</a:t>
            </a:r>
            <a:endParaRPr lang="zh-CN" altLang="en-US" sz="1400" b="1">
              <a:solidFill>
                <a:srgbClr val="4A58DA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ctr" defTabSz="266700"/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3</a:t>
            </a:r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个月工作稳定</a:t>
            </a:r>
            <a:r>
              <a:rPr lang="zh-CN" altLang="en-US" sz="14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了）</a:t>
            </a:r>
            <a:endParaRPr lang="zh-CN" altLang="en-US" sz="1400" b="1">
              <a:solidFill>
                <a:srgbClr val="4A58DA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963025" y="3886200"/>
            <a:ext cx="2574290" cy="1198880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266700"/>
            <a:r>
              <a:rPr lang="zh-CN" altLang="en-US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转正后赠送价值</a:t>
            </a:r>
            <a:r>
              <a:rPr lang="en-US" altLang="zh-CN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2000</a:t>
            </a:r>
            <a:r>
              <a:rPr lang="zh-CN" altLang="en-US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元的</a:t>
            </a:r>
            <a:endParaRPr lang="zh-CN" altLang="en-US" sz="1200" b="1">
              <a:solidFill>
                <a:srgbClr val="4A58DA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l" defTabSz="266700"/>
            <a:r>
              <a:rPr lang="en-US" altLang="zh-CN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6</a:t>
            </a:r>
            <a:r>
              <a:rPr lang="zh-CN" altLang="en-US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个月的职后管理服务。</a:t>
            </a:r>
            <a:endParaRPr lang="zh-CN" altLang="en-US" sz="1200" b="1">
              <a:solidFill>
                <a:srgbClr val="4A58DA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l" defTabSz="266700"/>
            <a:endParaRPr lang="zh-CN" altLang="en-US" sz="1200" b="1">
              <a:solidFill>
                <a:srgbClr val="4A58DA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l" defTabSz="266700"/>
            <a:r>
              <a:rPr lang="en-US" altLang="zh-CN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6</a:t>
            </a:r>
            <a:r>
              <a:rPr lang="zh-CN" altLang="en-US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个月到期后，推荐每年</a:t>
            </a:r>
            <a:r>
              <a:rPr lang="en-US" altLang="zh-CN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1</a:t>
            </a:r>
            <a:r>
              <a:rPr lang="en-US" altLang="zh-CN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99</a:t>
            </a:r>
            <a:r>
              <a:rPr lang="zh-CN" altLang="en-US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元的</a:t>
            </a:r>
            <a:endParaRPr lang="zh-CN" altLang="en-US" sz="1200" b="1">
              <a:solidFill>
                <a:srgbClr val="4A58DA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l" defTabSz="266700"/>
            <a:r>
              <a:rPr lang="zh-CN" altLang="en-US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职后管理服务</a:t>
            </a:r>
            <a:endParaRPr lang="zh-CN" altLang="en-US" sz="1200" b="1">
              <a:solidFill>
                <a:srgbClr val="4A58DA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  <a:p>
            <a:pPr algn="l" defTabSz="266700"/>
            <a:r>
              <a:rPr lang="zh-CN" altLang="en-US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（</a:t>
            </a:r>
            <a:r>
              <a:rPr lang="en-US" altLang="zh-CN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1</a:t>
            </a:r>
            <a:r>
              <a:rPr lang="zh-CN" altLang="en-US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年内如果离职，持续</a:t>
            </a:r>
            <a:r>
              <a:rPr lang="zh-CN" altLang="en-US" sz="1200" b="1">
                <a:solidFill>
                  <a:srgbClr val="4A58DA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享受服务）</a:t>
            </a:r>
            <a:endParaRPr lang="zh-CN" altLang="en-US" sz="1200" b="1">
              <a:solidFill>
                <a:srgbClr val="4A58DA"/>
              </a:solidFill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30300"/>
            <a:ext cx="5435600" cy="106239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运营闭环设计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2192694"/>
            <a:ext cx="5435600" cy="394140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详细拆解从职前到职后的六大服务环节，并设计标准化的服务流程、质量控制与用户体验优化策略，确保服务闭环。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ec884fb-ae12-4a98-a27f-ab3783417bdb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400" y="1130300"/>
            <a:ext cx="10859297" cy="5011077"/>
            <a:chOff x="660400" y="1130300"/>
            <a:chExt cx="10859297" cy="5011077"/>
          </a:xfrm>
        </p:grpSpPr>
        <p:grpSp>
          <p:nvGrpSpPr>
            <p:cNvPr id="4" name="Group 4"/>
            <p:cNvGrpSpPr/>
            <p:nvPr/>
          </p:nvGrpSpPr>
          <p:grpSpPr>
            <a:xfrm rot="0">
              <a:off x="672303" y="2071647"/>
              <a:ext cx="1733919" cy="4069730"/>
              <a:chOff x="672303" y="2071647"/>
              <a:chExt cx="1733919" cy="4069730"/>
            </a:xfrm>
          </p:grpSpPr>
          <p:grpSp>
            <p:nvGrpSpPr>
              <p:cNvPr id="5" name="Group 5"/>
              <p:cNvGrpSpPr/>
              <p:nvPr/>
            </p:nvGrpSpPr>
            <p:grpSpPr>
              <a:xfrm rot="0">
                <a:off x="672303" y="2071647"/>
                <a:ext cx="1482371" cy="2205710"/>
                <a:chOff x="1683502" y="2071647"/>
                <a:chExt cx="1482371" cy="2205710"/>
              </a:xfrm>
            </p:grpSpPr>
            <p:sp>
              <p:nvSpPr>
                <p:cNvPr id="6" name="AutoShape 6"/>
                <p:cNvSpPr/>
                <p:nvPr>
                  <p:custDataLst>
                    <p:tags r:id="rId2"/>
                  </p:custDataLst>
                </p:nvPr>
              </p:nvSpPr>
              <p:spPr>
                <a:xfrm flipV="1">
                  <a:off x="1888845" y="2071648"/>
                  <a:ext cx="0" cy="1795023"/>
                </a:xfrm>
                <a:prstGeom prst="line">
                  <a:avLst/>
                </a:prstGeom>
                <a:ln w="6350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7" name="AutoShape 7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888844" y="2071647"/>
                  <a:ext cx="1277029" cy="390203"/>
                </a:xfrm>
                <a:prstGeom prst="homePlate">
                  <a:avLst/>
                </a:prstGeom>
                <a:solidFill>
                  <a:srgbClr val="4A58DA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headEnd type="none"/>
                  <a:tailEnd type="none"/>
                </a:ln>
              </p:spPr>
            </p:sp>
            <p:sp>
              <p:nvSpPr>
                <p:cNvPr id="8" name="TextBox 8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1683502" y="3866671"/>
                  <a:ext cx="410685" cy="410686"/>
                </a:xfrm>
                <a:prstGeom prst="ellipse">
                  <a:avLst/>
                </a:prstGeom>
                <a:solidFill>
                  <a:srgbClr val="4A58DA">
                    <a:alpha val="100000"/>
                  </a:srgbClr>
                </a:solidFill>
                <a:ln w="28575">
                  <a:solidFill>
                    <a:srgbClr val="FFFFFF">
                      <a:alpha val="100000"/>
                    </a:srgbClr>
                  </a:solidFill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1"/>
                <a:lstStyle/>
                <a:p>
                  <a:pPr algn="ctr">
                    <a:lnSpc>
                      <a:spcPct val="96000"/>
                    </a:lnSpc>
                    <a:defRPr/>
                  </a:pPr>
                  <a:r>
                    <a:rPr lang="en-US" sz="13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01</a:t>
                  </a:r>
                  <a:endParaRPr lang="en-US" sz="1100"/>
                </a:p>
              </p:txBody>
            </p:sp>
          </p:grpSp>
          <p:grpSp>
            <p:nvGrpSpPr>
              <p:cNvPr id="9" name="Group 9"/>
              <p:cNvGrpSpPr/>
              <p:nvPr/>
            </p:nvGrpSpPr>
            <p:grpSpPr>
              <a:xfrm rot="0">
                <a:off x="672303" y="4432301"/>
                <a:ext cx="1733919" cy="1709076"/>
                <a:chOff x="672303" y="4432301"/>
                <a:chExt cx="1733919" cy="1506638"/>
              </a:xfrm>
            </p:grpSpPr>
            <p:sp>
              <p:nvSpPr>
                <p:cNvPr id="10" name="TextBox 10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672303" y="4432301"/>
                  <a:ext cx="1733919" cy="57710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职前规划</a:t>
                  </a:r>
                  <a:endParaRPr lang="en-US" sz="1100"/>
                </a:p>
              </p:txBody>
            </p:sp>
            <p:sp>
              <p:nvSpPr>
                <p:cNvPr id="11" name="TextBox 11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672303" y="5009400"/>
                  <a:ext cx="1733919" cy="92953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明确求职方向与目标岗位。</a:t>
                  </a:r>
                  <a:endParaRPr lang="en-US" sz="1100"/>
                </a:p>
              </p:txBody>
            </p:sp>
          </p:grpSp>
        </p:grpSp>
        <p:grpSp>
          <p:nvGrpSpPr>
            <p:cNvPr id="12" name="Group 12"/>
            <p:cNvGrpSpPr/>
            <p:nvPr/>
          </p:nvGrpSpPr>
          <p:grpSpPr>
            <a:xfrm rot="0">
              <a:off x="2494998" y="2071648"/>
              <a:ext cx="1733919" cy="4069729"/>
              <a:chOff x="2494998" y="2071648"/>
              <a:chExt cx="1733919" cy="4069729"/>
            </a:xfrm>
          </p:grpSpPr>
          <p:grpSp>
            <p:nvGrpSpPr>
              <p:cNvPr id="13" name="Group 13"/>
              <p:cNvGrpSpPr/>
              <p:nvPr/>
            </p:nvGrpSpPr>
            <p:grpSpPr>
              <a:xfrm rot="0">
                <a:off x="2494998" y="2071648"/>
                <a:ext cx="1482371" cy="2205709"/>
                <a:chOff x="3039273" y="2071648"/>
                <a:chExt cx="1482371" cy="2205709"/>
              </a:xfrm>
            </p:grpSpPr>
            <p:sp>
              <p:nvSpPr>
                <p:cNvPr id="14" name="AutoShape 14"/>
                <p:cNvSpPr/>
                <p:nvPr>
                  <p:custDataLst>
                    <p:tags r:id="rId7"/>
                  </p:custDataLst>
                </p:nvPr>
              </p:nvSpPr>
              <p:spPr>
                <a:xfrm flipV="1">
                  <a:off x="3244615" y="2071648"/>
                  <a:ext cx="0" cy="1795023"/>
                </a:xfrm>
                <a:prstGeom prst="line">
                  <a:avLst/>
                </a:prstGeom>
                <a:ln w="6350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5" name="AutoShape 15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3244615" y="2071648"/>
                  <a:ext cx="1277029" cy="390203"/>
                </a:xfrm>
                <a:prstGeom prst="homePlate">
                  <a:avLst/>
                </a:prstGeom>
                <a:solidFill>
                  <a:srgbClr val="DCDCDC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headEnd type="none"/>
                  <a:tailEnd type="none"/>
                </a:ln>
              </p:spPr>
            </p:sp>
            <p:sp>
              <p:nvSpPr>
                <p:cNvPr id="16" name="TextBox 16"/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3039273" y="3866671"/>
                  <a:ext cx="410685" cy="410686"/>
                </a:xfrm>
                <a:prstGeom prst="ellipse">
                  <a:avLst/>
                </a:prstGeom>
                <a:solidFill>
                  <a:srgbClr val="DCDCDC">
                    <a:alpha val="100000"/>
                  </a:srgbClr>
                </a:solidFill>
                <a:ln w="28575">
                  <a:solidFill>
                    <a:srgbClr val="FFFFFF">
                      <a:alpha val="100000"/>
                    </a:srgbClr>
                  </a:solidFill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1"/>
                <a:lstStyle/>
                <a:p>
                  <a:pPr algn="ctr">
                    <a:lnSpc>
                      <a:spcPct val="96000"/>
                    </a:lnSpc>
                    <a:defRPr/>
                  </a:pPr>
                  <a:r>
                    <a:rPr lang="en-US" sz="13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1100"/>
                </a:p>
              </p:txBody>
            </p:sp>
          </p:grpSp>
          <p:grpSp>
            <p:nvGrpSpPr>
              <p:cNvPr id="17" name="Group 17"/>
              <p:cNvGrpSpPr/>
              <p:nvPr/>
            </p:nvGrpSpPr>
            <p:grpSpPr>
              <a:xfrm rot="0">
                <a:off x="2494998" y="4432301"/>
                <a:ext cx="1733919" cy="1709076"/>
                <a:chOff x="2494998" y="4432301"/>
                <a:chExt cx="1733919" cy="1506638"/>
              </a:xfrm>
            </p:grpSpPr>
            <p:sp>
              <p:nvSpPr>
                <p:cNvPr id="18" name="TextBox 18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2494998" y="4432301"/>
                  <a:ext cx="1733919" cy="57710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简历优化</a:t>
                  </a:r>
                  <a:endParaRPr lang="en-US" sz="1100"/>
                </a:p>
              </p:txBody>
            </p:sp>
            <p:sp>
              <p:nvSpPr>
                <p:cNvPr id="19" name="TextBox 19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2494998" y="5009400"/>
                  <a:ext cx="1733919" cy="92953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打造高匹配度、高通过率的简历。</a:t>
                  </a:r>
                  <a:endParaRPr lang="en-US" sz="1100"/>
                </a:p>
              </p:txBody>
            </p:sp>
          </p:grpSp>
        </p:grpSp>
        <p:grpSp>
          <p:nvGrpSpPr>
            <p:cNvPr id="20" name="Group 20"/>
            <p:cNvGrpSpPr/>
            <p:nvPr/>
          </p:nvGrpSpPr>
          <p:grpSpPr>
            <a:xfrm rot="0">
              <a:off x="4317693" y="2071648"/>
              <a:ext cx="1733919" cy="4069729"/>
              <a:chOff x="4317693" y="2071648"/>
              <a:chExt cx="1733919" cy="4069729"/>
            </a:xfrm>
          </p:grpSpPr>
          <p:grpSp>
            <p:nvGrpSpPr>
              <p:cNvPr id="21" name="Group 21"/>
              <p:cNvGrpSpPr/>
              <p:nvPr/>
            </p:nvGrpSpPr>
            <p:grpSpPr>
              <a:xfrm rot="0">
                <a:off x="4317693" y="2071648"/>
                <a:ext cx="1482370" cy="2205709"/>
                <a:chOff x="4395043" y="2071648"/>
                <a:chExt cx="1482370" cy="2205709"/>
              </a:xfrm>
            </p:grpSpPr>
            <p:sp>
              <p:nvSpPr>
                <p:cNvPr id="22" name="AutoShape 22"/>
                <p:cNvSpPr/>
                <p:nvPr>
                  <p:custDataLst>
                    <p:tags r:id="rId12"/>
                  </p:custDataLst>
                </p:nvPr>
              </p:nvSpPr>
              <p:spPr>
                <a:xfrm flipV="1">
                  <a:off x="4600384" y="2071648"/>
                  <a:ext cx="0" cy="1795023"/>
                </a:xfrm>
                <a:prstGeom prst="line">
                  <a:avLst/>
                </a:prstGeom>
                <a:ln w="6350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23" name="AutoShape 23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4600384" y="2071648"/>
                  <a:ext cx="1277029" cy="390203"/>
                </a:xfrm>
                <a:prstGeom prst="homePlate">
                  <a:avLst/>
                </a:prstGeom>
                <a:solidFill>
                  <a:srgbClr val="9D9D9D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headEnd type="none"/>
                  <a:tailEnd type="none"/>
                </a:ln>
              </p:spPr>
            </p:sp>
            <p:sp>
              <p:nvSpPr>
                <p:cNvPr id="24" name="TextBox 24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4395043" y="3866671"/>
                  <a:ext cx="410685" cy="410686"/>
                </a:xfrm>
                <a:prstGeom prst="ellipse">
                  <a:avLst/>
                </a:prstGeom>
                <a:solidFill>
                  <a:srgbClr val="9D9D9D">
                    <a:alpha val="100000"/>
                  </a:srgbClr>
                </a:solidFill>
                <a:ln w="28575">
                  <a:solidFill>
                    <a:srgbClr val="FFFFFF">
                      <a:alpha val="100000"/>
                    </a:srgbClr>
                  </a:solidFill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1"/>
                <a:lstStyle/>
                <a:p>
                  <a:pPr algn="ctr">
                    <a:lnSpc>
                      <a:spcPct val="96000"/>
                    </a:lnSpc>
                    <a:defRPr/>
                  </a:pPr>
                  <a:r>
                    <a:rPr lang="en-US" sz="13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03</a:t>
                  </a:r>
                  <a:endParaRPr lang="en-US" sz="1100"/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 rot="0">
                <a:off x="4317693" y="4432301"/>
                <a:ext cx="1733919" cy="1709076"/>
                <a:chOff x="4317693" y="4432301"/>
                <a:chExt cx="1733919" cy="1506638"/>
              </a:xfrm>
            </p:grpSpPr>
            <p:sp>
              <p:nvSpPr>
                <p:cNvPr id="26" name="TextBox 26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4317693" y="4432301"/>
                  <a:ext cx="1733919" cy="57710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面试辅导</a:t>
                  </a:r>
                  <a:endParaRPr lang="en-US" sz="1100"/>
                </a:p>
              </p:txBody>
            </p:sp>
            <p:sp>
              <p:nvSpPr>
                <p:cNvPr id="27" name="TextBox 27"/>
                <p:cNvSpPr txBox="1"/>
                <p:nvPr>
                  <p:custDataLst>
                    <p:tags r:id="rId16"/>
                  </p:custDataLst>
                </p:nvPr>
              </p:nvSpPr>
              <p:spPr>
                <a:xfrm>
                  <a:off x="4317693" y="5009400"/>
                  <a:ext cx="1733919" cy="92953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提升面试技巧与综合表现。</a:t>
                  </a:r>
                  <a:endParaRPr lang="en-US" sz="1100"/>
                </a:p>
              </p:txBody>
            </p:sp>
          </p:grpSp>
        </p:grpSp>
        <p:grpSp>
          <p:nvGrpSpPr>
            <p:cNvPr id="28" name="Group 28"/>
            <p:cNvGrpSpPr/>
            <p:nvPr/>
          </p:nvGrpSpPr>
          <p:grpSpPr>
            <a:xfrm rot="0">
              <a:off x="6140388" y="2071648"/>
              <a:ext cx="1733919" cy="4069729"/>
              <a:chOff x="6140388" y="2071648"/>
              <a:chExt cx="1733919" cy="4069729"/>
            </a:xfrm>
          </p:grpSpPr>
          <p:grpSp>
            <p:nvGrpSpPr>
              <p:cNvPr id="29" name="Group 29"/>
              <p:cNvGrpSpPr/>
              <p:nvPr/>
            </p:nvGrpSpPr>
            <p:grpSpPr>
              <a:xfrm rot="0">
                <a:off x="6140388" y="2071648"/>
                <a:ext cx="1482369" cy="2205709"/>
                <a:chOff x="5742288" y="2071648"/>
                <a:chExt cx="1482369" cy="2205709"/>
              </a:xfrm>
            </p:grpSpPr>
            <p:sp>
              <p:nvSpPr>
                <p:cNvPr id="30" name="AutoShape 30"/>
                <p:cNvSpPr/>
                <p:nvPr>
                  <p:custDataLst>
                    <p:tags r:id="rId17"/>
                  </p:custDataLst>
                </p:nvPr>
              </p:nvSpPr>
              <p:spPr>
                <a:xfrm flipV="1">
                  <a:off x="5947628" y="2071648"/>
                  <a:ext cx="0" cy="1795023"/>
                </a:xfrm>
                <a:prstGeom prst="line">
                  <a:avLst/>
                </a:prstGeom>
                <a:ln w="6350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31" name="AutoShape 31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5947628" y="2071648"/>
                  <a:ext cx="1277029" cy="390203"/>
                </a:xfrm>
                <a:prstGeom prst="homePlate">
                  <a:avLst/>
                </a:prstGeom>
                <a:solidFill>
                  <a:srgbClr val="CEA66F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headEnd type="none"/>
                  <a:tailEnd type="none"/>
                </a:ln>
              </p:spPr>
            </p:sp>
            <p:sp>
              <p:nvSpPr>
                <p:cNvPr id="32" name="TextBox 32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5742288" y="3866671"/>
                  <a:ext cx="410685" cy="410686"/>
                </a:xfrm>
                <a:prstGeom prst="ellipse">
                  <a:avLst/>
                </a:prstGeom>
                <a:solidFill>
                  <a:srgbClr val="CEA66F">
                    <a:alpha val="100000"/>
                  </a:srgbClr>
                </a:solidFill>
                <a:ln w="28575">
                  <a:solidFill>
                    <a:srgbClr val="FFFFFF">
                      <a:alpha val="100000"/>
                    </a:srgbClr>
                  </a:solidFill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1"/>
                <a:lstStyle/>
                <a:p>
                  <a:pPr algn="ctr">
                    <a:lnSpc>
                      <a:spcPct val="96000"/>
                    </a:lnSpc>
                    <a:defRPr/>
                  </a:pPr>
                  <a:r>
                    <a:rPr lang="en-US" sz="13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04</a:t>
                  </a:r>
                  <a:endParaRPr lang="en-US" sz="1100"/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 rot="0">
                <a:off x="6140388" y="4432301"/>
                <a:ext cx="1733919" cy="1709076"/>
                <a:chOff x="6140388" y="4432301"/>
                <a:chExt cx="1733919" cy="1506638"/>
              </a:xfrm>
            </p:grpSpPr>
            <p:sp>
              <p:nvSpPr>
                <p:cNvPr id="34" name="TextBox 34"/>
                <p:cNvSpPr txBox="1"/>
                <p:nvPr>
                  <p:custDataLst>
                    <p:tags r:id="rId20"/>
                  </p:custDataLst>
                </p:nvPr>
              </p:nvSpPr>
              <p:spPr>
                <a:xfrm>
                  <a:off x="6140388" y="4432301"/>
                  <a:ext cx="1733919" cy="57710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6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面试</a:t>
                  </a:r>
                  <a:r>
                    <a:rPr lang="zh-CN" altLang="en-US" sz="16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确认</a:t>
                  </a:r>
                  <a:endParaRPr lang="zh-CN" altLang="en-US" sz="16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35" name="TextBox 35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6140388" y="5009400"/>
                  <a:ext cx="1733919" cy="92953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精准匹配，高效触达心仪企业。</a:t>
                  </a:r>
                  <a:endParaRPr lang="en-US" sz="1100"/>
                </a:p>
              </p:txBody>
            </p:sp>
          </p:grpSp>
        </p:grpSp>
        <p:grpSp>
          <p:nvGrpSpPr>
            <p:cNvPr id="36" name="Group 36"/>
            <p:cNvGrpSpPr/>
            <p:nvPr/>
          </p:nvGrpSpPr>
          <p:grpSpPr>
            <a:xfrm rot="0">
              <a:off x="7963083" y="2071648"/>
              <a:ext cx="1733919" cy="4069729"/>
              <a:chOff x="7963083" y="2071648"/>
              <a:chExt cx="1733919" cy="4069729"/>
            </a:xfrm>
          </p:grpSpPr>
          <p:grpSp>
            <p:nvGrpSpPr>
              <p:cNvPr id="37" name="Group 37"/>
              <p:cNvGrpSpPr/>
              <p:nvPr/>
            </p:nvGrpSpPr>
            <p:grpSpPr>
              <a:xfrm rot="0">
                <a:off x="7963083" y="2071648"/>
                <a:ext cx="1482368" cy="2205709"/>
                <a:chOff x="7081007" y="2071648"/>
                <a:chExt cx="1482368" cy="2205709"/>
              </a:xfrm>
            </p:grpSpPr>
            <p:sp>
              <p:nvSpPr>
                <p:cNvPr id="38" name="AutoShape 38"/>
                <p:cNvSpPr/>
                <p:nvPr>
                  <p:custDataLst>
                    <p:tags r:id="rId22"/>
                  </p:custDataLst>
                </p:nvPr>
              </p:nvSpPr>
              <p:spPr>
                <a:xfrm flipV="1">
                  <a:off x="7286346" y="2071648"/>
                  <a:ext cx="0" cy="1795023"/>
                </a:xfrm>
                <a:prstGeom prst="line">
                  <a:avLst/>
                </a:prstGeom>
                <a:ln w="6350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39" name="AutoShape 39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7286346" y="2071648"/>
                  <a:ext cx="1277029" cy="390203"/>
                </a:xfrm>
                <a:prstGeom prst="homePlate">
                  <a:avLst/>
                </a:prstGeom>
                <a:solidFill>
                  <a:srgbClr val="0C1925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headEnd type="none"/>
                  <a:tailEnd type="none"/>
                </a:ln>
              </p:spPr>
            </p:sp>
            <p:sp>
              <p:nvSpPr>
                <p:cNvPr id="40" name="TextBox 40"/>
                <p:cNvSpPr txBox="1"/>
                <p:nvPr>
                  <p:custDataLst>
                    <p:tags r:id="rId24"/>
                  </p:custDataLst>
                </p:nvPr>
              </p:nvSpPr>
              <p:spPr>
                <a:xfrm>
                  <a:off x="7081007" y="3866671"/>
                  <a:ext cx="410685" cy="410686"/>
                </a:xfrm>
                <a:prstGeom prst="ellipse">
                  <a:avLst/>
                </a:prstGeom>
                <a:solidFill>
                  <a:srgbClr val="0C1925">
                    <a:alpha val="100000"/>
                  </a:srgbClr>
                </a:solidFill>
                <a:ln w="28575">
                  <a:solidFill>
                    <a:srgbClr val="FFFFFF">
                      <a:alpha val="100000"/>
                    </a:srgbClr>
                  </a:solidFill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1"/>
                <a:lstStyle/>
                <a:p>
                  <a:pPr algn="ctr">
                    <a:lnSpc>
                      <a:spcPct val="96000"/>
                    </a:lnSpc>
                    <a:defRPr/>
                  </a:pPr>
                  <a:r>
                    <a:rPr lang="en-US" sz="13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05</a:t>
                  </a:r>
                  <a:endParaRPr lang="en-US" sz="1100"/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 rot="0">
                <a:off x="7963083" y="4432301"/>
                <a:ext cx="1733919" cy="1709076"/>
                <a:chOff x="7963083" y="4432301"/>
                <a:chExt cx="1733919" cy="1506638"/>
              </a:xfrm>
            </p:grpSpPr>
            <p:sp>
              <p:nvSpPr>
                <p:cNvPr id="42" name="TextBox 42"/>
                <p:cNvSpPr txBox="1"/>
                <p:nvPr>
                  <p:custDataLst>
                    <p:tags r:id="rId25"/>
                  </p:custDataLst>
                </p:nvPr>
              </p:nvSpPr>
              <p:spPr>
                <a:xfrm>
                  <a:off x="7963083" y="4432301"/>
                  <a:ext cx="1733919" cy="57710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6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转正</a:t>
                  </a:r>
                  <a:r>
                    <a:rPr lang="en-US" sz="16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辅导</a:t>
                  </a:r>
                  <a:endParaRPr lang="en-US" sz="1100"/>
                </a:p>
              </p:txBody>
            </p:sp>
            <p:sp>
              <p:nvSpPr>
                <p:cNvPr id="43" name="TextBox 43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7963083" y="5009400"/>
                  <a:ext cx="1733919" cy="92953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平稳度过试用期，成功转正。</a:t>
                  </a:r>
                  <a:endParaRPr lang="en-US" sz="1100"/>
                </a:p>
              </p:txBody>
            </p:sp>
          </p:grpSp>
        </p:grpSp>
        <p:grpSp>
          <p:nvGrpSpPr>
            <p:cNvPr id="44" name="Group 44"/>
            <p:cNvGrpSpPr/>
            <p:nvPr/>
          </p:nvGrpSpPr>
          <p:grpSpPr>
            <a:xfrm rot="0">
              <a:off x="9785778" y="2071648"/>
              <a:ext cx="1733919" cy="4069729"/>
              <a:chOff x="9785778" y="2071648"/>
              <a:chExt cx="1733919" cy="4069729"/>
            </a:xfrm>
          </p:grpSpPr>
          <p:grpSp>
            <p:nvGrpSpPr>
              <p:cNvPr id="45" name="Group 45"/>
              <p:cNvGrpSpPr/>
              <p:nvPr/>
            </p:nvGrpSpPr>
            <p:grpSpPr>
              <a:xfrm rot="0">
                <a:off x="9785778" y="2071648"/>
                <a:ext cx="1482370" cy="2205709"/>
                <a:chOff x="8411198" y="2071648"/>
                <a:chExt cx="1482370" cy="2205709"/>
              </a:xfrm>
            </p:grpSpPr>
            <p:sp>
              <p:nvSpPr>
                <p:cNvPr id="46" name="AutoShape 46"/>
                <p:cNvSpPr/>
                <p:nvPr>
                  <p:custDataLst>
                    <p:tags r:id="rId27"/>
                  </p:custDataLst>
                </p:nvPr>
              </p:nvSpPr>
              <p:spPr>
                <a:xfrm flipV="1">
                  <a:off x="8616539" y="2071648"/>
                  <a:ext cx="0" cy="1795023"/>
                </a:xfrm>
                <a:prstGeom prst="line">
                  <a:avLst/>
                </a:prstGeom>
                <a:ln w="6350">
                  <a:solidFill>
                    <a:srgbClr val="000000">
                      <a:alpha val="50196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47" name="AutoShape 47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8616539" y="2071648"/>
                  <a:ext cx="1277029" cy="390203"/>
                </a:xfrm>
                <a:prstGeom prst="homePlate">
                  <a:avLst/>
                </a:prstGeom>
                <a:solidFill>
                  <a:srgbClr val="B6BFC8">
                    <a:alpha val="100000"/>
                  </a:srgbClr>
                </a:solidFill>
                <a:ln w="6350">
                  <a:solidFill>
                    <a:srgbClr val="FFFFFF">
                      <a:alpha val="50196"/>
                    </a:srgbClr>
                  </a:solidFill>
                  <a:headEnd type="none"/>
                  <a:tailEnd type="none"/>
                </a:ln>
              </p:spPr>
            </p:sp>
            <p:sp>
              <p:nvSpPr>
                <p:cNvPr id="48" name="TextBox 48"/>
                <p:cNvSpPr txBox="1"/>
                <p:nvPr>
                  <p:custDataLst>
                    <p:tags r:id="rId29"/>
                  </p:custDataLst>
                </p:nvPr>
              </p:nvSpPr>
              <p:spPr>
                <a:xfrm>
                  <a:off x="8411198" y="3866671"/>
                  <a:ext cx="410685" cy="410686"/>
                </a:xfrm>
                <a:prstGeom prst="ellipse">
                  <a:avLst/>
                </a:prstGeom>
                <a:solidFill>
                  <a:srgbClr val="B6BFC8">
                    <a:alpha val="100000"/>
                  </a:srgbClr>
                </a:solidFill>
                <a:ln w="28575">
                  <a:solidFill>
                    <a:srgbClr val="FFFFFF">
                      <a:alpha val="100000"/>
                    </a:srgbClr>
                  </a:solidFill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1"/>
                <a:lstStyle/>
                <a:p>
                  <a:pPr algn="ctr">
                    <a:lnSpc>
                      <a:spcPct val="96000"/>
                    </a:lnSpc>
                    <a:defRPr/>
                  </a:pPr>
                  <a:r>
                    <a:rPr lang="en-US" sz="13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06</a:t>
                  </a:r>
                  <a:endParaRPr lang="en-US" sz="1100"/>
                </a:p>
              </p:txBody>
            </p:sp>
          </p:grpSp>
          <p:grpSp>
            <p:nvGrpSpPr>
              <p:cNvPr id="49" name="Group 49"/>
              <p:cNvGrpSpPr/>
              <p:nvPr/>
            </p:nvGrpSpPr>
            <p:grpSpPr>
              <a:xfrm rot="0">
                <a:off x="9785778" y="4432301"/>
                <a:ext cx="1733919" cy="1709076"/>
                <a:chOff x="9785778" y="4432301"/>
                <a:chExt cx="1733919" cy="1506638"/>
              </a:xfrm>
            </p:grpSpPr>
            <p:sp>
              <p:nvSpPr>
                <p:cNvPr id="50" name="TextBox 50"/>
                <p:cNvSpPr txBox="1"/>
                <p:nvPr>
                  <p:custDataLst>
                    <p:tags r:id="rId30"/>
                  </p:custDataLst>
                </p:nvPr>
              </p:nvSpPr>
              <p:spPr>
                <a:xfrm>
                  <a:off x="9785778" y="4432301"/>
                  <a:ext cx="1733919" cy="57710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职后规划</a:t>
                  </a:r>
                  <a:endParaRPr lang="en-US" sz="1100"/>
                </a:p>
              </p:txBody>
            </p:sp>
            <p:sp>
              <p:nvSpPr>
                <p:cNvPr id="51" name="TextBox 51"/>
                <p:cNvSpPr txBox="1"/>
                <p:nvPr>
                  <p:custDataLst>
                    <p:tags r:id="rId31"/>
                  </p:custDataLst>
                </p:nvPr>
              </p:nvSpPr>
              <p:spPr>
                <a:xfrm>
                  <a:off x="9785778" y="5009400"/>
                  <a:ext cx="1733919" cy="929539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持续赋能，实现职场跃升。</a:t>
                  </a:r>
                  <a:endParaRPr lang="en-US" sz="1100"/>
                </a:p>
              </p:txBody>
            </p:sp>
          </p:grpSp>
        </p:grpSp>
        <p:sp>
          <p:nvSpPr>
            <p:cNvPr id="52" name="TextBox 52"/>
            <p:cNvSpPr txBox="1"/>
            <p:nvPr/>
          </p:nvSpPr>
          <p:spPr>
            <a:xfrm>
              <a:off x="660400" y="1130300"/>
              <a:ext cx="10858500" cy="65464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六个环节，环环相扣</a:t>
              </a:r>
              <a:endParaRPr lang="en-US" sz="1100"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服务环节总览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751e43f-fbe9-44a1-985c-e3ca5c22c50f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95325" y="1040108"/>
            <a:ext cx="10801350" cy="5184183"/>
            <a:chOff x="695325" y="1040108"/>
            <a:chExt cx="10801350" cy="5184183"/>
          </a:xfrm>
        </p:grpSpPr>
        <p:sp>
          <p:nvSpPr>
            <p:cNvPr id="4" name="AutoShape 4"/>
            <p:cNvSpPr/>
            <p:nvPr/>
          </p:nvSpPr>
          <p:spPr>
            <a:xfrm>
              <a:off x="695325" y="1040108"/>
              <a:ext cx="10801350" cy="5184183"/>
            </a:xfrm>
            <a:custGeom>
              <a:avLst/>
              <a:gdLst/>
              <a:ahLst/>
              <a:cxnLst/>
              <a:rect l="l" t="t" r="r" b="b"/>
              <a:pathLst>
                <a:path w="10801350" h="5184183">
                  <a:moveTo>
                    <a:pt x="443220" y="0"/>
                  </a:moveTo>
                  <a:lnTo>
                    <a:pt x="1138467" y="0"/>
                  </a:lnTo>
                  <a:lnTo>
                    <a:pt x="1303588" y="147234"/>
                  </a:lnTo>
                  <a:lnTo>
                    <a:pt x="3754333" y="147234"/>
                  </a:lnTo>
                  <a:lnTo>
                    <a:pt x="3910763" y="7750"/>
                  </a:lnTo>
                  <a:lnTo>
                    <a:pt x="5997575" y="7750"/>
                  </a:lnTo>
                  <a:lnTo>
                    <a:pt x="6200775" y="7750"/>
                  </a:lnTo>
                  <a:lnTo>
                    <a:pt x="10245152" y="7750"/>
                  </a:lnTo>
                  <a:lnTo>
                    <a:pt x="10792658" y="495946"/>
                  </a:lnTo>
                  <a:lnTo>
                    <a:pt x="10792658" y="3556861"/>
                  </a:lnTo>
                  <a:lnTo>
                    <a:pt x="10679682" y="3657599"/>
                  </a:lnTo>
                  <a:lnTo>
                    <a:pt x="10679682" y="4587499"/>
                  </a:lnTo>
                  <a:lnTo>
                    <a:pt x="10801350" y="4695987"/>
                  </a:lnTo>
                  <a:lnTo>
                    <a:pt x="10801350" y="4990454"/>
                  </a:lnTo>
                  <a:lnTo>
                    <a:pt x="10592776" y="5176434"/>
                  </a:lnTo>
                  <a:lnTo>
                    <a:pt x="9723717" y="5176434"/>
                  </a:lnTo>
                  <a:lnTo>
                    <a:pt x="9549906" y="5021451"/>
                  </a:lnTo>
                  <a:lnTo>
                    <a:pt x="7159995" y="5021451"/>
                  </a:lnTo>
                  <a:lnTo>
                    <a:pt x="6977493" y="5184183"/>
                  </a:lnTo>
                  <a:lnTo>
                    <a:pt x="6200775" y="5184183"/>
                  </a:lnTo>
                  <a:lnTo>
                    <a:pt x="5997575" y="5184183"/>
                  </a:lnTo>
                  <a:lnTo>
                    <a:pt x="608342" y="5184183"/>
                  </a:lnTo>
                  <a:lnTo>
                    <a:pt x="26073" y="4664990"/>
                  </a:lnTo>
                  <a:lnTo>
                    <a:pt x="26073" y="3386380"/>
                  </a:lnTo>
                  <a:lnTo>
                    <a:pt x="139049" y="3285642"/>
                  </a:lnTo>
                  <a:lnTo>
                    <a:pt x="139049" y="2076773"/>
                  </a:lnTo>
                  <a:lnTo>
                    <a:pt x="0" y="1952787"/>
                  </a:lnTo>
                  <a:lnTo>
                    <a:pt x="0" y="395207"/>
                  </a:lnTo>
                  <a:close/>
                </a:path>
              </a:pathLst>
            </a:custGeom>
            <a:solidFill>
              <a:srgbClr val="768394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795404" y="1716476"/>
              <a:ext cx="6601193" cy="1214199"/>
            </a:xfrm>
            <a:prstGeom prst="trapezoid">
              <a:avLst>
                <a:gd name="adj" fmla="val 39524"/>
              </a:avLst>
            </a:prstGeom>
            <a:gradFill>
              <a:gsLst>
                <a:gs pos="0">
                  <a:srgbClr val="4A58DA">
                    <a:alpha val="100000"/>
                    <a:lumMod val="60000"/>
                    <a:lumOff val="40000"/>
                  </a:srgbClr>
                </a:gs>
                <a:gs pos="50000">
                  <a:srgbClr val="4A58DA">
                    <a:alpha val="100000"/>
                  </a:srgbClr>
                </a:gs>
              </a:gsLst>
              <a:lin ang="2700000"/>
            </a:gradFill>
            <a:ln>
              <a:headEnd type="none"/>
              <a:tailEnd type="none"/>
            </a:ln>
          </p:spPr>
          <p:txBody>
            <a:bodyPr vert="horz" wrap="square" lIns="108000" tIns="108000" rIns="108000" bIns="108000" rtlCol="0" anchor="ctr" anchorCtr="0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精准定位，打造敲门砖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 flipV="1">
              <a:off x="9076740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rgbClr val="768394">
                <a:alpha val="14901"/>
              </a:srgbClr>
            </a:solidFill>
            <a:ln w="12700">
              <a:solidFill>
                <a:srgbClr val="DCDCDC">
                  <a:alpha val="5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V="1">
              <a:off x="9759479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rgbClr val="768394">
                <a:alpha val="14901"/>
              </a:srgbClr>
            </a:solidFill>
            <a:ln w="12700">
              <a:solidFill>
                <a:srgbClr val="DCDCDC">
                  <a:alpha val="5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2125461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rgbClr val="768394">
                <a:alpha val="14901"/>
              </a:srgbClr>
            </a:solidFill>
            <a:ln w="12700">
              <a:solidFill>
                <a:srgbClr val="DCDCDC">
                  <a:alpha val="5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1442723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rgbClr val="768394">
                <a:alpha val="14901"/>
              </a:srgbClr>
            </a:solidFill>
            <a:ln w="12700">
              <a:solidFill>
                <a:srgbClr val="DCDCDC">
                  <a:alpha val="5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0" name="Group 10"/>
            <p:cNvGrpSpPr/>
            <p:nvPr/>
          </p:nvGrpSpPr>
          <p:grpSpPr>
            <a:xfrm rot="0">
              <a:off x="1020657" y="3443485"/>
              <a:ext cx="1581848" cy="2379650"/>
              <a:chOff x="1020657" y="3443485"/>
              <a:chExt cx="1581848" cy="237965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020657" y="3443485"/>
                <a:ext cx="1581847" cy="408008"/>
              </a:xfrm>
              <a:prstGeom prst="snip1Rect">
                <a:avLst/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DCDCDC">
                    <a:alpha val="50196"/>
                    <a:lumMod val="20000"/>
                    <a:lumOff val="8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7000"/>
                  </a:lnSpc>
                  <a:defRPr/>
                </a:pPr>
                <a:r>
                  <a:rPr lang="en-US" sz="17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20657" y="4657255"/>
                <a:ext cx="1581847" cy="11658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通过问卷全面了解求职者背景、技能与期望。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20658" y="3897215"/>
                <a:ext cx="1581847" cy="7373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信息收集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2734424" y="3443485"/>
              <a:ext cx="1581848" cy="2379650"/>
              <a:chOff x="2734424" y="3443485"/>
              <a:chExt cx="1581848" cy="237965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2734424" y="3443485"/>
                <a:ext cx="1581847" cy="408008"/>
              </a:xfrm>
              <a:prstGeom prst="snip1Rect">
                <a:avLst/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DCDCDC">
                    <a:alpha val="50196"/>
                    <a:lumMod val="20000"/>
                    <a:lumOff val="8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7000"/>
                  </a:lnSpc>
                  <a:defRPr/>
                </a:pPr>
                <a:r>
                  <a:rPr lang="en-US" sz="17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734424" y="4657255"/>
                <a:ext cx="1581847" cy="11658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AI分析求职者与职位的匹配度，推荐可行性职业路径。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734425" y="3897215"/>
                <a:ext cx="1581847" cy="7373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职业画像分析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4448191" y="3443485"/>
              <a:ext cx="1581848" cy="2379650"/>
              <a:chOff x="4448191" y="3443485"/>
              <a:chExt cx="1581848" cy="237965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4448191" y="3443485"/>
                <a:ext cx="1581847" cy="408008"/>
              </a:xfrm>
              <a:prstGeom prst="snip1Rect">
                <a:avLst/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DCDCDC">
                    <a:alpha val="50196"/>
                    <a:lumMod val="20000"/>
                    <a:lumOff val="8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7000"/>
                  </a:lnSpc>
                  <a:defRPr/>
                </a:pPr>
                <a:r>
                  <a:rPr lang="en-US" sz="17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48191" y="4657255"/>
                <a:ext cx="1581847" cy="11658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输出包含目标岗位、求职路径与能力提升建议的个性化报告。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48192" y="3897215"/>
                <a:ext cx="1581847" cy="7373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生成规划报告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6161958" y="3443485"/>
              <a:ext cx="1581848" cy="2379650"/>
              <a:chOff x="6161958" y="3443485"/>
              <a:chExt cx="1581848" cy="23796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161958" y="3443485"/>
                <a:ext cx="1581847" cy="408008"/>
              </a:xfrm>
              <a:prstGeom prst="snip1Rect">
                <a:avLst/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DCDCDC">
                    <a:alpha val="50196"/>
                    <a:lumMod val="20000"/>
                    <a:lumOff val="8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7000"/>
                  </a:lnSpc>
                  <a:defRPr/>
                </a:pPr>
                <a:r>
                  <a:rPr lang="en-US" sz="17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161958" y="4657255"/>
                <a:ext cx="1581847" cy="11658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调整布局，突出关键信息，提高HR阅读效率。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161959" y="3897215"/>
                <a:ext cx="1581847" cy="7373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简历结构优化</a:t>
                </a:r>
                <a:endParaRPr lang="en-US" sz="1100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0">
              <a:off x="7875725" y="3443485"/>
              <a:ext cx="1581848" cy="2379650"/>
              <a:chOff x="7875725" y="3443485"/>
              <a:chExt cx="1581848" cy="237965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875725" y="3443485"/>
                <a:ext cx="1581847" cy="408008"/>
              </a:xfrm>
              <a:prstGeom prst="snip1Rect">
                <a:avLst/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DCDCDC">
                    <a:alpha val="50196"/>
                    <a:lumMod val="20000"/>
                    <a:lumOff val="8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7000"/>
                  </a:lnSpc>
                  <a:defRPr/>
                </a:pPr>
                <a:r>
                  <a:rPr lang="en-US" sz="17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875725" y="4657255"/>
                <a:ext cx="1581847" cy="11658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使用行业术语与行动动词，增强简历专业性。</a:t>
                </a:r>
                <a:endParaRPr lang="en-US" sz="110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875726" y="3897215"/>
                <a:ext cx="1581847" cy="7373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内容措辞优化</a:t>
                </a:r>
                <a:endParaRPr lang="en-US" sz="1100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0">
              <a:off x="9589493" y="3443485"/>
              <a:ext cx="1581848" cy="2379651"/>
              <a:chOff x="9589493" y="3443485"/>
              <a:chExt cx="1581848" cy="2379651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9589493" y="3443485"/>
                <a:ext cx="1581847" cy="408009"/>
              </a:xfrm>
              <a:prstGeom prst="snip1Rect">
                <a:avLst/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DCDCDC">
                    <a:alpha val="50196"/>
                    <a:lumMod val="20000"/>
                    <a:lumOff val="8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17000"/>
                  </a:lnSpc>
                  <a:defRPr/>
                </a:pPr>
                <a:r>
                  <a:rPr lang="en-US" sz="17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6</a:t>
                </a:r>
                <a:endParaRPr lang="en-US" sz="110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589493" y="4657255"/>
                <a:ext cx="1581847" cy="116588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优化简历关键词，提升ATS系统筛选通过率。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589494" y="3897215"/>
                <a:ext cx="1581847" cy="7373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关键词嵌入</a:t>
                </a:r>
                <a:endParaRPr lang="en-US" sz="1100"/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职前规划与优化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a4a69af-2282-4dba-987d-907b2cc08a25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0" y="1479551"/>
            <a:ext cx="12192000" cy="4305299"/>
            <a:chOff x="0" y="1479551"/>
            <a:chExt cx="12192000" cy="4305299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>
              <a:off x="0" y="2762876"/>
              <a:ext cx="12192000" cy="1668015"/>
            </a:xfrm>
            <a:prstGeom prst="rect">
              <a:avLst/>
            </a:prstGeom>
            <a:blipFill rotWithShape="1">
              <a:blip r:embed="rId3">
                <a:alphaModFix amt="100000"/>
                <a:alphaModFix amt="100000"/>
              </a:blip>
              <a:stretch>
                <a:fillRect t="-186584" b="-186268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>
              <p:custDataLst>
                <p:tags r:id="rId4"/>
              </p:custDataLst>
            </p:nvPr>
          </p:nvSpPr>
          <p:spPr>
            <a:xfrm>
              <a:off x="671512" y="2762876"/>
              <a:ext cx="10848976" cy="1668015"/>
            </a:xfrm>
            <a:prstGeom prst="rect">
              <a:avLst/>
            </a:prstGeom>
            <a:solidFill>
              <a:srgbClr val="768394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400" y="1479551"/>
              <a:ext cx="10858500" cy="70679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实战演练，精准出击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 rot="0">
              <a:off x="668962" y="2495892"/>
              <a:ext cx="1574088" cy="3288958"/>
              <a:chOff x="668962" y="2754000"/>
              <a:chExt cx="1574088" cy="3288958"/>
            </a:xfrm>
          </p:grpSpPr>
          <p:sp>
            <p:nvSpPr>
              <p:cNvPr id="8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163505" y="2754000"/>
                <a:ext cx="585000" cy="585000"/>
              </a:xfrm>
              <a:prstGeom prst="ellipse">
                <a:avLst/>
              </a:prstGeom>
              <a:solidFill>
                <a:srgbClr val="4A58DA">
                  <a:alpha val="100000"/>
                </a:srgbClr>
              </a:solidFill>
              <a:ln w="762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68962" y="3648550"/>
                <a:ext cx="1574088" cy="804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面试题库构建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68962" y="4836459"/>
                <a:ext cx="1574088" cy="12064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整合海量真题，覆盖不同企业与岗位。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2510552" y="2495892"/>
              <a:ext cx="1574088" cy="3288958"/>
              <a:chOff x="668962" y="2754000"/>
              <a:chExt cx="1574088" cy="3288958"/>
            </a:xfrm>
          </p:grpSpPr>
          <p:sp>
            <p:nvSpPr>
              <p:cNvPr id="1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163505" y="2754000"/>
                <a:ext cx="585000" cy="585000"/>
              </a:xfrm>
              <a:prstGeom prst="ellipse">
                <a:avLst/>
              </a:prstGeom>
              <a:solidFill>
                <a:srgbClr val="4A58DA">
                  <a:alpha val="100000"/>
                </a:srgbClr>
              </a:solidFill>
              <a:ln w="762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68962" y="3648550"/>
                <a:ext cx="1574088" cy="804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AI</a:t>
                </a: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模拟面试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68962" y="4836459"/>
                <a:ext cx="1574088" cy="12064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提供文本、语音及视频模式，实时评估回答。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4352142" y="2495892"/>
              <a:ext cx="1574088" cy="3288958"/>
              <a:chOff x="668962" y="2754000"/>
              <a:chExt cx="1574088" cy="3288958"/>
            </a:xfrm>
          </p:grpSpPr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163505" y="2754000"/>
                <a:ext cx="585000" cy="585000"/>
              </a:xfrm>
              <a:prstGeom prst="ellipse">
                <a:avLst/>
              </a:prstGeom>
              <a:solidFill>
                <a:srgbClr val="4A58DA">
                  <a:alpha val="100000"/>
                </a:srgbClr>
              </a:solidFill>
              <a:ln w="762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668962" y="3648550"/>
                <a:ext cx="1574088" cy="804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生成评估报告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68962" y="4836459"/>
                <a:ext cx="1574088" cy="12064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多维度评分并提出具体改进建议。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6095942" y="2495892"/>
              <a:ext cx="1896745" cy="3288958"/>
              <a:chOff x="571172" y="2754000"/>
              <a:chExt cx="1896745" cy="3288958"/>
            </a:xfrm>
          </p:grpSpPr>
          <p:sp>
            <p:nvSpPr>
              <p:cNvPr id="20" name="TextBox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63505" y="2754000"/>
                <a:ext cx="585000" cy="585000"/>
              </a:xfrm>
              <a:prstGeom prst="ellipse">
                <a:avLst/>
              </a:prstGeom>
              <a:solidFill>
                <a:srgbClr val="4A58DA">
                  <a:alpha val="100000"/>
                </a:srgbClr>
              </a:solidFill>
              <a:ln w="762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571172" y="3648715"/>
                <a:ext cx="1896745" cy="80454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建立企业数据库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68962" y="4836459"/>
                <a:ext cx="1574088" cy="12064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系统收集合作企业招聘信息。</a:t>
                </a:r>
                <a:endParaRPr lang="en-US" sz="11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8035322" y="2495892"/>
              <a:ext cx="1574088" cy="3288958"/>
              <a:chOff x="668962" y="2754000"/>
              <a:chExt cx="1574088" cy="3288958"/>
            </a:xfrm>
          </p:grpSpPr>
          <p:sp>
            <p:nvSpPr>
              <p:cNvPr id="24" name="TextBox 2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163505" y="2754000"/>
                <a:ext cx="585000" cy="585000"/>
              </a:xfrm>
              <a:prstGeom prst="ellipse">
                <a:avLst/>
              </a:prstGeom>
              <a:solidFill>
                <a:srgbClr val="4A58DA">
                  <a:alpha val="100000"/>
                </a:srgbClr>
              </a:solidFill>
              <a:ln w="762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668962" y="3648550"/>
                <a:ext cx="1574088" cy="804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智能匹配职位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668962" y="4836459"/>
                <a:ext cx="1574088" cy="12064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根据求职者画像精准推荐岗位。</a:t>
                </a:r>
                <a:endParaRPr lang="en-US" sz="1100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 rot="0">
              <a:off x="9876912" y="2495892"/>
              <a:ext cx="1574088" cy="3288958"/>
              <a:chOff x="668962" y="2754000"/>
              <a:chExt cx="1574088" cy="3288958"/>
            </a:xfrm>
          </p:grpSpPr>
          <p:sp>
            <p:nvSpPr>
              <p:cNvPr id="28" name="TextBox 28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163505" y="2754000"/>
                <a:ext cx="585000" cy="585000"/>
              </a:xfrm>
              <a:prstGeom prst="ellipse">
                <a:avLst/>
              </a:prstGeom>
              <a:solidFill>
                <a:srgbClr val="4A58DA">
                  <a:alpha val="100000"/>
                </a:srgbClr>
              </a:solidFill>
              <a:ln w="762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06</a:t>
                </a:r>
                <a:endParaRPr lang="en-US" sz="1100"/>
              </a:p>
            </p:txBody>
          </p:sp>
          <p:sp>
            <p:nvSpPr>
              <p:cNvPr id="29" name="TextBox 29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668962" y="3648550"/>
                <a:ext cx="1574088" cy="804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定向简历投递</a:t>
                </a:r>
                <a:endParaRPr lang="en-US" sz="1100"/>
              </a:p>
            </p:txBody>
          </p:sp>
          <p:sp>
            <p:nvSpPr>
              <p:cNvPr id="30" name="TextBox 30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668962" y="4836459"/>
                <a:ext cx="1574088" cy="12064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36000" rtlCol="0" anchor="t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在授权下代理投递，并记录反馈。</a:t>
                </a:r>
                <a:endParaRPr lang="en-US" sz="1100"/>
              </a:p>
            </p:txBody>
          </p:sp>
        </p:grpSp>
      </p:grpSp>
      <p:sp>
        <p:nvSpPr>
          <p:cNvPr id="31" name="TextBox 3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面试与投递服务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9f8391-7660-40a7-a3cb-2d355b2f732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73100" y="1130300"/>
            <a:ext cx="10845800" cy="5016501"/>
            <a:chOff x="673100" y="1130300"/>
            <a:chExt cx="10845800" cy="5016501"/>
          </a:xfrm>
        </p:grpSpPr>
        <p:sp>
          <p:nvSpPr>
            <p:cNvPr id="4" name="TextBox 4"/>
            <p:cNvSpPr txBox="1"/>
            <p:nvPr/>
          </p:nvSpPr>
          <p:spPr>
            <a:xfrm>
              <a:off x="673100" y="1130300"/>
              <a:ext cx="10845800" cy="67131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长期陪伴，持续成长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98500" y="2151466"/>
              <a:ext cx="2578502" cy="3995335"/>
              <a:chOff x="182819" y="2151466"/>
              <a:chExt cx="2578502" cy="3995335"/>
            </a:xfrm>
          </p:grpSpPr>
          <p:sp>
            <p:nvSpPr>
              <p:cNvPr id="6" name="AutoShape 6"/>
              <p:cNvSpPr/>
              <p:nvPr>
                <p:custDataLst>
                  <p:tags r:id="rId2"/>
                </p:custDataLst>
              </p:nvPr>
            </p:nvSpPr>
            <p:spPr>
              <a:xfrm>
                <a:off x="917694" y="2757846"/>
                <a:ext cx="1108750" cy="1108750"/>
              </a:xfrm>
              <a:prstGeom prst="roundRect">
                <a:avLst/>
              </a:prstGeom>
              <a:solidFill>
                <a:srgbClr val="4A58DA">
                  <a:alpha val="100000"/>
                </a:srgbClr>
              </a:solidFill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>
                <p:custDataLst>
                  <p:tags r:id="rId3"/>
                </p:custDataLst>
              </p:nvPr>
            </p:nvSpPr>
            <p:spPr>
              <a:xfrm>
                <a:off x="1282666" y="3034365"/>
                <a:ext cx="378806" cy="555713"/>
              </a:xfrm>
              <a:custGeom>
                <a:avLst/>
                <a:gdLst/>
                <a:ahLst/>
                <a:cxnLst/>
                <a:rect l="l" t="t" r="r" b="b"/>
                <a:pathLst>
                  <a:path w="587568" h="861969">
                    <a:moveTo>
                      <a:pt x="264933" y="574916"/>
                    </a:moveTo>
                    <a:cubicBezTo>
                      <a:pt x="259969" y="574916"/>
                      <a:pt x="255005" y="579865"/>
                      <a:pt x="255005" y="584814"/>
                    </a:cubicBezTo>
                    <a:cubicBezTo>
                      <a:pt x="255005" y="584814"/>
                      <a:pt x="255005" y="604611"/>
                      <a:pt x="255005" y="614510"/>
                    </a:cubicBezTo>
                    <a:cubicBezTo>
                      <a:pt x="255005" y="614510"/>
                      <a:pt x="255005" y="619459"/>
                      <a:pt x="255005" y="624408"/>
                    </a:cubicBezTo>
                    <a:cubicBezTo>
                      <a:pt x="255005" y="624408"/>
                      <a:pt x="255005" y="624408"/>
                      <a:pt x="225224" y="748138"/>
                    </a:cubicBezTo>
                    <a:cubicBezTo>
                      <a:pt x="225224" y="758036"/>
                      <a:pt x="230187" y="762985"/>
                      <a:pt x="235151" y="767935"/>
                    </a:cubicBezTo>
                    <a:cubicBezTo>
                      <a:pt x="235151" y="767935"/>
                      <a:pt x="235151" y="767935"/>
                      <a:pt x="284787" y="817426"/>
                    </a:cubicBezTo>
                    <a:cubicBezTo>
                      <a:pt x="289751" y="822376"/>
                      <a:pt x="299678" y="822376"/>
                      <a:pt x="304642" y="817426"/>
                    </a:cubicBezTo>
                    <a:cubicBezTo>
                      <a:pt x="304642" y="817426"/>
                      <a:pt x="304642" y="817426"/>
                      <a:pt x="354278" y="767935"/>
                    </a:cubicBezTo>
                    <a:cubicBezTo>
                      <a:pt x="359241" y="762985"/>
                      <a:pt x="359241" y="758036"/>
                      <a:pt x="359241" y="748138"/>
                    </a:cubicBezTo>
                    <a:cubicBezTo>
                      <a:pt x="359241" y="748138"/>
                      <a:pt x="359241" y="748138"/>
                      <a:pt x="334423" y="624408"/>
                    </a:cubicBezTo>
                    <a:cubicBezTo>
                      <a:pt x="334423" y="619459"/>
                      <a:pt x="329460" y="614510"/>
                      <a:pt x="329460" y="614510"/>
                    </a:cubicBezTo>
                    <a:cubicBezTo>
                      <a:pt x="334423" y="604611"/>
                      <a:pt x="334423" y="584814"/>
                      <a:pt x="334423" y="584814"/>
                    </a:cubicBezTo>
                    <a:cubicBezTo>
                      <a:pt x="334423" y="579865"/>
                      <a:pt x="329460" y="574916"/>
                      <a:pt x="324496" y="574916"/>
                    </a:cubicBezTo>
                    <a:cubicBezTo>
                      <a:pt x="324496" y="574916"/>
                      <a:pt x="324496" y="574916"/>
                      <a:pt x="264933" y="574916"/>
                    </a:cubicBezTo>
                    <a:close/>
                    <a:moveTo>
                      <a:pt x="165660" y="525424"/>
                    </a:moveTo>
                    <a:cubicBezTo>
                      <a:pt x="165660" y="525424"/>
                      <a:pt x="165660" y="525424"/>
                      <a:pt x="175587" y="525424"/>
                    </a:cubicBezTo>
                    <a:cubicBezTo>
                      <a:pt x="185515" y="525424"/>
                      <a:pt x="408878" y="525424"/>
                      <a:pt x="418805" y="525424"/>
                    </a:cubicBezTo>
                    <a:cubicBezTo>
                      <a:pt x="458514" y="525424"/>
                      <a:pt x="483332" y="569967"/>
                      <a:pt x="483332" y="579865"/>
                    </a:cubicBezTo>
                    <a:cubicBezTo>
                      <a:pt x="483332" y="579865"/>
                      <a:pt x="483332" y="579865"/>
                      <a:pt x="587568" y="847122"/>
                    </a:cubicBezTo>
                    <a:cubicBezTo>
                      <a:pt x="587568" y="852071"/>
                      <a:pt x="587568" y="861969"/>
                      <a:pt x="572677" y="861969"/>
                    </a:cubicBezTo>
                    <a:cubicBezTo>
                      <a:pt x="572677" y="861969"/>
                      <a:pt x="572677" y="861969"/>
                      <a:pt x="508150" y="861969"/>
                    </a:cubicBezTo>
                    <a:cubicBezTo>
                      <a:pt x="493259" y="861969"/>
                      <a:pt x="488296" y="847122"/>
                      <a:pt x="488296" y="847122"/>
                    </a:cubicBezTo>
                    <a:cubicBezTo>
                      <a:pt x="488296" y="847122"/>
                      <a:pt x="488296" y="847122"/>
                      <a:pt x="443623" y="718443"/>
                    </a:cubicBezTo>
                    <a:cubicBezTo>
                      <a:pt x="443623" y="718443"/>
                      <a:pt x="438659" y="708544"/>
                      <a:pt x="438659" y="718443"/>
                    </a:cubicBezTo>
                    <a:cubicBezTo>
                      <a:pt x="438659" y="743189"/>
                      <a:pt x="438659" y="802579"/>
                      <a:pt x="438659" y="837223"/>
                    </a:cubicBezTo>
                    <a:cubicBezTo>
                      <a:pt x="438659" y="852071"/>
                      <a:pt x="443623" y="861969"/>
                      <a:pt x="423769" y="861969"/>
                    </a:cubicBezTo>
                    <a:cubicBezTo>
                      <a:pt x="423769" y="861969"/>
                      <a:pt x="423769" y="861969"/>
                      <a:pt x="175587" y="861969"/>
                    </a:cubicBezTo>
                    <a:cubicBezTo>
                      <a:pt x="165660" y="861969"/>
                      <a:pt x="160697" y="852071"/>
                      <a:pt x="160697" y="842172"/>
                    </a:cubicBezTo>
                    <a:cubicBezTo>
                      <a:pt x="160697" y="812477"/>
                      <a:pt x="160697" y="748138"/>
                      <a:pt x="160697" y="723392"/>
                    </a:cubicBezTo>
                    <a:cubicBezTo>
                      <a:pt x="160697" y="703595"/>
                      <a:pt x="155733" y="718443"/>
                      <a:pt x="155733" y="718443"/>
                    </a:cubicBezTo>
                    <a:cubicBezTo>
                      <a:pt x="155733" y="718443"/>
                      <a:pt x="155733" y="718443"/>
                      <a:pt x="106097" y="847122"/>
                    </a:cubicBezTo>
                    <a:cubicBezTo>
                      <a:pt x="106097" y="847122"/>
                      <a:pt x="101133" y="861969"/>
                      <a:pt x="91206" y="861969"/>
                    </a:cubicBezTo>
                    <a:cubicBezTo>
                      <a:pt x="91206" y="861969"/>
                      <a:pt x="91206" y="861969"/>
                      <a:pt x="16751" y="861969"/>
                    </a:cubicBezTo>
                    <a:cubicBezTo>
                      <a:pt x="1861" y="861969"/>
                      <a:pt x="-3103" y="852071"/>
                      <a:pt x="1861" y="847122"/>
                    </a:cubicBezTo>
                    <a:cubicBezTo>
                      <a:pt x="1861" y="847122"/>
                      <a:pt x="1861" y="847122"/>
                      <a:pt x="101133" y="579865"/>
                    </a:cubicBezTo>
                    <a:cubicBezTo>
                      <a:pt x="106097" y="569967"/>
                      <a:pt x="120988" y="525424"/>
                      <a:pt x="165660" y="525424"/>
                    </a:cubicBezTo>
                    <a:close/>
                    <a:moveTo>
                      <a:pt x="293949" y="346849"/>
                    </a:moveTo>
                    <a:cubicBezTo>
                      <a:pt x="302483" y="346849"/>
                      <a:pt x="309402" y="354537"/>
                      <a:pt x="309402" y="364020"/>
                    </a:cubicBezTo>
                    <a:cubicBezTo>
                      <a:pt x="309402" y="373503"/>
                      <a:pt x="302483" y="381191"/>
                      <a:pt x="293949" y="381191"/>
                    </a:cubicBezTo>
                    <a:cubicBezTo>
                      <a:pt x="285415" y="381191"/>
                      <a:pt x="278496" y="373503"/>
                      <a:pt x="278496" y="364020"/>
                    </a:cubicBezTo>
                    <a:cubicBezTo>
                      <a:pt x="278496" y="354537"/>
                      <a:pt x="285415" y="346849"/>
                      <a:pt x="293949" y="346849"/>
                    </a:cubicBezTo>
                    <a:close/>
                    <a:moveTo>
                      <a:pt x="293948" y="212916"/>
                    </a:moveTo>
                    <a:cubicBezTo>
                      <a:pt x="303392" y="212916"/>
                      <a:pt x="312835" y="217843"/>
                      <a:pt x="312835" y="227698"/>
                    </a:cubicBezTo>
                    <a:lnTo>
                      <a:pt x="303392" y="316390"/>
                    </a:lnTo>
                    <a:cubicBezTo>
                      <a:pt x="303392" y="321317"/>
                      <a:pt x="298670" y="326244"/>
                      <a:pt x="293948" y="326244"/>
                    </a:cubicBezTo>
                    <a:cubicBezTo>
                      <a:pt x="284505" y="326244"/>
                      <a:pt x="279783" y="321317"/>
                      <a:pt x="279783" y="316390"/>
                    </a:cubicBezTo>
                    <a:cubicBezTo>
                      <a:pt x="275061" y="227698"/>
                      <a:pt x="275061" y="227698"/>
                      <a:pt x="275061" y="227698"/>
                    </a:cubicBezTo>
                    <a:cubicBezTo>
                      <a:pt x="275061" y="217843"/>
                      <a:pt x="279783" y="212916"/>
                      <a:pt x="293948" y="212916"/>
                    </a:cubicBezTo>
                    <a:close/>
                    <a:moveTo>
                      <a:pt x="294702" y="170529"/>
                    </a:moveTo>
                    <a:cubicBezTo>
                      <a:pt x="230477" y="170529"/>
                      <a:pt x="186014" y="210562"/>
                      <a:pt x="186014" y="265606"/>
                    </a:cubicBezTo>
                    <a:cubicBezTo>
                      <a:pt x="186014" y="310642"/>
                      <a:pt x="205776" y="325654"/>
                      <a:pt x="220597" y="340666"/>
                    </a:cubicBezTo>
                    <a:cubicBezTo>
                      <a:pt x="235418" y="355678"/>
                      <a:pt x="255179" y="375695"/>
                      <a:pt x="255179" y="410723"/>
                    </a:cubicBezTo>
                    <a:cubicBezTo>
                      <a:pt x="255179" y="410723"/>
                      <a:pt x="255179" y="415727"/>
                      <a:pt x="260119" y="415727"/>
                    </a:cubicBezTo>
                    <a:cubicBezTo>
                      <a:pt x="265060" y="415727"/>
                      <a:pt x="270000" y="420731"/>
                      <a:pt x="294702" y="420731"/>
                    </a:cubicBezTo>
                    <a:cubicBezTo>
                      <a:pt x="314463" y="420731"/>
                      <a:pt x="324344" y="415727"/>
                      <a:pt x="324344" y="415727"/>
                    </a:cubicBezTo>
                    <a:cubicBezTo>
                      <a:pt x="329284" y="415727"/>
                      <a:pt x="329284" y="410723"/>
                      <a:pt x="329284" y="410723"/>
                    </a:cubicBezTo>
                    <a:cubicBezTo>
                      <a:pt x="329284" y="380699"/>
                      <a:pt x="349045" y="360682"/>
                      <a:pt x="363866" y="340666"/>
                    </a:cubicBezTo>
                    <a:cubicBezTo>
                      <a:pt x="383628" y="325654"/>
                      <a:pt x="398449" y="310642"/>
                      <a:pt x="398449" y="265606"/>
                    </a:cubicBezTo>
                    <a:cubicBezTo>
                      <a:pt x="398449" y="210562"/>
                      <a:pt x="353986" y="170529"/>
                      <a:pt x="294702" y="170529"/>
                    </a:cubicBezTo>
                    <a:close/>
                    <a:moveTo>
                      <a:pt x="294702" y="130497"/>
                    </a:moveTo>
                    <a:cubicBezTo>
                      <a:pt x="329284" y="130497"/>
                      <a:pt x="363866" y="145509"/>
                      <a:pt x="393508" y="170529"/>
                    </a:cubicBezTo>
                    <a:cubicBezTo>
                      <a:pt x="418210" y="195549"/>
                      <a:pt x="433031" y="230578"/>
                      <a:pt x="433031" y="265606"/>
                    </a:cubicBezTo>
                    <a:cubicBezTo>
                      <a:pt x="433031" y="325654"/>
                      <a:pt x="408329" y="350674"/>
                      <a:pt x="388568" y="370691"/>
                    </a:cubicBezTo>
                    <a:cubicBezTo>
                      <a:pt x="373747" y="380699"/>
                      <a:pt x="358926" y="390707"/>
                      <a:pt x="363866" y="405719"/>
                    </a:cubicBezTo>
                    <a:cubicBezTo>
                      <a:pt x="368807" y="410723"/>
                      <a:pt x="373747" y="415727"/>
                      <a:pt x="373747" y="420731"/>
                    </a:cubicBezTo>
                    <a:cubicBezTo>
                      <a:pt x="373747" y="430739"/>
                      <a:pt x="368807" y="450755"/>
                      <a:pt x="344105" y="455759"/>
                    </a:cubicBezTo>
                    <a:cubicBezTo>
                      <a:pt x="339165" y="460763"/>
                      <a:pt x="339165" y="460763"/>
                      <a:pt x="339165" y="460763"/>
                    </a:cubicBezTo>
                    <a:cubicBezTo>
                      <a:pt x="334224" y="470771"/>
                      <a:pt x="319403" y="480779"/>
                      <a:pt x="294702" y="480779"/>
                    </a:cubicBezTo>
                    <a:cubicBezTo>
                      <a:pt x="265060" y="480779"/>
                      <a:pt x="255179" y="470771"/>
                      <a:pt x="245298" y="460763"/>
                    </a:cubicBezTo>
                    <a:cubicBezTo>
                      <a:pt x="245298" y="460763"/>
                      <a:pt x="245298" y="460763"/>
                      <a:pt x="245298" y="455759"/>
                    </a:cubicBezTo>
                    <a:cubicBezTo>
                      <a:pt x="215656" y="450755"/>
                      <a:pt x="215656" y="435743"/>
                      <a:pt x="215656" y="420731"/>
                    </a:cubicBezTo>
                    <a:cubicBezTo>
                      <a:pt x="215656" y="415727"/>
                      <a:pt x="220597" y="410723"/>
                      <a:pt x="220597" y="405719"/>
                    </a:cubicBezTo>
                    <a:cubicBezTo>
                      <a:pt x="225537" y="390707"/>
                      <a:pt x="210716" y="380699"/>
                      <a:pt x="200835" y="370691"/>
                    </a:cubicBezTo>
                    <a:cubicBezTo>
                      <a:pt x="200835" y="370691"/>
                      <a:pt x="200835" y="370691"/>
                      <a:pt x="195895" y="370691"/>
                    </a:cubicBezTo>
                    <a:cubicBezTo>
                      <a:pt x="176134" y="350674"/>
                      <a:pt x="151432" y="325654"/>
                      <a:pt x="151432" y="265606"/>
                    </a:cubicBezTo>
                    <a:cubicBezTo>
                      <a:pt x="151432" y="230578"/>
                      <a:pt x="166253" y="195549"/>
                      <a:pt x="195895" y="170529"/>
                    </a:cubicBezTo>
                    <a:cubicBezTo>
                      <a:pt x="220597" y="145509"/>
                      <a:pt x="255179" y="130497"/>
                      <a:pt x="294702" y="130497"/>
                    </a:cubicBezTo>
                    <a:close/>
                    <a:moveTo>
                      <a:pt x="81664" y="91128"/>
                    </a:moveTo>
                    <a:cubicBezTo>
                      <a:pt x="86544" y="90515"/>
                      <a:pt x="91424" y="91741"/>
                      <a:pt x="96304" y="94194"/>
                    </a:cubicBezTo>
                    <a:cubicBezTo>
                      <a:pt x="140225" y="118724"/>
                      <a:pt x="140225" y="118724"/>
                      <a:pt x="140225" y="118724"/>
                    </a:cubicBezTo>
                    <a:cubicBezTo>
                      <a:pt x="149985" y="128536"/>
                      <a:pt x="154865" y="138347"/>
                      <a:pt x="145105" y="148159"/>
                    </a:cubicBezTo>
                    <a:cubicBezTo>
                      <a:pt x="145105" y="153065"/>
                      <a:pt x="135345" y="157971"/>
                      <a:pt x="130465" y="157971"/>
                    </a:cubicBezTo>
                    <a:cubicBezTo>
                      <a:pt x="125585" y="157971"/>
                      <a:pt x="120705" y="157971"/>
                      <a:pt x="120705" y="153065"/>
                    </a:cubicBezTo>
                    <a:cubicBezTo>
                      <a:pt x="76784" y="128536"/>
                      <a:pt x="76784" y="128536"/>
                      <a:pt x="76784" y="128536"/>
                    </a:cubicBezTo>
                    <a:cubicBezTo>
                      <a:pt x="67024" y="123630"/>
                      <a:pt x="62144" y="108912"/>
                      <a:pt x="67024" y="99100"/>
                    </a:cubicBezTo>
                    <a:cubicBezTo>
                      <a:pt x="71904" y="94194"/>
                      <a:pt x="76784" y="91741"/>
                      <a:pt x="81664" y="91128"/>
                    </a:cubicBezTo>
                    <a:close/>
                    <a:moveTo>
                      <a:pt x="504337" y="91128"/>
                    </a:moveTo>
                    <a:cubicBezTo>
                      <a:pt x="509917" y="91741"/>
                      <a:pt x="514878" y="94194"/>
                      <a:pt x="517358" y="99100"/>
                    </a:cubicBezTo>
                    <a:cubicBezTo>
                      <a:pt x="522318" y="108912"/>
                      <a:pt x="517358" y="123630"/>
                      <a:pt x="507437" y="128536"/>
                    </a:cubicBezTo>
                    <a:cubicBezTo>
                      <a:pt x="462793" y="153065"/>
                      <a:pt x="462793" y="153065"/>
                      <a:pt x="462793" y="153065"/>
                    </a:cubicBezTo>
                    <a:cubicBezTo>
                      <a:pt x="462793" y="157971"/>
                      <a:pt x="457833" y="157971"/>
                      <a:pt x="452873" y="157971"/>
                    </a:cubicBezTo>
                    <a:cubicBezTo>
                      <a:pt x="447912" y="157971"/>
                      <a:pt x="442952" y="153065"/>
                      <a:pt x="437991" y="148159"/>
                    </a:cubicBezTo>
                    <a:cubicBezTo>
                      <a:pt x="433031" y="138347"/>
                      <a:pt x="433031" y="128536"/>
                      <a:pt x="442952" y="118724"/>
                    </a:cubicBezTo>
                    <a:cubicBezTo>
                      <a:pt x="487595" y="94194"/>
                      <a:pt x="487595" y="94194"/>
                      <a:pt x="487595" y="94194"/>
                    </a:cubicBezTo>
                    <a:cubicBezTo>
                      <a:pt x="492556" y="91741"/>
                      <a:pt x="498756" y="90515"/>
                      <a:pt x="504337" y="91128"/>
                    </a:cubicBezTo>
                    <a:close/>
                    <a:moveTo>
                      <a:pt x="293948" y="0"/>
                    </a:moveTo>
                    <a:cubicBezTo>
                      <a:pt x="303392" y="0"/>
                      <a:pt x="312835" y="9921"/>
                      <a:pt x="312835" y="19842"/>
                    </a:cubicBezTo>
                    <a:cubicBezTo>
                      <a:pt x="312835" y="69446"/>
                      <a:pt x="312835" y="69446"/>
                      <a:pt x="312835" y="69446"/>
                    </a:cubicBezTo>
                    <a:cubicBezTo>
                      <a:pt x="312835" y="84327"/>
                      <a:pt x="303392" y="89288"/>
                      <a:pt x="293948" y="89288"/>
                    </a:cubicBezTo>
                    <a:cubicBezTo>
                      <a:pt x="279783" y="89288"/>
                      <a:pt x="275061" y="84327"/>
                      <a:pt x="275061" y="69446"/>
                    </a:cubicBezTo>
                    <a:cubicBezTo>
                      <a:pt x="275061" y="19842"/>
                      <a:pt x="275061" y="19842"/>
                      <a:pt x="275061" y="19842"/>
                    </a:cubicBezTo>
                    <a:cubicBezTo>
                      <a:pt x="275061" y="9921"/>
                      <a:pt x="279783" y="0"/>
                      <a:pt x="293948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19" y="4656027"/>
                <a:ext cx="2578502" cy="14907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提供入职指南、问题答疑与心态管理。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19" y="3959106"/>
                <a:ext cx="2578502" cy="6969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试用期支持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73099" y="2151466"/>
                <a:ext cx="1597941" cy="4467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3445799" y="2151466"/>
              <a:ext cx="2578502" cy="3995335"/>
              <a:chOff x="2032391" y="2151466"/>
              <a:chExt cx="2578502" cy="3995335"/>
            </a:xfrm>
          </p:grpSpPr>
          <p:sp>
            <p:nvSpPr>
              <p:cNvPr id="12" name="AutoShape 12"/>
              <p:cNvSpPr/>
              <p:nvPr>
                <p:custDataLst>
                  <p:tags r:id="rId7"/>
                </p:custDataLst>
              </p:nvPr>
            </p:nvSpPr>
            <p:spPr>
              <a:xfrm rot="10800000" flipV="1">
                <a:off x="2767266" y="2757846"/>
                <a:ext cx="1108750" cy="1108750"/>
              </a:xfrm>
              <a:prstGeom prst="roundRect">
                <a:avLst/>
              </a:prstGeom>
              <a:solidFill>
                <a:srgbClr val="DCDCDC">
                  <a:alpha val="100000"/>
                </a:srgbClr>
              </a:solidFill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>
                <p:custDataLst>
                  <p:tags r:id="rId8"/>
                </p:custDataLst>
              </p:nvPr>
            </p:nvSpPr>
            <p:spPr>
              <a:xfrm>
                <a:off x="3081933" y="3054289"/>
                <a:ext cx="479418" cy="515864"/>
              </a:xfrm>
              <a:custGeom>
                <a:avLst/>
                <a:gdLst/>
                <a:ahLst/>
                <a:cxnLst/>
                <a:rect l="l" t="t" r="r" b="b"/>
                <a:pathLst>
                  <a:path w="743627" h="800159">
                    <a:moveTo>
                      <a:pt x="624897" y="517493"/>
                    </a:moveTo>
                    <a:cubicBezTo>
                      <a:pt x="643644" y="517493"/>
                      <a:pt x="649893" y="523775"/>
                      <a:pt x="656142" y="530056"/>
                    </a:cubicBezTo>
                    <a:cubicBezTo>
                      <a:pt x="656142" y="530056"/>
                      <a:pt x="656142" y="530056"/>
                      <a:pt x="693635" y="574026"/>
                    </a:cubicBezTo>
                    <a:cubicBezTo>
                      <a:pt x="699884" y="574026"/>
                      <a:pt x="699884" y="574026"/>
                      <a:pt x="699884" y="574026"/>
                    </a:cubicBezTo>
                    <a:cubicBezTo>
                      <a:pt x="706133" y="574026"/>
                      <a:pt x="706133" y="574026"/>
                      <a:pt x="706133" y="574026"/>
                    </a:cubicBezTo>
                    <a:cubicBezTo>
                      <a:pt x="724880" y="574026"/>
                      <a:pt x="743627" y="592871"/>
                      <a:pt x="743627" y="611715"/>
                    </a:cubicBezTo>
                    <a:cubicBezTo>
                      <a:pt x="743627" y="630560"/>
                      <a:pt x="724880" y="643123"/>
                      <a:pt x="706133" y="643123"/>
                    </a:cubicBezTo>
                    <a:cubicBezTo>
                      <a:pt x="687387" y="643123"/>
                      <a:pt x="674889" y="630560"/>
                      <a:pt x="674889" y="611715"/>
                    </a:cubicBezTo>
                    <a:cubicBezTo>
                      <a:pt x="674889" y="605434"/>
                      <a:pt x="674889" y="605434"/>
                      <a:pt x="668640" y="599152"/>
                    </a:cubicBezTo>
                    <a:cubicBezTo>
                      <a:pt x="668640" y="599152"/>
                      <a:pt x="668640" y="599152"/>
                      <a:pt x="643644" y="574026"/>
                    </a:cubicBezTo>
                    <a:cubicBezTo>
                      <a:pt x="637395" y="567745"/>
                      <a:pt x="637395" y="574026"/>
                      <a:pt x="631146" y="574026"/>
                    </a:cubicBezTo>
                    <a:cubicBezTo>
                      <a:pt x="587403" y="630560"/>
                      <a:pt x="499917" y="668248"/>
                      <a:pt x="393685" y="680811"/>
                    </a:cubicBezTo>
                    <a:cubicBezTo>
                      <a:pt x="393685" y="680811"/>
                      <a:pt x="387436" y="680811"/>
                      <a:pt x="387436" y="687093"/>
                    </a:cubicBezTo>
                    <a:cubicBezTo>
                      <a:pt x="387436" y="687093"/>
                      <a:pt x="387436" y="687093"/>
                      <a:pt x="387436" y="731063"/>
                    </a:cubicBezTo>
                    <a:cubicBezTo>
                      <a:pt x="387436" y="737345"/>
                      <a:pt x="387436" y="737345"/>
                      <a:pt x="387436" y="737345"/>
                    </a:cubicBezTo>
                    <a:cubicBezTo>
                      <a:pt x="393685" y="743626"/>
                      <a:pt x="399934" y="756189"/>
                      <a:pt x="399934" y="762470"/>
                    </a:cubicBezTo>
                    <a:cubicBezTo>
                      <a:pt x="399934" y="781315"/>
                      <a:pt x="387436" y="800159"/>
                      <a:pt x="368689" y="800159"/>
                    </a:cubicBezTo>
                    <a:cubicBezTo>
                      <a:pt x="349942" y="800159"/>
                      <a:pt x="331195" y="781315"/>
                      <a:pt x="331195" y="762470"/>
                    </a:cubicBezTo>
                    <a:cubicBezTo>
                      <a:pt x="331195" y="756189"/>
                      <a:pt x="337444" y="743626"/>
                      <a:pt x="343693" y="737345"/>
                    </a:cubicBezTo>
                    <a:cubicBezTo>
                      <a:pt x="343693" y="737345"/>
                      <a:pt x="349942" y="737345"/>
                      <a:pt x="349942" y="731063"/>
                    </a:cubicBezTo>
                    <a:cubicBezTo>
                      <a:pt x="349942" y="731063"/>
                      <a:pt x="349942" y="731063"/>
                      <a:pt x="349942" y="687093"/>
                    </a:cubicBezTo>
                    <a:cubicBezTo>
                      <a:pt x="349942" y="680811"/>
                      <a:pt x="343693" y="680811"/>
                      <a:pt x="337444" y="680811"/>
                    </a:cubicBezTo>
                    <a:cubicBezTo>
                      <a:pt x="237461" y="674530"/>
                      <a:pt x="149975" y="636841"/>
                      <a:pt x="99984" y="580308"/>
                    </a:cubicBezTo>
                    <a:cubicBezTo>
                      <a:pt x="99984" y="580308"/>
                      <a:pt x="93735" y="574026"/>
                      <a:pt x="87486" y="580308"/>
                    </a:cubicBezTo>
                    <a:cubicBezTo>
                      <a:pt x="87486" y="580308"/>
                      <a:pt x="87486" y="580308"/>
                      <a:pt x="68739" y="599152"/>
                    </a:cubicBezTo>
                    <a:cubicBezTo>
                      <a:pt x="68739" y="605434"/>
                      <a:pt x="68739" y="605434"/>
                      <a:pt x="68739" y="611715"/>
                    </a:cubicBezTo>
                    <a:cubicBezTo>
                      <a:pt x="68739" y="630560"/>
                      <a:pt x="49992" y="643123"/>
                      <a:pt x="31245" y="643123"/>
                    </a:cubicBezTo>
                    <a:cubicBezTo>
                      <a:pt x="12498" y="643123"/>
                      <a:pt x="0" y="630560"/>
                      <a:pt x="0" y="611715"/>
                    </a:cubicBezTo>
                    <a:cubicBezTo>
                      <a:pt x="0" y="592871"/>
                      <a:pt x="12498" y="574026"/>
                      <a:pt x="31245" y="574026"/>
                    </a:cubicBezTo>
                    <a:cubicBezTo>
                      <a:pt x="37494" y="574026"/>
                      <a:pt x="37494" y="574026"/>
                      <a:pt x="37494" y="574026"/>
                    </a:cubicBezTo>
                    <a:cubicBezTo>
                      <a:pt x="37494" y="574026"/>
                      <a:pt x="43743" y="574026"/>
                      <a:pt x="43743" y="574026"/>
                    </a:cubicBezTo>
                    <a:cubicBezTo>
                      <a:pt x="43743" y="574026"/>
                      <a:pt x="43743" y="574026"/>
                      <a:pt x="87486" y="530056"/>
                    </a:cubicBezTo>
                    <a:cubicBezTo>
                      <a:pt x="93735" y="523775"/>
                      <a:pt x="106233" y="523775"/>
                      <a:pt x="112482" y="530056"/>
                    </a:cubicBezTo>
                    <a:cubicBezTo>
                      <a:pt x="112482" y="536338"/>
                      <a:pt x="118730" y="536338"/>
                      <a:pt x="118730" y="542619"/>
                    </a:cubicBezTo>
                    <a:cubicBezTo>
                      <a:pt x="143726" y="599152"/>
                      <a:pt x="249959" y="643123"/>
                      <a:pt x="362440" y="643123"/>
                    </a:cubicBezTo>
                    <a:cubicBezTo>
                      <a:pt x="474922" y="643123"/>
                      <a:pt x="593652" y="592871"/>
                      <a:pt x="612399" y="536338"/>
                    </a:cubicBezTo>
                    <a:cubicBezTo>
                      <a:pt x="618648" y="536338"/>
                      <a:pt x="618648" y="523775"/>
                      <a:pt x="624897" y="517493"/>
                    </a:cubicBezTo>
                    <a:close/>
                    <a:moveTo>
                      <a:pt x="335818" y="339470"/>
                    </a:moveTo>
                    <a:cubicBezTo>
                      <a:pt x="329536" y="339470"/>
                      <a:pt x="329536" y="345721"/>
                      <a:pt x="329536" y="351972"/>
                    </a:cubicBezTo>
                    <a:cubicBezTo>
                      <a:pt x="329536" y="351972"/>
                      <a:pt x="329536" y="364475"/>
                      <a:pt x="329536" y="370726"/>
                    </a:cubicBezTo>
                    <a:cubicBezTo>
                      <a:pt x="329536" y="370726"/>
                      <a:pt x="329536" y="376977"/>
                      <a:pt x="329536" y="383229"/>
                    </a:cubicBezTo>
                    <a:cubicBezTo>
                      <a:pt x="329536" y="383229"/>
                      <a:pt x="329536" y="383229"/>
                      <a:pt x="304411" y="489500"/>
                    </a:cubicBezTo>
                    <a:cubicBezTo>
                      <a:pt x="304411" y="495751"/>
                      <a:pt x="304411" y="502003"/>
                      <a:pt x="310692" y="502003"/>
                    </a:cubicBezTo>
                    <a:cubicBezTo>
                      <a:pt x="310692" y="502003"/>
                      <a:pt x="310692" y="502003"/>
                      <a:pt x="354662" y="545762"/>
                    </a:cubicBezTo>
                    <a:cubicBezTo>
                      <a:pt x="354662" y="545762"/>
                      <a:pt x="360944" y="545762"/>
                      <a:pt x="360944" y="545762"/>
                    </a:cubicBezTo>
                    <a:cubicBezTo>
                      <a:pt x="367225" y="545762"/>
                      <a:pt x="367225" y="545762"/>
                      <a:pt x="367225" y="545762"/>
                    </a:cubicBezTo>
                    <a:cubicBezTo>
                      <a:pt x="367225" y="545762"/>
                      <a:pt x="367225" y="545762"/>
                      <a:pt x="411195" y="502003"/>
                    </a:cubicBezTo>
                    <a:cubicBezTo>
                      <a:pt x="417477" y="502003"/>
                      <a:pt x="417477" y="495751"/>
                      <a:pt x="417477" y="489500"/>
                    </a:cubicBezTo>
                    <a:cubicBezTo>
                      <a:pt x="417477" y="489500"/>
                      <a:pt x="417477" y="489500"/>
                      <a:pt x="398632" y="383229"/>
                    </a:cubicBezTo>
                    <a:cubicBezTo>
                      <a:pt x="398632" y="376977"/>
                      <a:pt x="392351" y="370726"/>
                      <a:pt x="392351" y="370726"/>
                    </a:cubicBezTo>
                    <a:cubicBezTo>
                      <a:pt x="398632" y="364475"/>
                      <a:pt x="398632" y="351972"/>
                      <a:pt x="398632" y="351972"/>
                    </a:cubicBezTo>
                    <a:cubicBezTo>
                      <a:pt x="398632" y="345721"/>
                      <a:pt x="392351" y="339470"/>
                      <a:pt x="386069" y="339470"/>
                    </a:cubicBezTo>
                    <a:cubicBezTo>
                      <a:pt x="386069" y="339470"/>
                      <a:pt x="386069" y="339470"/>
                      <a:pt x="335818" y="339470"/>
                    </a:cubicBezTo>
                    <a:close/>
                    <a:moveTo>
                      <a:pt x="254159" y="295711"/>
                    </a:moveTo>
                    <a:cubicBezTo>
                      <a:pt x="254159" y="295711"/>
                      <a:pt x="254159" y="295711"/>
                      <a:pt x="260440" y="295711"/>
                    </a:cubicBezTo>
                    <a:cubicBezTo>
                      <a:pt x="266722" y="295711"/>
                      <a:pt x="310692" y="295711"/>
                      <a:pt x="360944" y="295711"/>
                    </a:cubicBezTo>
                    <a:cubicBezTo>
                      <a:pt x="411195" y="295711"/>
                      <a:pt x="461447" y="295711"/>
                      <a:pt x="461447" y="295711"/>
                    </a:cubicBezTo>
                    <a:cubicBezTo>
                      <a:pt x="461447" y="295711"/>
                      <a:pt x="461447" y="295711"/>
                      <a:pt x="467728" y="295711"/>
                    </a:cubicBezTo>
                    <a:cubicBezTo>
                      <a:pt x="511699" y="295711"/>
                      <a:pt x="524262" y="339470"/>
                      <a:pt x="524262" y="339470"/>
                    </a:cubicBezTo>
                    <a:cubicBezTo>
                      <a:pt x="524262" y="339470"/>
                      <a:pt x="524262" y="339470"/>
                      <a:pt x="587076" y="502003"/>
                    </a:cubicBezTo>
                    <a:cubicBezTo>
                      <a:pt x="587076" y="508254"/>
                      <a:pt x="587076" y="520757"/>
                      <a:pt x="574513" y="527008"/>
                    </a:cubicBezTo>
                    <a:cubicBezTo>
                      <a:pt x="561950" y="539511"/>
                      <a:pt x="543106" y="552013"/>
                      <a:pt x="524262" y="552013"/>
                    </a:cubicBezTo>
                    <a:cubicBezTo>
                      <a:pt x="511699" y="552013"/>
                      <a:pt x="511699" y="545762"/>
                      <a:pt x="511699" y="545762"/>
                    </a:cubicBezTo>
                    <a:cubicBezTo>
                      <a:pt x="511699" y="545762"/>
                      <a:pt x="511699" y="545762"/>
                      <a:pt x="480291" y="464495"/>
                    </a:cubicBezTo>
                    <a:cubicBezTo>
                      <a:pt x="480291" y="464495"/>
                      <a:pt x="474010" y="445741"/>
                      <a:pt x="474010" y="464495"/>
                    </a:cubicBezTo>
                    <a:cubicBezTo>
                      <a:pt x="474010" y="483249"/>
                      <a:pt x="474010" y="520757"/>
                      <a:pt x="474010" y="545762"/>
                    </a:cubicBezTo>
                    <a:cubicBezTo>
                      <a:pt x="474010" y="558265"/>
                      <a:pt x="474010" y="564516"/>
                      <a:pt x="461447" y="570767"/>
                    </a:cubicBezTo>
                    <a:cubicBezTo>
                      <a:pt x="430040" y="595772"/>
                      <a:pt x="398632" y="595772"/>
                      <a:pt x="360944" y="595772"/>
                    </a:cubicBezTo>
                    <a:cubicBezTo>
                      <a:pt x="323255" y="595772"/>
                      <a:pt x="298129" y="595772"/>
                      <a:pt x="260440" y="570767"/>
                    </a:cubicBezTo>
                    <a:cubicBezTo>
                      <a:pt x="254159" y="564516"/>
                      <a:pt x="247877" y="558265"/>
                      <a:pt x="247877" y="545762"/>
                    </a:cubicBezTo>
                    <a:cubicBezTo>
                      <a:pt x="247877" y="520757"/>
                      <a:pt x="247877" y="483249"/>
                      <a:pt x="247877" y="464495"/>
                    </a:cubicBezTo>
                    <a:cubicBezTo>
                      <a:pt x="247877" y="464495"/>
                      <a:pt x="247877" y="464495"/>
                      <a:pt x="216470" y="545762"/>
                    </a:cubicBezTo>
                    <a:cubicBezTo>
                      <a:pt x="216470" y="545762"/>
                      <a:pt x="210189" y="552013"/>
                      <a:pt x="197626" y="552013"/>
                    </a:cubicBezTo>
                    <a:cubicBezTo>
                      <a:pt x="178781" y="552013"/>
                      <a:pt x="159937" y="539511"/>
                      <a:pt x="147374" y="527008"/>
                    </a:cubicBezTo>
                    <a:cubicBezTo>
                      <a:pt x="141093" y="520757"/>
                      <a:pt x="134811" y="508254"/>
                      <a:pt x="141093" y="502003"/>
                    </a:cubicBezTo>
                    <a:cubicBezTo>
                      <a:pt x="141093" y="502003"/>
                      <a:pt x="141093" y="502003"/>
                      <a:pt x="197626" y="339470"/>
                    </a:cubicBezTo>
                    <a:cubicBezTo>
                      <a:pt x="203907" y="339470"/>
                      <a:pt x="216470" y="295711"/>
                      <a:pt x="254159" y="295711"/>
                    </a:cubicBezTo>
                    <a:close/>
                    <a:moveTo>
                      <a:pt x="365291" y="0"/>
                    </a:moveTo>
                    <a:cubicBezTo>
                      <a:pt x="437343" y="0"/>
                      <a:pt x="495752" y="57436"/>
                      <a:pt x="495752" y="128287"/>
                    </a:cubicBezTo>
                    <a:cubicBezTo>
                      <a:pt x="495752" y="199138"/>
                      <a:pt x="437343" y="256574"/>
                      <a:pt x="365291" y="256574"/>
                    </a:cubicBezTo>
                    <a:cubicBezTo>
                      <a:pt x="293239" y="256574"/>
                      <a:pt x="234830" y="199138"/>
                      <a:pt x="234830" y="128287"/>
                    </a:cubicBezTo>
                    <a:cubicBezTo>
                      <a:pt x="234830" y="57436"/>
                      <a:pt x="293239" y="0"/>
                      <a:pt x="365291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4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032391" y="4656027"/>
                <a:ext cx="2578502" cy="14907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定期评估进展，提供技能提升与晋升机会建议。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032391" y="3959106"/>
                <a:ext cx="2578502" cy="6969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职业发展建议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522671" y="2151466"/>
                <a:ext cx="1597941" cy="4467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6193098" y="2151466"/>
              <a:ext cx="2578502" cy="3995335"/>
              <a:chOff x="3881963" y="2151466"/>
              <a:chExt cx="2578502" cy="3995335"/>
            </a:xfrm>
          </p:grpSpPr>
          <p:sp>
            <p:nvSpPr>
              <p:cNvPr id="18" name="AutoShape 18"/>
              <p:cNvSpPr/>
              <p:nvPr>
                <p:custDataLst>
                  <p:tags r:id="rId12"/>
                </p:custDataLst>
              </p:nvPr>
            </p:nvSpPr>
            <p:spPr>
              <a:xfrm>
                <a:off x="4616838" y="2757846"/>
                <a:ext cx="1108750" cy="1108750"/>
              </a:xfrm>
              <a:prstGeom prst="roundRect">
                <a:avLst/>
              </a:prstGeom>
              <a:solidFill>
                <a:srgbClr val="4A58DA">
                  <a:alpha val="100000"/>
                </a:srgbClr>
              </a:solidFill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>
                <p:custDataLst>
                  <p:tags r:id="rId13"/>
                </p:custDataLst>
              </p:nvPr>
            </p:nvSpPr>
            <p:spPr>
              <a:xfrm>
                <a:off x="4990429" y="3052515"/>
                <a:ext cx="361570" cy="519412"/>
              </a:xfrm>
              <a:custGeom>
                <a:avLst/>
                <a:gdLst/>
                <a:ahLst/>
                <a:cxnLst/>
                <a:rect l="l" t="t" r="r" b="b"/>
                <a:pathLst>
                  <a:path w="590822" h="848743">
                    <a:moveTo>
                      <a:pt x="28775" y="534776"/>
                    </a:moveTo>
                    <a:cubicBezTo>
                      <a:pt x="28775" y="534776"/>
                      <a:pt x="28775" y="534776"/>
                      <a:pt x="562697" y="534776"/>
                    </a:cubicBezTo>
                    <a:cubicBezTo>
                      <a:pt x="582656" y="534776"/>
                      <a:pt x="597626" y="554711"/>
                      <a:pt x="587646" y="574645"/>
                    </a:cubicBezTo>
                    <a:lnTo>
                      <a:pt x="567687" y="619497"/>
                    </a:lnTo>
                    <a:cubicBezTo>
                      <a:pt x="562697" y="639432"/>
                      <a:pt x="547727" y="659366"/>
                      <a:pt x="537747" y="659366"/>
                    </a:cubicBezTo>
                    <a:cubicBezTo>
                      <a:pt x="527767" y="659366"/>
                      <a:pt x="512797" y="674317"/>
                      <a:pt x="512797" y="694251"/>
                    </a:cubicBezTo>
                    <a:cubicBezTo>
                      <a:pt x="512797" y="694251"/>
                      <a:pt x="512797" y="694251"/>
                      <a:pt x="487848" y="813858"/>
                    </a:cubicBezTo>
                    <a:cubicBezTo>
                      <a:pt x="482858" y="833792"/>
                      <a:pt x="462898" y="848743"/>
                      <a:pt x="442939" y="848743"/>
                    </a:cubicBezTo>
                    <a:cubicBezTo>
                      <a:pt x="442939" y="848743"/>
                      <a:pt x="442939" y="848743"/>
                      <a:pt x="148533" y="848743"/>
                    </a:cubicBezTo>
                    <a:cubicBezTo>
                      <a:pt x="123583" y="848743"/>
                      <a:pt x="103624" y="833792"/>
                      <a:pt x="103624" y="813858"/>
                    </a:cubicBezTo>
                    <a:cubicBezTo>
                      <a:pt x="103624" y="813858"/>
                      <a:pt x="103624" y="813858"/>
                      <a:pt x="78674" y="694251"/>
                    </a:cubicBezTo>
                    <a:cubicBezTo>
                      <a:pt x="73684" y="674317"/>
                      <a:pt x="63704" y="659366"/>
                      <a:pt x="53724" y="659366"/>
                    </a:cubicBezTo>
                    <a:cubicBezTo>
                      <a:pt x="43745" y="659366"/>
                      <a:pt x="28775" y="639432"/>
                      <a:pt x="18795" y="619497"/>
                    </a:cubicBezTo>
                    <a:cubicBezTo>
                      <a:pt x="18795" y="619497"/>
                      <a:pt x="18795" y="619497"/>
                      <a:pt x="3825" y="574645"/>
                    </a:cubicBezTo>
                    <a:cubicBezTo>
                      <a:pt x="-6155" y="554711"/>
                      <a:pt x="3825" y="534776"/>
                      <a:pt x="28775" y="534776"/>
                    </a:cubicBezTo>
                    <a:close/>
                    <a:moveTo>
                      <a:pt x="273268" y="290030"/>
                    </a:moveTo>
                    <a:cubicBezTo>
                      <a:pt x="268276" y="290030"/>
                      <a:pt x="268276" y="294990"/>
                      <a:pt x="268276" y="294990"/>
                    </a:cubicBezTo>
                    <a:cubicBezTo>
                      <a:pt x="268276" y="294990"/>
                      <a:pt x="268276" y="309869"/>
                      <a:pt x="268276" y="314829"/>
                    </a:cubicBezTo>
                    <a:cubicBezTo>
                      <a:pt x="268276" y="319788"/>
                      <a:pt x="268276" y="319788"/>
                      <a:pt x="268276" y="324748"/>
                    </a:cubicBezTo>
                    <a:cubicBezTo>
                      <a:pt x="268276" y="324748"/>
                      <a:pt x="268276" y="324748"/>
                      <a:pt x="248305" y="414022"/>
                    </a:cubicBezTo>
                    <a:cubicBezTo>
                      <a:pt x="248305" y="418981"/>
                      <a:pt x="248305" y="423941"/>
                      <a:pt x="253298" y="428900"/>
                    </a:cubicBezTo>
                    <a:cubicBezTo>
                      <a:pt x="253298" y="428900"/>
                      <a:pt x="253298" y="428900"/>
                      <a:pt x="288246" y="463618"/>
                    </a:cubicBezTo>
                    <a:cubicBezTo>
                      <a:pt x="293239" y="463618"/>
                      <a:pt x="298232" y="463618"/>
                      <a:pt x="303224" y="463618"/>
                    </a:cubicBezTo>
                    <a:cubicBezTo>
                      <a:pt x="303224" y="463618"/>
                      <a:pt x="303224" y="463618"/>
                      <a:pt x="338172" y="428900"/>
                    </a:cubicBezTo>
                    <a:cubicBezTo>
                      <a:pt x="343165" y="423941"/>
                      <a:pt x="343165" y="418981"/>
                      <a:pt x="343165" y="414022"/>
                    </a:cubicBezTo>
                    <a:cubicBezTo>
                      <a:pt x="343165" y="414022"/>
                      <a:pt x="343165" y="414022"/>
                      <a:pt x="323195" y="324748"/>
                    </a:cubicBezTo>
                    <a:cubicBezTo>
                      <a:pt x="323195" y="319788"/>
                      <a:pt x="323195" y="319788"/>
                      <a:pt x="323195" y="314829"/>
                    </a:cubicBezTo>
                    <a:cubicBezTo>
                      <a:pt x="323195" y="309869"/>
                      <a:pt x="323195" y="294990"/>
                      <a:pt x="323195" y="294990"/>
                    </a:cubicBezTo>
                    <a:cubicBezTo>
                      <a:pt x="323195" y="294990"/>
                      <a:pt x="318202" y="290030"/>
                      <a:pt x="318202" y="290030"/>
                    </a:cubicBezTo>
                    <a:cubicBezTo>
                      <a:pt x="318202" y="290030"/>
                      <a:pt x="318202" y="290030"/>
                      <a:pt x="273268" y="290030"/>
                    </a:cubicBezTo>
                    <a:close/>
                    <a:moveTo>
                      <a:pt x="203372" y="255313"/>
                    </a:moveTo>
                    <a:cubicBezTo>
                      <a:pt x="203372" y="255313"/>
                      <a:pt x="203372" y="255313"/>
                      <a:pt x="213357" y="255313"/>
                    </a:cubicBezTo>
                    <a:cubicBezTo>
                      <a:pt x="218350" y="255313"/>
                      <a:pt x="378113" y="255313"/>
                      <a:pt x="383106" y="255313"/>
                    </a:cubicBezTo>
                    <a:cubicBezTo>
                      <a:pt x="413062" y="255313"/>
                      <a:pt x="428039" y="285071"/>
                      <a:pt x="433032" y="290030"/>
                    </a:cubicBezTo>
                    <a:cubicBezTo>
                      <a:pt x="433032" y="290030"/>
                      <a:pt x="433032" y="290030"/>
                      <a:pt x="502929" y="483457"/>
                    </a:cubicBezTo>
                    <a:cubicBezTo>
                      <a:pt x="507921" y="488416"/>
                      <a:pt x="507921" y="493376"/>
                      <a:pt x="492943" y="493376"/>
                    </a:cubicBezTo>
                    <a:cubicBezTo>
                      <a:pt x="492943" y="493376"/>
                      <a:pt x="492943" y="493376"/>
                      <a:pt x="448010" y="493376"/>
                    </a:cubicBezTo>
                    <a:cubicBezTo>
                      <a:pt x="438025" y="493376"/>
                      <a:pt x="438025" y="483457"/>
                      <a:pt x="438025" y="483457"/>
                    </a:cubicBezTo>
                    <a:cubicBezTo>
                      <a:pt x="438025" y="483457"/>
                      <a:pt x="438025" y="483457"/>
                      <a:pt x="403076" y="389223"/>
                    </a:cubicBezTo>
                    <a:cubicBezTo>
                      <a:pt x="403076" y="389223"/>
                      <a:pt x="398084" y="384264"/>
                      <a:pt x="398084" y="394183"/>
                    </a:cubicBezTo>
                    <a:cubicBezTo>
                      <a:pt x="398084" y="409062"/>
                      <a:pt x="398084" y="453699"/>
                      <a:pt x="398084" y="478497"/>
                    </a:cubicBezTo>
                    <a:cubicBezTo>
                      <a:pt x="398084" y="488416"/>
                      <a:pt x="403076" y="493376"/>
                      <a:pt x="388099" y="493376"/>
                    </a:cubicBezTo>
                    <a:cubicBezTo>
                      <a:pt x="388099" y="493376"/>
                      <a:pt x="388099" y="493376"/>
                      <a:pt x="213357" y="493376"/>
                    </a:cubicBezTo>
                    <a:cubicBezTo>
                      <a:pt x="203372" y="493376"/>
                      <a:pt x="203372" y="488416"/>
                      <a:pt x="203372" y="483457"/>
                    </a:cubicBezTo>
                    <a:cubicBezTo>
                      <a:pt x="198379" y="458658"/>
                      <a:pt x="198379" y="409062"/>
                      <a:pt x="198379" y="394183"/>
                    </a:cubicBezTo>
                    <a:cubicBezTo>
                      <a:pt x="198379" y="394183"/>
                      <a:pt x="198379" y="394183"/>
                      <a:pt x="163431" y="483457"/>
                    </a:cubicBezTo>
                    <a:cubicBezTo>
                      <a:pt x="163431" y="483457"/>
                      <a:pt x="158438" y="493376"/>
                      <a:pt x="148453" y="493376"/>
                    </a:cubicBezTo>
                    <a:cubicBezTo>
                      <a:pt x="148453" y="493376"/>
                      <a:pt x="148453" y="493376"/>
                      <a:pt x="93534" y="493376"/>
                    </a:cubicBezTo>
                    <a:cubicBezTo>
                      <a:pt x="83549" y="493376"/>
                      <a:pt x="83549" y="488416"/>
                      <a:pt x="83549" y="483457"/>
                    </a:cubicBezTo>
                    <a:cubicBezTo>
                      <a:pt x="83549" y="483457"/>
                      <a:pt x="83549" y="483457"/>
                      <a:pt x="158438" y="290030"/>
                    </a:cubicBezTo>
                    <a:cubicBezTo>
                      <a:pt x="158438" y="285071"/>
                      <a:pt x="173416" y="255313"/>
                      <a:pt x="203372" y="255313"/>
                    </a:cubicBezTo>
                    <a:close/>
                    <a:moveTo>
                      <a:pt x="292284" y="0"/>
                    </a:moveTo>
                    <a:cubicBezTo>
                      <a:pt x="352307" y="0"/>
                      <a:pt x="400965" y="49430"/>
                      <a:pt x="400965" y="110406"/>
                    </a:cubicBezTo>
                    <a:cubicBezTo>
                      <a:pt x="400965" y="171382"/>
                      <a:pt x="352307" y="220812"/>
                      <a:pt x="292284" y="220812"/>
                    </a:cubicBezTo>
                    <a:cubicBezTo>
                      <a:pt x="232261" y="220812"/>
                      <a:pt x="183603" y="171382"/>
                      <a:pt x="183603" y="110406"/>
                    </a:cubicBezTo>
                    <a:cubicBezTo>
                      <a:pt x="183603" y="49430"/>
                      <a:pt x="232261" y="0"/>
                      <a:pt x="292284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" name="TextBox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3881963" y="4656027"/>
                <a:ext cx="2578502" cy="14907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持续追踪优质职位，主动推荐合适机会。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3881963" y="3959106"/>
                <a:ext cx="2578502" cy="6969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市场信息推送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4372243" y="2151466"/>
                <a:ext cx="1597941" cy="4467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8940398" y="2151466"/>
              <a:ext cx="2578502" cy="3995335"/>
              <a:chOff x="5731535" y="2151466"/>
              <a:chExt cx="2578502" cy="3995335"/>
            </a:xfrm>
          </p:grpSpPr>
          <p:sp>
            <p:nvSpPr>
              <p:cNvPr id="24" name="AutoShape 24"/>
              <p:cNvSpPr/>
              <p:nvPr>
                <p:custDataLst>
                  <p:tags r:id="rId17"/>
                </p:custDataLst>
              </p:nvPr>
            </p:nvSpPr>
            <p:spPr>
              <a:xfrm rot="10800000" flipV="1">
                <a:off x="6466410" y="2757846"/>
                <a:ext cx="1108750" cy="1108750"/>
              </a:xfrm>
              <a:prstGeom prst="roundRect">
                <a:avLst/>
              </a:prstGeom>
              <a:solidFill>
                <a:srgbClr val="DCDCDC">
                  <a:alpha val="100000"/>
                </a:srgbClr>
              </a:solidFill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5" name="AutoShape 25"/>
              <p:cNvSpPr/>
              <p:nvPr>
                <p:custDataLst>
                  <p:tags r:id="rId18"/>
                </p:custDataLst>
              </p:nvPr>
            </p:nvSpPr>
            <p:spPr>
              <a:xfrm>
                <a:off x="6804972" y="3101487"/>
                <a:ext cx="431625" cy="421469"/>
              </a:xfrm>
              <a:custGeom>
                <a:avLst/>
                <a:gdLst/>
                <a:ahLst/>
                <a:cxnLst/>
                <a:rect l="l" t="t" r="r" b="b"/>
                <a:pathLst>
                  <a:path w="669496" h="653743">
                    <a:moveTo>
                      <a:pt x="62448" y="563163"/>
                    </a:moveTo>
                    <a:cubicBezTo>
                      <a:pt x="62448" y="563163"/>
                      <a:pt x="62448" y="563163"/>
                      <a:pt x="152464" y="563163"/>
                    </a:cubicBezTo>
                    <a:cubicBezTo>
                      <a:pt x="169342" y="563163"/>
                      <a:pt x="163716" y="574486"/>
                      <a:pt x="163716" y="574486"/>
                    </a:cubicBezTo>
                    <a:cubicBezTo>
                      <a:pt x="163716" y="574486"/>
                      <a:pt x="163716" y="574486"/>
                      <a:pt x="141212" y="636759"/>
                    </a:cubicBezTo>
                    <a:cubicBezTo>
                      <a:pt x="141212" y="636759"/>
                      <a:pt x="135586" y="653743"/>
                      <a:pt x="124334" y="653743"/>
                    </a:cubicBezTo>
                    <a:cubicBezTo>
                      <a:pt x="124334" y="653743"/>
                      <a:pt x="124334" y="653743"/>
                      <a:pt x="62448" y="653743"/>
                    </a:cubicBezTo>
                    <a:cubicBezTo>
                      <a:pt x="56822" y="653743"/>
                      <a:pt x="51196" y="648082"/>
                      <a:pt x="51196" y="636759"/>
                    </a:cubicBezTo>
                    <a:cubicBezTo>
                      <a:pt x="51196" y="636759"/>
                      <a:pt x="51196" y="636759"/>
                      <a:pt x="51196" y="574486"/>
                    </a:cubicBezTo>
                    <a:cubicBezTo>
                      <a:pt x="51196" y="568824"/>
                      <a:pt x="56822" y="563163"/>
                      <a:pt x="62448" y="563163"/>
                    </a:cubicBezTo>
                    <a:close/>
                    <a:moveTo>
                      <a:pt x="313442" y="401696"/>
                    </a:moveTo>
                    <a:cubicBezTo>
                      <a:pt x="313442" y="401696"/>
                      <a:pt x="313442" y="401696"/>
                      <a:pt x="319097" y="401696"/>
                    </a:cubicBezTo>
                    <a:cubicBezTo>
                      <a:pt x="324752" y="401696"/>
                      <a:pt x="494397" y="401696"/>
                      <a:pt x="500052" y="401696"/>
                    </a:cubicBezTo>
                    <a:cubicBezTo>
                      <a:pt x="533981" y="401696"/>
                      <a:pt x="550946" y="436066"/>
                      <a:pt x="550946" y="441794"/>
                    </a:cubicBezTo>
                    <a:cubicBezTo>
                      <a:pt x="550946" y="441794"/>
                      <a:pt x="550946" y="441794"/>
                      <a:pt x="624459" y="642285"/>
                    </a:cubicBezTo>
                    <a:cubicBezTo>
                      <a:pt x="630114" y="648013"/>
                      <a:pt x="624459" y="653741"/>
                      <a:pt x="618804" y="653741"/>
                    </a:cubicBezTo>
                    <a:cubicBezTo>
                      <a:pt x="618804" y="653741"/>
                      <a:pt x="618804" y="653741"/>
                      <a:pt x="567911" y="653741"/>
                    </a:cubicBezTo>
                    <a:cubicBezTo>
                      <a:pt x="556601" y="653741"/>
                      <a:pt x="556601" y="642285"/>
                      <a:pt x="556601" y="642285"/>
                    </a:cubicBezTo>
                    <a:cubicBezTo>
                      <a:pt x="556601" y="642285"/>
                      <a:pt x="556601" y="642285"/>
                      <a:pt x="522672" y="544904"/>
                    </a:cubicBezTo>
                    <a:cubicBezTo>
                      <a:pt x="522672" y="544904"/>
                      <a:pt x="517017" y="539175"/>
                      <a:pt x="517017" y="544904"/>
                    </a:cubicBezTo>
                    <a:cubicBezTo>
                      <a:pt x="517017" y="562089"/>
                      <a:pt x="517017" y="613643"/>
                      <a:pt x="517017" y="636556"/>
                    </a:cubicBezTo>
                    <a:cubicBezTo>
                      <a:pt x="517017" y="648013"/>
                      <a:pt x="517017" y="653741"/>
                      <a:pt x="505707" y="653741"/>
                    </a:cubicBezTo>
                    <a:cubicBezTo>
                      <a:pt x="505707" y="653741"/>
                      <a:pt x="505707" y="653741"/>
                      <a:pt x="319097" y="653741"/>
                    </a:cubicBezTo>
                    <a:cubicBezTo>
                      <a:pt x="313442" y="653741"/>
                      <a:pt x="313442" y="648013"/>
                      <a:pt x="313442" y="642285"/>
                    </a:cubicBezTo>
                    <a:cubicBezTo>
                      <a:pt x="313442" y="613643"/>
                      <a:pt x="313442" y="567817"/>
                      <a:pt x="313442" y="544904"/>
                    </a:cubicBezTo>
                    <a:cubicBezTo>
                      <a:pt x="313442" y="533447"/>
                      <a:pt x="307787" y="544904"/>
                      <a:pt x="307787" y="544904"/>
                    </a:cubicBezTo>
                    <a:cubicBezTo>
                      <a:pt x="307787" y="544904"/>
                      <a:pt x="307787" y="544904"/>
                      <a:pt x="268203" y="642285"/>
                    </a:cubicBezTo>
                    <a:cubicBezTo>
                      <a:pt x="268203" y="642285"/>
                      <a:pt x="268203" y="653741"/>
                      <a:pt x="256894" y="653741"/>
                    </a:cubicBezTo>
                    <a:cubicBezTo>
                      <a:pt x="256894" y="653741"/>
                      <a:pt x="256894" y="653741"/>
                      <a:pt x="200345" y="653741"/>
                    </a:cubicBezTo>
                    <a:cubicBezTo>
                      <a:pt x="189035" y="653741"/>
                      <a:pt x="189035" y="648013"/>
                      <a:pt x="189035" y="642285"/>
                    </a:cubicBezTo>
                    <a:cubicBezTo>
                      <a:pt x="189035" y="642285"/>
                      <a:pt x="189035" y="642285"/>
                      <a:pt x="268203" y="441794"/>
                    </a:cubicBezTo>
                    <a:cubicBezTo>
                      <a:pt x="268203" y="436066"/>
                      <a:pt x="279513" y="401696"/>
                      <a:pt x="313442" y="401696"/>
                    </a:cubicBezTo>
                    <a:close/>
                    <a:moveTo>
                      <a:pt x="409573" y="137838"/>
                    </a:moveTo>
                    <a:cubicBezTo>
                      <a:pt x="472648" y="137838"/>
                      <a:pt x="523781" y="188089"/>
                      <a:pt x="523781" y="250077"/>
                    </a:cubicBezTo>
                    <a:cubicBezTo>
                      <a:pt x="523781" y="312065"/>
                      <a:pt x="472648" y="362316"/>
                      <a:pt x="409573" y="362316"/>
                    </a:cubicBezTo>
                    <a:cubicBezTo>
                      <a:pt x="346498" y="362316"/>
                      <a:pt x="295365" y="312065"/>
                      <a:pt x="295365" y="250077"/>
                    </a:cubicBezTo>
                    <a:cubicBezTo>
                      <a:pt x="295365" y="188089"/>
                      <a:pt x="346498" y="137838"/>
                      <a:pt x="409573" y="137838"/>
                    </a:cubicBezTo>
                    <a:close/>
                    <a:moveTo>
                      <a:pt x="22695" y="0"/>
                    </a:moveTo>
                    <a:cubicBezTo>
                      <a:pt x="22695" y="0"/>
                      <a:pt x="22695" y="0"/>
                      <a:pt x="641127" y="0"/>
                    </a:cubicBezTo>
                    <a:cubicBezTo>
                      <a:pt x="658149" y="0"/>
                      <a:pt x="669496" y="11349"/>
                      <a:pt x="669496" y="28372"/>
                    </a:cubicBezTo>
                    <a:cubicBezTo>
                      <a:pt x="669496" y="28372"/>
                      <a:pt x="669496" y="28372"/>
                      <a:pt x="669496" y="499346"/>
                    </a:cubicBezTo>
                    <a:cubicBezTo>
                      <a:pt x="669496" y="516369"/>
                      <a:pt x="663822" y="527718"/>
                      <a:pt x="646801" y="527718"/>
                    </a:cubicBezTo>
                    <a:cubicBezTo>
                      <a:pt x="641127" y="527718"/>
                      <a:pt x="635454" y="522044"/>
                      <a:pt x="635454" y="522044"/>
                    </a:cubicBezTo>
                    <a:cubicBezTo>
                      <a:pt x="635454" y="522044"/>
                      <a:pt x="635454" y="522044"/>
                      <a:pt x="601412" y="431254"/>
                    </a:cubicBezTo>
                    <a:cubicBezTo>
                      <a:pt x="601412" y="431254"/>
                      <a:pt x="601412" y="425579"/>
                      <a:pt x="612759" y="419905"/>
                    </a:cubicBezTo>
                    <a:cubicBezTo>
                      <a:pt x="624106" y="414230"/>
                      <a:pt x="629780" y="408556"/>
                      <a:pt x="629780" y="391533"/>
                    </a:cubicBezTo>
                    <a:cubicBezTo>
                      <a:pt x="629780" y="391533"/>
                      <a:pt x="629780" y="391533"/>
                      <a:pt x="629780" y="73767"/>
                    </a:cubicBezTo>
                    <a:cubicBezTo>
                      <a:pt x="629780" y="56744"/>
                      <a:pt x="618433" y="45395"/>
                      <a:pt x="601412" y="45395"/>
                    </a:cubicBezTo>
                    <a:cubicBezTo>
                      <a:pt x="601412" y="45395"/>
                      <a:pt x="601412" y="45395"/>
                      <a:pt x="68085" y="45395"/>
                    </a:cubicBezTo>
                    <a:cubicBezTo>
                      <a:pt x="51064" y="45395"/>
                      <a:pt x="39716" y="56744"/>
                      <a:pt x="39716" y="73767"/>
                    </a:cubicBezTo>
                    <a:cubicBezTo>
                      <a:pt x="39716" y="73767"/>
                      <a:pt x="39716" y="73767"/>
                      <a:pt x="39716" y="391533"/>
                    </a:cubicBezTo>
                    <a:cubicBezTo>
                      <a:pt x="39716" y="408556"/>
                      <a:pt x="51064" y="419905"/>
                      <a:pt x="68085" y="419905"/>
                    </a:cubicBezTo>
                    <a:cubicBezTo>
                      <a:pt x="68085" y="419905"/>
                      <a:pt x="68085" y="419905"/>
                      <a:pt x="204253" y="419905"/>
                    </a:cubicBezTo>
                    <a:cubicBezTo>
                      <a:pt x="215601" y="419905"/>
                      <a:pt x="215601" y="431254"/>
                      <a:pt x="215601" y="431254"/>
                    </a:cubicBezTo>
                    <a:cubicBezTo>
                      <a:pt x="215601" y="431254"/>
                      <a:pt x="215601" y="431254"/>
                      <a:pt x="181558" y="522044"/>
                    </a:cubicBezTo>
                    <a:cubicBezTo>
                      <a:pt x="181558" y="522044"/>
                      <a:pt x="175885" y="527718"/>
                      <a:pt x="164537" y="527718"/>
                    </a:cubicBezTo>
                    <a:cubicBezTo>
                      <a:pt x="164537" y="527718"/>
                      <a:pt x="164537" y="527718"/>
                      <a:pt x="22695" y="527718"/>
                    </a:cubicBezTo>
                    <a:cubicBezTo>
                      <a:pt x="11348" y="527718"/>
                      <a:pt x="0" y="516369"/>
                      <a:pt x="0" y="499346"/>
                    </a:cubicBezTo>
                    <a:cubicBezTo>
                      <a:pt x="0" y="499346"/>
                      <a:pt x="0" y="499346"/>
                      <a:pt x="0" y="28372"/>
                    </a:cubicBezTo>
                    <a:cubicBezTo>
                      <a:pt x="0" y="11349"/>
                      <a:pt x="11348" y="0"/>
                      <a:pt x="22695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" name="TextBox 26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5731535" y="4656027"/>
                <a:ext cx="2578502" cy="14907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整合学习资源，助力职场竞争力积累。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5731535" y="3959106"/>
                <a:ext cx="2578502" cy="6969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持续学习支持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6221815" y="2151466"/>
                <a:ext cx="1597941" cy="4467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职后规划与辅导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0103a7d-edbf-45ad-97cc-696bfbf98ce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400" y="1130300"/>
            <a:ext cx="10872788" cy="5003800"/>
            <a:chOff x="660400" y="1130300"/>
            <a:chExt cx="10872788" cy="5003800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>
              <a:off x="660400" y="4201260"/>
              <a:ext cx="10845800" cy="0"/>
            </a:xfrm>
            <a:prstGeom prst="line">
              <a:avLst/>
            </a:prstGeom>
            <a:ln w="12700">
              <a:solidFill>
                <a:srgbClr val="768394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>
              <p:custDataLst>
                <p:tags r:id="rId3"/>
              </p:custDataLst>
            </p:nvPr>
          </p:nvSpPr>
          <p:spPr>
            <a:xfrm>
              <a:off x="6203982" y="2550538"/>
              <a:ext cx="0" cy="3565733"/>
            </a:xfrm>
            <a:prstGeom prst="line">
              <a:avLst/>
            </a:prstGeom>
            <a:ln w="12700">
              <a:solidFill>
                <a:srgbClr val="768394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400" y="1130300"/>
              <a:ext cx="10872788" cy="9424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确保服务质量与运营效率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 rot="0">
              <a:off x="840283" y="2204812"/>
              <a:ext cx="4828996" cy="1916013"/>
              <a:chOff x="840283" y="2204812"/>
              <a:chExt cx="4828996" cy="1916013"/>
            </a:xfrm>
          </p:grpSpPr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715846" y="2204812"/>
                <a:ext cx="1077872" cy="52106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4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40283" y="3421340"/>
                <a:ext cx="4828996" cy="69948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定义各服务环节的标准输入、处理与输出要素。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840283" y="2942073"/>
                <a:ext cx="4828996" cy="4355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  <a:lumMod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节点标准化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6661580" y="2204812"/>
              <a:ext cx="4551282" cy="1916013"/>
              <a:chOff x="6661580" y="2204812"/>
              <a:chExt cx="4551282" cy="1916013"/>
            </a:xfrm>
          </p:grpSpPr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8398285" y="2204812"/>
                <a:ext cx="1077872" cy="52106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4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661580" y="3421340"/>
                <a:ext cx="4551282" cy="69948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为每个环节设定明确的服务周期，1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个月保入职</a:t>
                </a: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661580" y="2942073"/>
                <a:ext cx="4551282" cy="4355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  <a:lumMod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时效承诺制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840283" y="4260656"/>
              <a:ext cx="4828996" cy="1873443"/>
              <a:chOff x="840283" y="4260656"/>
              <a:chExt cx="4828996" cy="1873443"/>
            </a:xfrm>
          </p:grpSpPr>
          <p:sp>
            <p:nvSpPr>
              <p:cNvPr id="16" name="TextBox 1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715845" y="4260656"/>
                <a:ext cx="1077872" cy="5190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4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40283" y="5431463"/>
                <a:ext cx="4828996" cy="70263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清晰界定AI能力范围，设置快速转人工通道。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40283" y="4952196"/>
                <a:ext cx="4828996" cy="4501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  <a:lumMod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服务边界明确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6661583" y="4366396"/>
              <a:ext cx="4551278" cy="1767704"/>
              <a:chOff x="6661583" y="4366396"/>
              <a:chExt cx="4551278" cy="1767704"/>
            </a:xfrm>
          </p:grpSpPr>
          <p:sp>
            <p:nvSpPr>
              <p:cNvPr id="20" name="TextBox 2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8398286" y="4366396"/>
                <a:ext cx="1077872" cy="5157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4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6661583" y="5431464"/>
                <a:ext cx="4551278" cy="70263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通过协议明确服务范围、免责与付费条件，避免纠纷。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661583" y="4952196"/>
                <a:ext cx="4551278" cy="45016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  <a:lumMod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协议条款清晰</a:t>
                </a:r>
                <a:endParaRPr lang="en-US" sz="1100"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服务流程标准化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30300"/>
            <a:ext cx="5435600" cy="106239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AI赋能挑战与对策</a:t>
            </a:r>
            <a:endParaRPr lang="en-US" sz="3600" b="1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60400" y="2192694"/>
            <a:ext cx="5435600" cy="394140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深入分析AI技术在各环节的实现难点，并提出人才储备、技术路径和人机协作模式的具体建议。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3b28175-471e-4b17-98f6-7c1634ba8a8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300"/>
            <a:ext cx="10832827" cy="5003799"/>
            <a:chOff x="660399" y="1130300"/>
            <a:chExt cx="10832827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3428379" cy="1082749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小步快跑，快速验证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399" y="1678488"/>
              <a:ext cx="10832827" cy="4455611"/>
              <a:chOff x="660400" y="2137967"/>
              <a:chExt cx="9715706" cy="3996132"/>
            </a:xfrm>
          </p:grpSpPr>
          <p:grpSp>
            <p:nvGrpSpPr>
              <p:cNvPr id="6" name="Group 6"/>
              <p:cNvGrpSpPr/>
              <p:nvPr/>
            </p:nvGrpSpPr>
            <p:grpSpPr>
              <a:xfrm rot="0">
                <a:off x="660400" y="2137967"/>
                <a:ext cx="9715706" cy="3996132"/>
                <a:chOff x="660400" y="2137967"/>
                <a:chExt cx="9715706" cy="3996132"/>
              </a:xfrm>
            </p:grpSpPr>
            <p:grpSp>
              <p:nvGrpSpPr>
                <p:cNvPr id="7" name="Group 7"/>
                <p:cNvGrpSpPr/>
                <p:nvPr/>
              </p:nvGrpSpPr>
              <p:grpSpPr>
                <a:xfrm rot="0">
                  <a:off x="660400" y="5160968"/>
                  <a:ext cx="6287327" cy="973131"/>
                  <a:chOff x="2058876" y="3636097"/>
                  <a:chExt cx="5513818" cy="1427528"/>
                </a:xfrm>
              </p:grpSpPr>
              <p:sp>
                <p:nvSpPr>
                  <p:cNvPr id="8" name="AutoShape 8"/>
                  <p:cNvSpPr/>
                  <p:nvPr/>
                </p:nvSpPr>
                <p:spPr>
                  <a:xfrm>
                    <a:off x="2058876" y="3636097"/>
                    <a:ext cx="5513818" cy="1427528"/>
                  </a:xfrm>
                  <a:prstGeom prst="roundRect">
                    <a:avLst>
                      <a:gd name="adj" fmla="val 5843"/>
                    </a:avLst>
                  </a:prstGeom>
                  <a:gradFill>
                    <a:gsLst>
                      <a:gs pos="0">
                        <a:srgbClr val="4A58DA">
                          <a:alpha val="20000"/>
                        </a:srgbClr>
                      </a:gs>
                      <a:gs pos="87999">
                        <a:srgbClr val="FFFFFF">
                          <a:alpha val="0"/>
                        </a:srgbClr>
                      </a:gs>
                    </a:gsLst>
                    <a:lin ang="5400000"/>
                  </a:gradFill>
                  <a:ln w="12700">
                    <a:gradFill>
                      <a:gsLst>
                        <a:gs pos="0">
                          <a:srgbClr val="4A58DA">
                            <a:alpha val="0"/>
                          </a:srgbClr>
                        </a:gs>
                        <a:gs pos="100000">
                          <a:srgbClr val="4A58DA">
                            <a:alpha val="100000"/>
                          </a:srgbClr>
                        </a:gs>
                      </a:gsLst>
                      <a:lin ang="5400000"/>
                    </a:gradFill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9" name="TextBox 9"/>
                  <p:cNvSpPr txBox="1"/>
                  <p:nvPr/>
                </p:nvSpPr>
                <p:spPr>
                  <a:xfrm>
                    <a:off x="3132675" y="4322359"/>
                    <a:ext cx="3872480" cy="707886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0000" tIns="46800" rIns="90000" bIns="46800" rtlCol="0" anchor="t" anchorCtr="0"/>
                  <a:lstStyle/>
                  <a:p>
                    <a:pPr algn="l">
                      <a:lnSpc>
                        <a:spcPct val="120000"/>
                      </a:lnSpc>
                      <a:spcBef>
                        <a:spcPts val="0"/>
                      </a:spcBef>
                      <a:defRPr/>
                    </a:pPr>
                    <a:r>
                      <a:rPr lang="en-US" sz="1200" b="0" i="0">
                        <a:solidFill>
                          <a:srgbClr val="000000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MVP阶段优先实现简历优化、面试辅导和简历投递三大核心环节。</a:t>
                    </a:r>
                    <a:endParaRPr lang="en-US" sz="1100"/>
                  </a:p>
                </p:txBody>
              </p:sp>
              <p:sp>
                <p:nvSpPr>
                  <p:cNvPr id="10" name="TextBox 10"/>
                  <p:cNvSpPr txBox="1"/>
                  <p:nvPr/>
                </p:nvSpPr>
                <p:spPr>
                  <a:xfrm>
                    <a:off x="3132675" y="3746239"/>
                    <a:ext cx="3872480" cy="576120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l">
                      <a:spcBef>
                        <a:spcPts val="0"/>
                      </a:spcBef>
                      <a:defRPr/>
                    </a:pPr>
                    <a:r>
                      <a:rPr lang="en-US" sz="1800" b="1" i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服务范围聚焦</a:t>
                    </a:r>
                    <a:endParaRPr lang="en-US" sz="1100"/>
                  </a:p>
                </p:txBody>
              </p:sp>
              <p:sp>
                <p:nvSpPr>
                  <p:cNvPr id="11" name="TextBox 11"/>
                  <p:cNvSpPr txBox="1"/>
                  <p:nvPr/>
                </p:nvSpPr>
                <p:spPr>
                  <a:xfrm>
                    <a:off x="2130839" y="3636098"/>
                    <a:ext cx="695262" cy="1427527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4000" b="1" i="0">
                        <a:gradFill>
                          <a:gsLst>
                            <a:gs pos="0">
                              <a:srgbClr val="4A58DA">
                                <a:alpha val="100000"/>
                              </a:srgbClr>
                            </a:gs>
                            <a:gs pos="100000">
                              <a:srgbClr val="4A58DA">
                                <a:alpha val="100000"/>
                                <a:lumMod val="60000"/>
                                <a:lumOff val="40000"/>
                              </a:srgbClr>
                            </a:gs>
                          </a:gsLst>
                          <a:lin ang="5400000"/>
                        </a:gra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01</a:t>
                    </a:r>
                    <a:endParaRPr lang="en-US" sz="1100"/>
                  </a:p>
                </p:txBody>
              </p:sp>
            </p:grpSp>
            <p:grpSp>
              <p:nvGrpSpPr>
                <p:cNvPr id="12" name="Group 12"/>
                <p:cNvGrpSpPr/>
                <p:nvPr/>
              </p:nvGrpSpPr>
              <p:grpSpPr>
                <a:xfrm rot="0">
                  <a:off x="1803193" y="4153301"/>
                  <a:ext cx="6287327" cy="973131"/>
                  <a:chOff x="2058876" y="3636097"/>
                  <a:chExt cx="5513818" cy="1427528"/>
                </a:xfrm>
              </p:grpSpPr>
              <p:sp>
                <p:nvSpPr>
                  <p:cNvPr id="13" name="AutoShape 13"/>
                  <p:cNvSpPr/>
                  <p:nvPr/>
                </p:nvSpPr>
                <p:spPr>
                  <a:xfrm>
                    <a:off x="2058876" y="3636097"/>
                    <a:ext cx="5513818" cy="1427528"/>
                  </a:xfrm>
                  <a:prstGeom prst="roundRect">
                    <a:avLst>
                      <a:gd name="adj" fmla="val 5843"/>
                    </a:avLst>
                  </a:prstGeom>
                  <a:gradFill>
                    <a:gsLst>
                      <a:gs pos="0">
                        <a:srgbClr val="4A58DA">
                          <a:alpha val="100000"/>
                          <a:lumMod val="60000"/>
                          <a:lumOff val="40000"/>
                        </a:srgbClr>
                      </a:gs>
                      <a:gs pos="75000">
                        <a:srgbClr val="4A58DA">
                          <a:alpha val="100000"/>
                        </a:srgbClr>
                      </a:gs>
                    </a:gsLst>
                    <a:lin ang="2700000"/>
                  </a:gra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4" name="TextBox 14"/>
                  <p:cNvSpPr txBox="1"/>
                  <p:nvPr/>
                </p:nvSpPr>
                <p:spPr>
                  <a:xfrm>
                    <a:off x="3132675" y="4322359"/>
                    <a:ext cx="3872480" cy="707886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0000" tIns="46800" rIns="90000" bIns="46800" rtlCol="0" anchor="t" anchorCtr="0"/>
                  <a:lstStyle/>
                  <a:p>
                    <a:pPr algn="l">
                      <a:lnSpc>
                        <a:spcPct val="120000"/>
                      </a:lnSpc>
                      <a:spcBef>
                        <a:spcPts val="0"/>
                      </a:spcBef>
                      <a:defRPr/>
                    </a:pPr>
                    <a:r>
                      <a:rPr lang="en-US" sz="1200" b="0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首先开发简历优化和模拟面试功能，确保核心价值。</a:t>
                    </a:r>
                    <a:endParaRPr lang="en-US" sz="1100"/>
                  </a:p>
                </p:txBody>
              </p:sp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3132675" y="3746239"/>
                    <a:ext cx="3872480" cy="576120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l">
                      <a:spcBef>
                        <a:spcPts val="0"/>
                      </a:spcBef>
                      <a:defRPr/>
                    </a:pPr>
                    <a:r>
                      <a:rPr lang="en-US" sz="1800" b="1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功能开发优先级</a:t>
                    </a:r>
                    <a:endParaRPr lang="en-US" sz="1100"/>
                  </a:p>
                </p:txBody>
              </p:sp>
              <p:sp>
                <p:nvSpPr>
                  <p:cNvPr id="16" name="TextBox 16"/>
                  <p:cNvSpPr txBox="1"/>
                  <p:nvPr/>
                </p:nvSpPr>
                <p:spPr>
                  <a:xfrm>
                    <a:off x="2130839" y="3636098"/>
                    <a:ext cx="695262" cy="1427527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4000" b="1" i="0">
                        <a:solidFill>
                          <a:srgbClr val="FFFFF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02</a:t>
                    </a:r>
                    <a:endParaRPr lang="en-US" sz="1100"/>
                  </a:p>
                </p:txBody>
              </p:sp>
            </p:grpSp>
            <p:grpSp>
              <p:nvGrpSpPr>
                <p:cNvPr id="17" name="Group 17"/>
                <p:cNvGrpSpPr/>
                <p:nvPr/>
              </p:nvGrpSpPr>
              <p:grpSpPr>
                <a:xfrm rot="0">
                  <a:off x="2945986" y="3145634"/>
                  <a:ext cx="6287327" cy="973131"/>
                  <a:chOff x="2058876" y="3636097"/>
                  <a:chExt cx="5513818" cy="1427528"/>
                </a:xfrm>
              </p:grpSpPr>
              <p:sp>
                <p:nvSpPr>
                  <p:cNvPr id="18" name="AutoShape 18"/>
                  <p:cNvSpPr/>
                  <p:nvPr/>
                </p:nvSpPr>
                <p:spPr>
                  <a:xfrm>
                    <a:off x="2058876" y="3636097"/>
                    <a:ext cx="5513818" cy="1427528"/>
                  </a:xfrm>
                  <a:prstGeom prst="roundRect">
                    <a:avLst>
                      <a:gd name="adj" fmla="val 5843"/>
                    </a:avLst>
                  </a:prstGeom>
                  <a:gradFill>
                    <a:gsLst>
                      <a:gs pos="0">
                        <a:srgbClr val="4A58DA">
                          <a:alpha val="20000"/>
                        </a:srgbClr>
                      </a:gs>
                      <a:gs pos="87999">
                        <a:srgbClr val="FFFFFF">
                          <a:alpha val="0"/>
                        </a:srgbClr>
                      </a:gs>
                    </a:gsLst>
                    <a:lin ang="5400000"/>
                  </a:gradFill>
                  <a:ln w="12700">
                    <a:gradFill>
                      <a:gsLst>
                        <a:gs pos="0">
                          <a:srgbClr val="4A58DA">
                            <a:alpha val="0"/>
                          </a:srgbClr>
                        </a:gs>
                        <a:gs pos="100000">
                          <a:srgbClr val="4A58DA">
                            <a:alpha val="100000"/>
                          </a:srgbClr>
                        </a:gs>
                      </a:gsLst>
                      <a:lin ang="5400000"/>
                    </a:gradFill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3132675" y="4322359"/>
                    <a:ext cx="3872480" cy="707886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0000" tIns="46800" rIns="90000" bIns="46800" rtlCol="0" anchor="t" anchorCtr="0"/>
                  <a:lstStyle/>
                  <a:p>
                    <a:pPr algn="l">
                      <a:lnSpc>
                        <a:spcPct val="120000"/>
                      </a:lnSpc>
                      <a:spcBef>
                        <a:spcPts val="0"/>
                      </a:spcBef>
                      <a:defRPr/>
                    </a:pPr>
                    <a:r>
                      <a:rPr lang="en-US" sz="1200" b="0" i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在MVP阶段积累500-1000名种子用户，用于深度运营和产品迭代。</a:t>
                    </a:r>
                    <a:endParaRPr lang="en-US" sz="1100"/>
                  </a:p>
                </p:txBody>
              </p:sp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3132675" y="3746239"/>
                    <a:ext cx="3872480" cy="576120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l">
                      <a:spcBef>
                        <a:spcPts val="0"/>
                      </a:spcBef>
                      <a:defRPr/>
                    </a:pPr>
                    <a:r>
                      <a:rPr lang="en-US" sz="1800" b="1" i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种子用户获取</a:t>
                    </a:r>
                    <a:endParaRPr lang="en-US" sz="1100"/>
                  </a:p>
                </p:txBody>
              </p:sp>
              <p:sp>
                <p:nvSpPr>
                  <p:cNvPr id="21" name="TextBox 21"/>
                  <p:cNvSpPr txBox="1"/>
                  <p:nvPr/>
                </p:nvSpPr>
                <p:spPr>
                  <a:xfrm>
                    <a:off x="2130839" y="3636098"/>
                    <a:ext cx="695262" cy="1427527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4000" b="1" i="0">
                        <a:gradFill>
                          <a:gsLst>
                            <a:gs pos="0">
                              <a:srgbClr val="4A58DA">
                                <a:alpha val="100000"/>
                              </a:srgbClr>
                            </a:gs>
                            <a:gs pos="100000">
                              <a:srgbClr val="4A58DA">
                                <a:alpha val="100000"/>
                                <a:lumMod val="60000"/>
                                <a:lumOff val="40000"/>
                              </a:srgbClr>
                            </a:gs>
                          </a:gsLst>
                          <a:lin ang="5400000"/>
                        </a:gra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03</a:t>
                    </a:r>
                    <a:endParaRPr lang="en-US" sz="1100"/>
                  </a:p>
                </p:txBody>
              </p:sp>
            </p:grpSp>
            <p:grpSp>
              <p:nvGrpSpPr>
                <p:cNvPr id="22" name="Group 22"/>
                <p:cNvGrpSpPr/>
                <p:nvPr/>
              </p:nvGrpSpPr>
              <p:grpSpPr>
                <a:xfrm rot="0">
                  <a:off x="4088779" y="2137967"/>
                  <a:ext cx="6287327" cy="973131"/>
                  <a:chOff x="2058876" y="3636097"/>
                  <a:chExt cx="5513818" cy="1427528"/>
                </a:xfrm>
              </p:grpSpPr>
              <p:sp>
                <p:nvSpPr>
                  <p:cNvPr id="23" name="AutoShape 23"/>
                  <p:cNvSpPr/>
                  <p:nvPr/>
                </p:nvSpPr>
                <p:spPr>
                  <a:xfrm>
                    <a:off x="2058876" y="3636097"/>
                    <a:ext cx="5513818" cy="1427528"/>
                  </a:xfrm>
                  <a:prstGeom prst="roundRect">
                    <a:avLst>
                      <a:gd name="adj" fmla="val 5843"/>
                    </a:avLst>
                  </a:prstGeom>
                  <a:gradFill>
                    <a:gsLst>
                      <a:gs pos="0">
                        <a:srgbClr val="DCDCDC">
                          <a:alpha val="100000"/>
                          <a:lumMod val="60000"/>
                          <a:lumOff val="40000"/>
                        </a:srgbClr>
                      </a:gs>
                      <a:gs pos="75000">
                        <a:srgbClr val="DCDCDC">
                          <a:alpha val="100000"/>
                        </a:srgbClr>
                      </a:gs>
                    </a:gsLst>
                    <a:lin ang="2700000"/>
                  </a:gra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4" name="TextBox 24"/>
                  <p:cNvSpPr txBox="1"/>
                  <p:nvPr/>
                </p:nvSpPr>
                <p:spPr>
                  <a:xfrm>
                    <a:off x="3132675" y="4322359"/>
                    <a:ext cx="3872480" cy="707886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0000" tIns="46800" rIns="90000" bIns="46800" rtlCol="0" anchor="t" anchorCtr="0"/>
                  <a:lstStyle/>
                  <a:p>
                    <a:pPr algn="l">
                      <a:lnSpc>
                        <a:spcPct val="120000"/>
                      </a:lnSpc>
                      <a:spcBef>
                        <a:spcPts val="0"/>
                      </a:spcBef>
                      <a:defRPr/>
                    </a:pPr>
                    <a:r>
                      <a:rPr lang="en-US" sz="1200" b="0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重点关注用户转化、付费转化、客单价和LTV/CAC比值。</a:t>
                    </a:r>
                    <a:endParaRPr lang="en-US" sz="1100"/>
                  </a:p>
                </p:txBody>
              </p:sp>
              <p:sp>
                <p:nvSpPr>
                  <p:cNvPr id="25" name="TextBox 25"/>
                  <p:cNvSpPr txBox="1"/>
                  <p:nvPr/>
                </p:nvSpPr>
                <p:spPr>
                  <a:xfrm>
                    <a:off x="3132675" y="3746239"/>
                    <a:ext cx="3872480" cy="576120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l">
                      <a:spcBef>
                        <a:spcPts val="0"/>
                      </a:spcBef>
                      <a:defRPr/>
                    </a:pPr>
                    <a:r>
                      <a:rPr lang="en-US" sz="1800" b="1" i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核心指标验证</a:t>
                    </a:r>
                    <a:endParaRPr lang="en-US" sz="1100"/>
                  </a:p>
                </p:txBody>
              </p:sp>
              <p:sp>
                <p:nvSpPr>
                  <p:cNvPr id="26" name="TextBox 26"/>
                  <p:cNvSpPr txBox="1"/>
                  <p:nvPr/>
                </p:nvSpPr>
                <p:spPr>
                  <a:xfrm>
                    <a:off x="2130839" y="3636098"/>
                    <a:ext cx="695262" cy="1427527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non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4000" b="1" i="0">
                        <a:solidFill>
                          <a:srgbClr val="FFFFF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rPr>
                      <a:t>04</a:t>
                    </a:r>
                    <a:endParaRPr lang="en-US" sz="1100"/>
                  </a:p>
                </p:txBody>
              </p:sp>
            </p:grpSp>
          </p:grpSp>
          <p:sp>
            <p:nvSpPr>
              <p:cNvPr id="27" name="AutoShape 27"/>
              <p:cNvSpPr/>
              <p:nvPr/>
            </p:nvSpPr>
            <p:spPr>
              <a:xfrm rot="10800000" flipH="1" flipV="1">
                <a:off x="894412" y="4432300"/>
                <a:ext cx="687364" cy="505658"/>
              </a:xfrm>
              <a:custGeom>
                <a:avLst/>
                <a:gdLst/>
                <a:ahLst/>
                <a:cxnLst/>
                <a:rect l="l" t="t" r="r" b="b"/>
                <a:pathLst>
                  <a:path w="2349500" h="1728406">
                    <a:moveTo>
                      <a:pt x="1339850" y="0"/>
                    </a:moveTo>
                    <a:lnTo>
                      <a:pt x="2349500" y="655574"/>
                    </a:lnTo>
                    <a:lnTo>
                      <a:pt x="1339850" y="1311148"/>
                    </a:lnTo>
                    <a:lnTo>
                      <a:pt x="1339850" y="964867"/>
                    </a:lnTo>
                    <a:lnTo>
                      <a:pt x="1264968" y="976295"/>
                    </a:lnTo>
                    <a:cubicBezTo>
                      <a:pt x="906898" y="1049567"/>
                      <a:pt x="631207" y="1348992"/>
                      <a:pt x="593649" y="1718815"/>
                    </a:cubicBezTo>
                    <a:lnTo>
                      <a:pt x="593165" y="1728406"/>
                    </a:lnTo>
                    <a:lnTo>
                      <a:pt x="0" y="1728406"/>
                    </a:lnTo>
                    <a:lnTo>
                      <a:pt x="0" y="1679387"/>
                    </a:lnTo>
                    <a:cubicBezTo>
                      <a:pt x="0" y="956135"/>
                      <a:pt x="586311" y="369824"/>
                      <a:pt x="1309563" y="369824"/>
                    </a:cubicBezTo>
                    <a:lnTo>
                      <a:pt x="1339850" y="369824"/>
                    </a:lnTo>
                    <a:close/>
                  </a:path>
                </a:pathLst>
              </a:cu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8" name="AutoShape 28"/>
              <p:cNvSpPr/>
              <p:nvPr/>
            </p:nvSpPr>
            <p:spPr>
              <a:xfrm rot="10800000" flipH="1" flipV="1">
                <a:off x="2083831" y="3388565"/>
                <a:ext cx="687364" cy="505658"/>
              </a:xfrm>
              <a:custGeom>
                <a:avLst/>
                <a:gdLst/>
                <a:ahLst/>
                <a:cxnLst/>
                <a:rect l="l" t="t" r="r" b="b"/>
                <a:pathLst>
                  <a:path w="2349500" h="1728406">
                    <a:moveTo>
                      <a:pt x="1339850" y="0"/>
                    </a:moveTo>
                    <a:lnTo>
                      <a:pt x="2349500" y="655574"/>
                    </a:lnTo>
                    <a:lnTo>
                      <a:pt x="1339850" y="1311148"/>
                    </a:lnTo>
                    <a:lnTo>
                      <a:pt x="1339850" y="964867"/>
                    </a:lnTo>
                    <a:lnTo>
                      <a:pt x="1264968" y="976295"/>
                    </a:lnTo>
                    <a:cubicBezTo>
                      <a:pt x="906898" y="1049567"/>
                      <a:pt x="631207" y="1348992"/>
                      <a:pt x="593649" y="1718815"/>
                    </a:cubicBezTo>
                    <a:lnTo>
                      <a:pt x="593165" y="1728406"/>
                    </a:lnTo>
                    <a:lnTo>
                      <a:pt x="0" y="1728406"/>
                    </a:lnTo>
                    <a:lnTo>
                      <a:pt x="0" y="1679387"/>
                    </a:lnTo>
                    <a:cubicBezTo>
                      <a:pt x="0" y="956135"/>
                      <a:pt x="586311" y="369824"/>
                      <a:pt x="1309563" y="369824"/>
                    </a:cubicBezTo>
                    <a:lnTo>
                      <a:pt x="1339850" y="369824"/>
                    </a:lnTo>
                    <a:close/>
                  </a:path>
                </a:pathLst>
              </a:cu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9" name="AutoShape 29"/>
              <p:cNvSpPr/>
              <p:nvPr/>
            </p:nvSpPr>
            <p:spPr>
              <a:xfrm rot="10800000" flipH="1" flipV="1">
                <a:off x="3273250" y="2344830"/>
                <a:ext cx="687364" cy="505658"/>
              </a:xfrm>
              <a:custGeom>
                <a:avLst/>
                <a:gdLst/>
                <a:ahLst/>
                <a:cxnLst/>
                <a:rect l="l" t="t" r="r" b="b"/>
                <a:pathLst>
                  <a:path w="2349500" h="1728406">
                    <a:moveTo>
                      <a:pt x="1339850" y="0"/>
                    </a:moveTo>
                    <a:lnTo>
                      <a:pt x="2349500" y="655574"/>
                    </a:lnTo>
                    <a:lnTo>
                      <a:pt x="1339850" y="1311148"/>
                    </a:lnTo>
                    <a:lnTo>
                      <a:pt x="1339850" y="964867"/>
                    </a:lnTo>
                    <a:lnTo>
                      <a:pt x="1264968" y="976295"/>
                    </a:lnTo>
                    <a:cubicBezTo>
                      <a:pt x="906898" y="1049567"/>
                      <a:pt x="631207" y="1348992"/>
                      <a:pt x="593649" y="1718815"/>
                    </a:cubicBezTo>
                    <a:lnTo>
                      <a:pt x="593165" y="1728406"/>
                    </a:lnTo>
                    <a:lnTo>
                      <a:pt x="0" y="1728406"/>
                    </a:lnTo>
                    <a:lnTo>
                      <a:pt x="0" y="1679387"/>
                    </a:lnTo>
                    <a:cubicBezTo>
                      <a:pt x="0" y="956135"/>
                      <a:pt x="586311" y="369824"/>
                      <a:pt x="1309563" y="369824"/>
                    </a:cubicBezTo>
                    <a:lnTo>
                      <a:pt x="1339850" y="369824"/>
                    </a:lnTo>
                    <a:close/>
                  </a:path>
                </a:pathLst>
              </a:custGeom>
              <a:solidFill>
                <a:srgbClr val="76839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sp>
        <p:nvSpPr>
          <p:cNvPr id="30" name="TextBox 3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MVP阶段规划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40990e7-096b-492e-9523-8be97559093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551950" y="1130300"/>
            <a:ext cx="11093098" cy="4826668"/>
            <a:chOff x="551950" y="1130300"/>
            <a:chExt cx="11093098" cy="4826668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 rot="10800000" flipH="1">
              <a:off x="2384266" y="1959114"/>
              <a:ext cx="7421880" cy="2282320"/>
            </a:xfrm>
            <a:prstGeom prst="donut">
              <a:avLst>
                <a:gd name="adj" fmla="val 12561"/>
              </a:avLst>
            </a:prstGeom>
            <a:gradFill>
              <a:gsLst>
                <a:gs pos="34999">
                  <a:srgbClr val="4A58DA">
                    <a:alpha val="0"/>
                    <a:lumMod val="0"/>
                    <a:lumOff val="100000"/>
                  </a:srgbClr>
                </a:gs>
                <a:gs pos="100000">
                  <a:srgbClr val="4A58DA">
                    <a:alpha val="10196"/>
                  </a:srgbClr>
                </a:gs>
              </a:gsLst>
              <a:lin ang="162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>
              <p:custDataLst>
                <p:tags r:id="rId3"/>
              </p:custDataLst>
            </p:nvPr>
          </p:nvSpPr>
          <p:spPr>
            <a:xfrm rot="6360000">
              <a:off x="2936122" y="3479325"/>
              <a:ext cx="171711" cy="171711"/>
            </a:xfrm>
            <a:prstGeom prst="flowChartExtract">
              <a:avLst/>
            </a:prstGeom>
            <a:solidFill>
              <a:srgbClr val="DCDCDC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>
              <p:custDataLst>
                <p:tags r:id="rId4"/>
              </p:custDataLst>
            </p:nvPr>
          </p:nvSpPr>
          <p:spPr>
            <a:xfrm rot="5400000">
              <a:off x="6003794" y="4008729"/>
              <a:ext cx="171711" cy="171711"/>
            </a:xfrm>
            <a:prstGeom prst="flowChartExtract">
              <a:avLst/>
            </a:prstGeom>
            <a:solidFill>
              <a:srgbClr val="DCDCDC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>
              <p:custDataLst>
                <p:tags r:id="rId5"/>
              </p:custDataLst>
            </p:nvPr>
          </p:nvSpPr>
          <p:spPr>
            <a:xfrm rot="3360000">
              <a:off x="9151506" y="3454222"/>
              <a:ext cx="171711" cy="171711"/>
            </a:xfrm>
            <a:prstGeom prst="flowChartExtract">
              <a:avLst/>
            </a:prstGeom>
            <a:solidFill>
              <a:srgbClr val="DCDCDC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>
              <p:custDataLst>
                <p:tags r:id="rId6"/>
              </p:custDataLst>
            </p:nvPr>
          </p:nvSpPr>
          <p:spPr>
            <a:xfrm>
              <a:off x="2941254" y="4241435"/>
              <a:ext cx="0" cy="1221840"/>
            </a:xfrm>
            <a:prstGeom prst="line">
              <a:avLst/>
            </a:prstGeom>
            <a:ln w="3175">
              <a:solidFill>
                <a:srgbClr val="FFFFFF">
                  <a:alpha val="100000"/>
                  <a:lumMod val="75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>
              <p:custDataLst>
                <p:tags r:id="rId7"/>
              </p:custDataLst>
            </p:nvPr>
          </p:nvSpPr>
          <p:spPr>
            <a:xfrm>
              <a:off x="9250746" y="4241435"/>
              <a:ext cx="0" cy="1221840"/>
            </a:xfrm>
            <a:prstGeom prst="line">
              <a:avLst/>
            </a:prstGeom>
            <a:ln w="3175">
              <a:solidFill>
                <a:srgbClr val="FFFFFF">
                  <a:alpha val="100000"/>
                  <a:lumMod val="75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87027" y="1130300"/>
              <a:ext cx="9017946" cy="61846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b" anchorCtr="0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四阶段规划，稳步前行</a:t>
              </a:r>
              <a:endParaRPr lang="en-US" sz="1100"/>
            </a:p>
          </p:txBody>
        </p:sp>
        <p:grpSp>
          <p:nvGrpSpPr>
            <p:cNvPr id="11" name="Group 11"/>
            <p:cNvGrpSpPr/>
            <p:nvPr/>
          </p:nvGrpSpPr>
          <p:grpSpPr>
            <a:xfrm rot="0">
              <a:off x="551950" y="2393638"/>
              <a:ext cx="2329907" cy="3253105"/>
              <a:chOff x="551950" y="2393638"/>
              <a:chExt cx="2329907" cy="3253105"/>
            </a:xfrm>
          </p:grpSpPr>
          <p:sp>
            <p:nvSpPr>
              <p:cNvPr id="1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228998" y="2393638"/>
                <a:ext cx="975814" cy="975814"/>
              </a:xfrm>
              <a:prstGeom prst="ellipse">
                <a:avLst/>
              </a:prstGeom>
              <a:solidFill>
                <a:srgbClr val="4A58D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51950" y="4420578"/>
                <a:ext cx="2329907" cy="5498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4A58DA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MVP验证期</a:t>
                </a:r>
                <a:endParaRPr lang="en-US" sz="1800" b="1" i="0">
                  <a:solidFill>
                    <a:srgbClr val="4A58DA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51950" y="4982533"/>
                <a:ext cx="2329815" cy="6642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0-6个月</a:t>
                </a:r>
                <a:endParaRPr lang="en-US" sz="12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完成产品开发获取</a:t>
                </a:r>
                <a:endParaRPr lang="en-US" sz="12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500+用户</a:t>
                </a:r>
                <a:endParaRPr lang="zh-CN" alt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3473013" y="3297675"/>
              <a:ext cx="2329910" cy="2659293"/>
              <a:chOff x="3473013" y="3297675"/>
              <a:chExt cx="2329910" cy="2659293"/>
            </a:xfrm>
          </p:grpSpPr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150061" y="3297675"/>
                <a:ext cx="975814" cy="975814"/>
              </a:xfrm>
              <a:prstGeom prst="ellipse">
                <a:avLst/>
              </a:prstGeom>
              <a:solidFill>
                <a:srgbClr val="DCDC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3473013" y="4420578"/>
                <a:ext cx="2329907" cy="5498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4A58DA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产品优化期</a:t>
                </a:r>
                <a:endParaRPr lang="en-US" sz="1800" b="1" i="0">
                  <a:solidFill>
                    <a:srgbClr val="4A58D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3473015" y="4982692"/>
                <a:ext cx="2329908" cy="97427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7-12个月</a:t>
                </a:r>
                <a:endParaRPr lang="en-US" sz="12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用户规模破5000</a:t>
                </a:r>
                <a:endParaRPr lang="en-US" sz="12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月收入突破30万</a:t>
                </a:r>
                <a:endParaRPr lang="en-US" sz="12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优化产品体验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6394076" y="3357681"/>
              <a:ext cx="2329910" cy="2599287"/>
              <a:chOff x="6394076" y="3357681"/>
              <a:chExt cx="2329910" cy="2599287"/>
            </a:xfrm>
          </p:grpSpPr>
          <p:sp>
            <p:nvSpPr>
              <p:cNvPr id="20" name="TextBox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071124" y="3357681"/>
                <a:ext cx="975814" cy="975814"/>
              </a:xfrm>
              <a:prstGeom prst="ellipse">
                <a:avLst/>
              </a:prstGeom>
              <a:solidFill>
                <a:srgbClr val="4A58D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394076" y="4420578"/>
                <a:ext cx="2329907" cy="5498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4A58DA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规模化增长期</a:t>
                </a:r>
                <a:endParaRPr lang="en-US" sz="1800" b="1" i="0">
                  <a:solidFill>
                    <a:srgbClr val="4A58D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394078" y="4982692"/>
                <a:ext cx="2329908" cy="97427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13-24个月，用户规模破2万，月收入破150万，实现单月盈亏平衡。</a:t>
                </a:r>
                <a:endParaRPr lang="en-US" sz="11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9315138" y="2377142"/>
              <a:ext cx="2329910" cy="3579826"/>
              <a:chOff x="9315138" y="2377142"/>
              <a:chExt cx="2329910" cy="3579826"/>
            </a:xfrm>
          </p:grpSpPr>
          <p:sp>
            <p:nvSpPr>
              <p:cNvPr id="24" name="TextBox 2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9992186" y="2377142"/>
                <a:ext cx="975814" cy="975814"/>
              </a:xfrm>
              <a:prstGeom prst="ellipse">
                <a:avLst/>
              </a:prstGeom>
              <a:solidFill>
                <a:srgbClr val="DCDCD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9315138" y="4420578"/>
                <a:ext cx="2329907" cy="5498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4A58DA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生态扩展期</a:t>
                </a:r>
                <a:endParaRPr lang="en-US" sz="1800" b="1" i="0">
                  <a:solidFill>
                    <a:srgbClr val="4A58DA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6" name="TextBox 26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9315140" y="4982692"/>
                <a:ext cx="2329908" cy="97427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25个月+，拓展服务边界，深化企业合作，建立行业品牌壁垒。</a:t>
                </a:r>
                <a:endParaRPr lang="en-US" sz="1100"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阶段性里程碑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2f88cb2-3e3c-4a53-9f44-29c13381ea77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400" y="1130300"/>
            <a:ext cx="10858500" cy="4758476"/>
            <a:chOff x="660400" y="1130300"/>
            <a:chExt cx="10858500" cy="4758476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 flipV="1">
              <a:off x="3576734" y="2937557"/>
              <a:ext cx="5219797" cy="1"/>
            </a:xfrm>
            <a:prstGeom prst="line">
              <a:avLst/>
            </a:prstGeom>
            <a:ln w="12700">
              <a:solidFill>
                <a:srgbClr val="768394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2426677" y="2632056"/>
              <a:ext cx="2145323" cy="3160005"/>
              <a:chOff x="2426677" y="2632056"/>
              <a:chExt cx="2145323" cy="3160005"/>
            </a:xfrm>
          </p:grpSpPr>
          <p:sp>
            <p:nvSpPr>
              <p:cNvPr id="6" name="TextBox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426677" y="3693630"/>
                <a:ext cx="2145321" cy="4717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市场容量巨大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426678" y="4172284"/>
                <a:ext cx="2145322" cy="161977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就业服务市场持续增长，求职者痛点明确，商业空间广阔。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227953" y="2632056"/>
                <a:ext cx="624261" cy="609591"/>
              </a:xfrm>
              <a:prstGeom prst="roundRect">
                <a:avLst>
                  <a:gd name="adj" fmla="val 12000"/>
                </a:avLst>
              </a:prstGeom>
              <a:solidFill>
                <a:srgbClr val="4A58D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01</a:t>
                </a:r>
                <a:endParaRPr lang="en-US" sz="1100"/>
              </a:p>
            </p:txBody>
          </p:sp>
        </p:grpSp>
        <p:sp>
          <p:nvSpPr>
            <p:cNvPr id="9" name="AutoShape 9"/>
            <p:cNvSpPr/>
            <p:nvPr>
              <p:custDataLst>
                <p:tags r:id="rId6"/>
              </p:custDataLst>
            </p:nvPr>
          </p:nvSpPr>
          <p:spPr>
            <a:xfrm>
              <a:off x="2322003" y="3602493"/>
              <a:ext cx="2339714" cy="2286283"/>
            </a:xfrm>
            <a:prstGeom prst="roundRect">
              <a:avLst>
                <a:gd name="adj" fmla="val 4000"/>
              </a:avLst>
            </a:prstGeom>
            <a:ln w="12700">
              <a:solidFill>
                <a:srgbClr val="768394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0" name="Group 10"/>
            <p:cNvGrpSpPr/>
            <p:nvPr/>
          </p:nvGrpSpPr>
          <p:grpSpPr>
            <a:xfrm rot="0">
              <a:off x="5166829" y="2621069"/>
              <a:ext cx="2145323" cy="3170992"/>
              <a:chOff x="5166829" y="2621069"/>
              <a:chExt cx="2145323" cy="3170992"/>
            </a:xfrm>
          </p:grpSpPr>
          <p:sp>
            <p:nvSpPr>
              <p:cNvPr id="11" name="TextBox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919881" y="2621069"/>
                <a:ext cx="624261" cy="609591"/>
              </a:xfrm>
              <a:prstGeom prst="roundRect">
                <a:avLst>
                  <a:gd name="adj" fmla="val 12000"/>
                </a:avLst>
              </a:prstGeom>
              <a:solidFill>
                <a:srgbClr val="768394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ptos"/>
                    <a:ea typeface="Aptos"/>
                    <a:cs typeface="Aptos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166829" y="3693630"/>
                <a:ext cx="2145321" cy="4717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模式优势明显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166830" y="4172284"/>
                <a:ext cx="2145322" cy="161977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全流程AI赋能和先服务后付费模式具备独特竞争力。</a:t>
                </a:r>
                <a:endParaRPr lang="en-US" sz="1100"/>
              </a:p>
            </p:txBody>
          </p:sp>
        </p:grpSp>
        <p:sp>
          <p:nvSpPr>
            <p:cNvPr id="14" name="AutoShape 14"/>
            <p:cNvSpPr/>
            <p:nvPr>
              <p:custDataLst>
                <p:tags r:id="rId10"/>
              </p:custDataLst>
            </p:nvPr>
          </p:nvSpPr>
          <p:spPr>
            <a:xfrm>
              <a:off x="5062155" y="3602493"/>
              <a:ext cx="2339714" cy="2286283"/>
            </a:xfrm>
            <a:prstGeom prst="roundRect">
              <a:avLst>
                <a:gd name="adj" fmla="val 4000"/>
              </a:avLst>
            </a:prstGeom>
            <a:ln w="12700">
              <a:solidFill>
                <a:srgbClr val="768394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5" name="Group 15"/>
            <p:cNvGrpSpPr/>
            <p:nvPr/>
          </p:nvGrpSpPr>
          <p:grpSpPr>
            <a:xfrm rot="0">
              <a:off x="7906982" y="2621069"/>
              <a:ext cx="2145322" cy="3170992"/>
              <a:chOff x="7906982" y="2621069"/>
              <a:chExt cx="2145322" cy="3170992"/>
            </a:xfrm>
          </p:grpSpPr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660033" y="2621069"/>
                <a:ext cx="624261" cy="609591"/>
              </a:xfrm>
              <a:prstGeom prst="roundRect">
                <a:avLst>
                  <a:gd name="adj" fmla="val 12000"/>
                </a:avLst>
              </a:prstGeom>
              <a:solidFill>
                <a:srgbClr val="4A58D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  <a:lumMod val="100000"/>
                      </a:srgbClr>
                    </a:solidFill>
                    <a:latin typeface="Aptos"/>
                    <a:ea typeface="Aptos"/>
                    <a:cs typeface="Aptos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906982" y="3693630"/>
                <a:ext cx="2145322" cy="4717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技术条件成熟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906982" y="4172284"/>
                <a:ext cx="2145322" cy="161977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buClrTx/>
                  <a:buSzTx/>
                  <a:buFontTx/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AI在招聘领域应用已从概念走向落地，为项目提供了技术支撑。</a:t>
                </a:r>
                <a:endParaRPr lang="en-US" sz="12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19" name="AutoShape 19"/>
            <p:cNvSpPr/>
            <p:nvPr>
              <p:custDataLst>
                <p:tags r:id="rId14"/>
              </p:custDataLst>
            </p:nvPr>
          </p:nvSpPr>
          <p:spPr>
            <a:xfrm>
              <a:off x="7802307" y="3602493"/>
              <a:ext cx="2339714" cy="2286283"/>
            </a:xfrm>
            <a:prstGeom prst="roundRect">
              <a:avLst>
                <a:gd name="adj" fmla="val 4000"/>
              </a:avLst>
            </a:prstGeom>
            <a:ln w="12700">
              <a:solidFill>
                <a:srgbClr val="768394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0400" y="1130300"/>
              <a:ext cx="10858500" cy="89373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市场广阔，模式可行</a:t>
              </a:r>
              <a:endParaRPr lang="en-US" sz="11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项目可行性总结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2438400" y="2438206"/>
            <a:ext cx="6916999" cy="3337215"/>
            <a:chOff x="2435225" y="2796981"/>
            <a:chExt cx="6916999" cy="3337215"/>
          </a:xfrm>
        </p:grpSpPr>
        <p:grpSp>
          <p:nvGrpSpPr>
            <p:cNvPr id="5" name="Group 5"/>
            <p:cNvGrpSpPr/>
            <p:nvPr/>
          </p:nvGrpSpPr>
          <p:grpSpPr>
            <a:xfrm rot="0">
              <a:off x="2435225" y="2796981"/>
              <a:ext cx="2649337" cy="3311400"/>
              <a:chOff x="2435225" y="2796981"/>
              <a:chExt cx="2649337" cy="3311400"/>
            </a:xfrm>
          </p:grpSpPr>
          <p:sp>
            <p:nvSpPr>
              <p:cNvPr id="6" name="TextBox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3308415" y="2796981"/>
                <a:ext cx="900000" cy="899996"/>
              </a:xfrm>
              <a:prstGeom prst="ellipse">
                <a:avLst/>
              </a:prstGeom>
              <a:solidFill>
                <a:srgbClr val="768394">
                  <a:alpha val="70196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0" tIns="0" rIns="0" bIns="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435225" y="3792871"/>
                <a:ext cx="2646380" cy="4616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技术实现挑战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438182" y="4254749"/>
                <a:ext cx="2646380" cy="18536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0000" tIns="90000" rIns="90000" bIns="90000" rtlCol="0" anchor="t" anchorCtr="1"/>
              <a:lstStyle/>
              <a:p>
                <a:pPr algn="ctr">
                  <a:lnSpc>
                    <a:spcPct val="120000"/>
                  </a:lnSpc>
                  <a:buClrTx/>
                  <a:buSzTx/>
                  <a:buFontTx/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AI理解复杂职场问题和个性化服务</a:t>
                </a:r>
                <a:endParaRPr lang="en-US" sz="12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705690" y="2803329"/>
              <a:ext cx="2646534" cy="3330867"/>
              <a:chOff x="6705690" y="2803329"/>
              <a:chExt cx="2646534" cy="3330867"/>
            </a:xfrm>
          </p:grpSpPr>
          <p:sp>
            <p:nvSpPr>
              <p:cNvPr id="10" name="TextBox 1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578938" y="2803329"/>
                <a:ext cx="900003" cy="900000"/>
              </a:xfrm>
              <a:prstGeom prst="ellipse">
                <a:avLst/>
              </a:prstGeom>
              <a:solidFill>
                <a:srgbClr val="4A58D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0" tIns="0" rIns="0" bIns="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705844" y="3803693"/>
                <a:ext cx="2646380" cy="4616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服务质量控制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705690" y="4280564"/>
                <a:ext cx="2646380" cy="18536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0000" tIns="90000" rIns="90000" bIns="9000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保证AI输出的稳定性和专业性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待解决</a:t>
            </a:r>
            <a:r>
              <a:rPr lang="zh-CN" alt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2800" b="1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3554963"/>
            <a:ext cx="10858500" cy="143484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</a:t>
            </a:r>
            <a:endParaRPr lang="en-US" sz="1100" i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2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3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4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5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6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7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8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9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10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11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12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13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14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15.xml><?xml version="1.0" encoding="utf-8"?>
<p:tagLst xmlns:p="http://schemas.openxmlformats.org/presentationml/2006/main">
  <p:tag name="KSO_WM_DIAGRAM_VIRTUALLY_FRAME" val="{&quot;height&quot;:411.00086614173233,&quot;left&quot;:-0.05,&quot;top&quot;:17.00000000000002,&quot;width&quot;:1050.05}"/>
</p:tagLst>
</file>

<file path=ppt/tags/tag16.xml><?xml version="1.0" encoding="utf-8"?>
<p:tagLst xmlns:p="http://schemas.openxmlformats.org/presentationml/2006/main">
  <p:tag name="KSO_WM_DIAGRAM_VIRTUALLY_FRAME" val="{&quot;height&quot;:285.7500787401575,&quot;left&quot;:51.7615748031496,&quot;top&quot;:137.2499212598425,&quot;width&quot;:855.2384251968504}"/>
</p:tagLst>
</file>

<file path=ppt/tags/tag17.xml><?xml version="1.0" encoding="utf-8"?>
<p:tagLst xmlns:p="http://schemas.openxmlformats.org/presentationml/2006/main">
  <p:tag name="KSO_WM_DIAGRAM_VIRTUALLY_FRAME" val="{&quot;height&quot;:285.7500787401575,&quot;left&quot;:51.7615748031496,&quot;top&quot;:137.2499212598425,&quot;width&quot;:855.2384251968504}"/>
</p:tagLst>
</file>

<file path=ppt/tags/tag18.xml><?xml version="1.0" encoding="utf-8"?>
<p:tagLst xmlns:p="http://schemas.openxmlformats.org/presentationml/2006/main">
  <p:tag name="KSO_WM_DIAGRAM_VIRTUALLY_FRAME" val="{&quot;height&quot;:285.7500787401575,&quot;left&quot;:51.7615748031496,&quot;top&quot;:137.2499212598425,&quot;width&quot;:855.2384251968504}"/>
</p:tagLst>
</file>

<file path=ppt/tags/tag19.xml><?xml version="1.0" encoding="utf-8"?>
<p:tagLst xmlns:p="http://schemas.openxmlformats.org/presentationml/2006/main">
  <p:tag name="KSO_WM_DIAGRAM_VIRTUALLY_FRAME" val="{&quot;height&quot;:285.7500787401575,&quot;left&quot;:51.7615748031496,&quot;top&quot;:137.2499212598425,&quot;width&quot;:855.2384251968504}"/>
</p:tagLst>
</file>

<file path=ppt/tags/tag20.xml><?xml version="1.0" encoding="utf-8"?>
<p:tagLst xmlns:p="http://schemas.openxmlformats.org/presentationml/2006/main">
  <p:tag name="KSO_WM_DIAGRAM_VIRTUALLY_FRAME" val="{&quot;height&quot;:285.7500787401575,&quot;left&quot;:51.7615748031496,&quot;top&quot;:137.2499212598425,&quot;width&quot;:855.2384251968504}"/>
</p:tagLst>
</file>

<file path=ppt/tags/tag21.xml><?xml version="1.0" encoding="utf-8"?>
<p:tagLst xmlns:p="http://schemas.openxmlformats.org/presentationml/2006/main">
  <p:tag name="KSO_WM_DIAGRAM_VIRTUALLY_FRAME" val="{&quot;height&quot;:285.7500787401575,&quot;left&quot;:51.7615748031496,&quot;top&quot;:137.2499212598425,&quot;width&quot;:855.2384251968504}"/>
</p:tagLst>
</file>

<file path=ppt/tags/tag22.xml><?xml version="1.0" encoding="utf-8"?>
<p:tagLst xmlns:p="http://schemas.openxmlformats.org/presentationml/2006/main">
  <p:tag name="KSO_WM_DIAGRAM_VIRTUALLY_FRAME" val="{&quot;height&quot;:285.7500787401575,&quot;left&quot;:51.7615748031496,&quot;top&quot;:137.2499212598425,&quot;width&quot;:855.2384251968504}"/>
</p:tagLst>
</file>

<file path=ppt/tags/tag23.xml><?xml version="1.0" encoding="utf-8"?>
<p:tagLst xmlns:p="http://schemas.openxmlformats.org/presentationml/2006/main">
  <p:tag name="KSO_WM_DIAGRAM_VIRTUALLY_FRAME" val="{&quot;height&quot;:285.7500787401575,&quot;left&quot;:51.7615748031496,&quot;top&quot;:137.2499212598425,&quot;width&quot;:855.2384251968504}"/>
</p:tagLst>
</file>

<file path=ppt/tags/tag24.xml><?xml version="1.0" encoding="utf-8"?>
<p:tagLst xmlns:p="http://schemas.openxmlformats.org/presentationml/2006/main">
  <p:tag name="KSO_WM_DIAGRAM_VIRTUALLY_FRAME" val="{&quot;height&quot;:285.7500787401575,&quot;left&quot;:51.7615748031496,&quot;top&quot;:137.2499212598425,&quot;width&quot;:855.2384251968504}"/>
</p:tagLst>
</file>

<file path=ppt/tags/tag25.xml><?xml version="1.0" encoding="utf-8"?>
<p:tagLst xmlns:p="http://schemas.openxmlformats.org/presentationml/2006/main">
  <p:tag name="KSO_WM_DIAGRAM_VIRTUALLY_FRAME" val="{&quot;height&quot;:285.7500787401575,&quot;left&quot;:51.7615748031496,&quot;top&quot;:137.2499212598425,&quot;width&quot;:855.2384251968504}"/>
</p:tagLst>
</file>

<file path=ppt/tags/tag26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27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28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29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30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31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32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33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34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35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36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37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38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39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40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41.xml><?xml version="1.0" encoding="utf-8"?>
<p:tagLst xmlns:p="http://schemas.openxmlformats.org/presentationml/2006/main">
  <p:tag name="KSO_WM_DIAGRAM_VIRTUALLY_FRAME" val="{&quot;height&quot;:401.99992125984244,&quot;left&quot;:52,&quot;top&quot;:89,&quot;width&quot;:855}"/>
</p:tagLst>
</file>

<file path=ppt/tags/tag42.xml><?xml version="1.0" encoding="utf-8"?>
<p:tagLst xmlns:p="http://schemas.openxmlformats.org/presentationml/2006/main">
  <p:tag name="KSO_WM_DIAGRAM_VIRTUALLY_FRAME" val="{&quot;height&quot;:388,&quot;left&quot;:52,&quot;top&quot;:89,&quot;width&quot;:855}"/>
</p:tagLst>
</file>

<file path=ppt/tags/tag43.xml><?xml version="1.0" encoding="utf-8"?>
<p:tagLst xmlns:p="http://schemas.openxmlformats.org/presentationml/2006/main">
  <p:tag name="KSO_WM_DIAGRAM_VIRTUALLY_FRAME" val="{&quot;height&quot;:388,&quot;left&quot;:52,&quot;top&quot;:89,&quot;width&quot;:855}"/>
</p:tagLst>
</file>

<file path=ppt/tags/tag44.xml><?xml version="1.0" encoding="utf-8"?>
<p:tagLst xmlns:p="http://schemas.openxmlformats.org/presentationml/2006/main">
  <p:tag name="KSO_WM_DIAGRAM_VIRTUALLY_FRAME" val="{&quot;height&quot;:388,&quot;left&quot;:52,&quot;top&quot;:89,&quot;width&quot;:855}"/>
</p:tagLst>
</file>

<file path=ppt/tags/tag45.xml><?xml version="1.0" encoding="utf-8"?>
<p:tagLst xmlns:p="http://schemas.openxmlformats.org/presentationml/2006/main">
  <p:tag name="KSO_WM_DIAGRAM_VIRTUALLY_FRAME" val="{&quot;height&quot;:388,&quot;left&quot;:52,&quot;top&quot;:89,&quot;width&quot;:855}"/>
</p:tagLst>
</file>

<file path=ppt/tags/tag46.xml><?xml version="1.0" encoding="utf-8"?>
<p:tagLst xmlns:p="http://schemas.openxmlformats.org/presentationml/2006/main">
  <p:tag name="KSO_WM_DIAGRAM_VIRTUALLY_FRAME" val="{&quot;height&quot;:388,&quot;left&quot;:52,&quot;top&quot;:89,&quot;width&quot;:855}"/>
</p:tagLst>
</file>

<file path=ppt/tags/tag47.xml><?xml version="1.0" encoding="utf-8"?>
<p:tagLst xmlns:p="http://schemas.openxmlformats.org/presentationml/2006/main">
  <p:tag name="KSO_WM_DIAGRAM_VIRTUALLY_FRAME" val="{&quot;height&quot;:388,&quot;left&quot;:52,&quot;top&quot;:89,&quot;width&quot;:855}"/>
</p:tagLst>
</file>

<file path=ppt/tags/tag48.xml><?xml version="1.0" encoding="utf-8"?>
<p:tagLst xmlns:p="http://schemas.openxmlformats.org/presentationml/2006/main">
  <p:tag name="KSO_WM_DIAGRAM_VIRTUALLY_FRAME" val="{&quot;height&quot;:388,&quot;left&quot;:52,&quot;top&quot;:89,&quot;width&quot;:855}"/>
</p:tagLst>
</file>

<file path=ppt/tags/tag49.xml><?xml version="1.0" encoding="utf-8"?>
<p:tagLst xmlns:p="http://schemas.openxmlformats.org/presentationml/2006/main">
  <p:tag name="KSO_WM_DIAGRAM_VIRTUALLY_FRAME" val="{&quot;height&quot;:388,&quot;left&quot;:52,&quot;top&quot;:89,&quot;width&quot;:855}"/>
</p:tagLst>
</file>

<file path=ppt/tags/tag50.xml><?xml version="1.0" encoding="utf-8"?>
<p:tagLst xmlns:p="http://schemas.openxmlformats.org/presentationml/2006/main">
  <p:tag name="KSO_WM_DIAGRAM_VIRTUALLY_FRAME" val="{&quot;height&quot;:388,&quot;left&quot;:52,&quot;top&quot;:89,&quot;width&quot;:855}"/>
</p:tagLst>
</file>

<file path=ppt/tags/tag51.xml><?xml version="1.0" encoding="utf-8"?>
<p:tagLst xmlns:p="http://schemas.openxmlformats.org/presentationml/2006/main">
  <p:tag name="KSO_WM_DIAGRAM_VIRTUALLY_FRAME" val="{&quot;height&quot;:388,&quot;left&quot;:52,&quot;top&quot;:89,&quot;width&quot;:855}"/>
</p:tagLst>
</file>

<file path=ppt/tags/tag52.xml><?xml version="1.0" encoding="utf-8"?>
<p:tagLst xmlns:p="http://schemas.openxmlformats.org/presentationml/2006/main">
  <p:tag name="KSO_WM_DIAGRAM_VIRTUALLY_FRAME" val="{&quot;height&quot;:388,&quot;left&quot;:52,&quot;top&quot;:89,&quot;width&quot;:855}"/>
</p:tagLst>
</file>

<file path=ppt/tags/tag53.xml><?xml version="1.0" encoding="utf-8"?>
<p:tagLst xmlns:p="http://schemas.openxmlformats.org/presentationml/2006/main">
  <p:tag name="KSO_WM_DIAGRAM_VIRTUALLY_FRAME" val="{&quot;height&quot;:388,&quot;left&quot;:52,&quot;top&quot;:89,&quot;width&quot;:855}"/>
</p:tagLst>
</file>

<file path=ppt/tags/tag54.xml><?xml version="1.0" encoding="utf-8"?>
<p:tagLst xmlns:p="http://schemas.openxmlformats.org/presentationml/2006/main">
  <p:tag name="KSO_WM_DIAGRAM_VIRTUALLY_FRAME" val="{&quot;height&quot;:388,&quot;left&quot;:52,&quot;top&quot;:89,&quot;width&quot;:855}"/>
</p:tagLst>
</file>

<file path=ppt/tags/tag5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5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5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5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5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6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6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6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6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6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6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6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6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6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6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7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7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7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7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7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7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7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7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7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7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8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8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8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8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8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8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8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8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8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8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9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9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9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9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9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9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9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9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9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9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0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0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0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0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0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0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0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0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0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0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1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1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1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1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1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1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1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1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1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1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2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2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2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2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2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2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2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2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2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2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3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3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3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3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3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3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3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3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3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3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4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4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4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4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4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4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4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4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4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4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5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5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5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5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5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5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5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5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5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5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6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6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6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6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6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6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6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6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6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6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7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7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7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7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7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7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7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7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7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7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8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8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8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8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8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8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8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8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8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8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9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9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9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9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9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9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9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9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9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19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0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0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0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0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0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0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0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0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0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0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1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1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1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1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1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1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1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1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1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1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2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2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2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2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2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2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2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2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2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2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3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3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3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3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3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3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3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3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3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3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4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4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4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4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4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4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4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4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4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4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5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5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5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5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5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5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5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5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5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5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60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61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62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63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64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65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66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67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68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69.xml><?xml version="1.0" encoding="utf-8"?>
<p:tagLst xmlns:p="http://schemas.openxmlformats.org/presentationml/2006/main">
  <p:tag name="KSO_WM_DIAGRAM_VIRTUALLY_FRAME" val="{&quot;height&quot;:450.68685039370075,&quot;left&quot;:52,&quot;top&quot;:89,&quot;width&quot;:855}"/>
</p:tagLst>
</file>

<file path=ppt/tags/tag270.xml><?xml version="1.0" encoding="utf-8"?>
<p:tagLst xmlns:p="http://schemas.openxmlformats.org/presentationml/2006/main">
  <p:tag name="KSO_WM_DIAGRAM_VIRTUALLY_FRAME" val="{&quot;height&quot;:540.0000787401575,&quot;left&quot;:0.1251181102362205,&quot;top&quot;:0,&quot;width&quot;:959.75}"/>
</p:tagLst>
</file>

<file path=ppt/tags/tag271.xml><?xml version="1.0" encoding="utf-8"?>
<p:tagLst xmlns:p="http://schemas.openxmlformats.org/presentationml/2006/main">
  <p:tag name="KSO_WM_DIAGRAM_VIRTUALLY_FRAME" val="{&quot;height&quot;:540.0000787401575,&quot;left&quot;:0.1251181102362205,&quot;top&quot;:0,&quot;width&quot;:959.75}"/>
</p:tagLst>
</file>

<file path=ppt/tags/tag272.xml><?xml version="1.0" encoding="utf-8"?>
<p:tagLst xmlns:p="http://schemas.openxmlformats.org/presentationml/2006/main">
  <p:tag name="KSO_WM_DIAGRAM_VIRTUALLY_FRAME" val="{&quot;height&quot;:540.0000787401575,&quot;left&quot;:0.1251181102362205,&quot;top&quot;:0,&quot;width&quot;:959.75}"/>
</p:tagLst>
</file>

<file path=ppt/tags/tag273.xml><?xml version="1.0" encoding="utf-8"?>
<p:tagLst xmlns:p="http://schemas.openxmlformats.org/presentationml/2006/main">
  <p:tag name="KSO_WM_DIAGRAM_VIRTUALLY_FRAME" val="{&quot;height&quot;:540.0000787401575,&quot;left&quot;:0.1251181102362205,&quot;top&quot;:0,&quot;width&quot;:959.75}"/>
</p:tagLst>
</file>

<file path=ppt/tags/tag274.xml><?xml version="1.0" encoding="utf-8"?>
<p:tagLst xmlns:p="http://schemas.openxmlformats.org/presentationml/2006/main">
  <p:tag name="KSO_WM_DIAGRAM_VIRTUALLY_FRAME" val="{&quot;height&quot;:540.0000787401575,&quot;left&quot;:0.1251181102362205,&quot;top&quot;:0,&quot;width&quot;:959.75}"/>
</p:tagLst>
</file>

<file path=ppt/tags/tag275.xml><?xml version="1.0" encoding="utf-8"?>
<p:tagLst xmlns:p="http://schemas.openxmlformats.org/presentationml/2006/main">
  <p:tag name="KSO_WM_DIAGRAM_VIRTUALLY_FRAME" val="{&quot;height&quot;:540.0000787401575,&quot;left&quot;:0.1251181102362205,&quot;top&quot;:0,&quot;width&quot;:959.75}"/>
</p:tagLst>
</file>

<file path=ppt/tags/tag276.xml><?xml version="1.0" encoding="utf-8"?>
<p:tagLst xmlns:p="http://schemas.openxmlformats.org/presentationml/2006/main">
  <p:tag name="KSO_WM_DIAGRAM_VIRTUALLY_FRAME" val="{&quot;height&quot;:540.0000787401575,&quot;left&quot;:0.1251181102362205,&quot;top&quot;:0,&quot;width&quot;:959.75}"/>
</p:tagLst>
</file>

<file path=ppt/tags/tag277.xml><?xml version="1.0" encoding="utf-8"?>
<p:tagLst xmlns:p="http://schemas.openxmlformats.org/presentationml/2006/main">
  <p:tag name="KSO_WM_DIAGRAM_VIRTUALLY_FRAME" val="{&quot;height&quot;:540.0000787401575,&quot;left&quot;:0.1251181102362205,&quot;top&quot;:0,&quot;width&quot;:959.75}"/>
</p:tagLst>
</file>

<file path=ppt/tags/tag278.xml><?xml version="1.0" encoding="utf-8"?>
<p:tagLst xmlns:p="http://schemas.openxmlformats.org/presentationml/2006/main">
  <p:tag name="KSO_WM_DIAGRAM_VIRTUALLY_FRAME" val="{&quot;height&quot;:540.0000787401575,&quot;left&quot;:0.1251181102362205,&quot;top&quot;:0,&quot;width&quot;:959.75}"/>
</p:tagLst>
</file>

<file path=ppt/tags/tag279.xml><?xml version="1.0" encoding="utf-8"?>
<p:tagLst xmlns:p="http://schemas.openxmlformats.org/presentationml/2006/main">
  <p:tag name="KSO_WM_DIAGRAM_VIRTUALLY_FRAME" val="{&quot;height&quot;:540.0000787401575,&quot;left&quot;:0.1251181102362205,&quot;top&quot;:0,&quot;width&quot;:959.75}"/>
</p:tagLst>
</file>

<file path=ppt/tags/tag280.xml><?xml version="1.0" encoding="utf-8"?>
<p:tagLst xmlns:p="http://schemas.openxmlformats.org/presentationml/2006/main">
  <p:tag name="KSO_WM_DIAGRAM_VIRTUALLY_FRAME" val="{&quot;height&quot;:540.0000787401575,&quot;left&quot;:0.1251181102362205,&quot;top&quot;:0,&quot;width&quot;:959.75}"/>
</p:tagLst>
</file>

<file path=ppt/tags/tag281.xml><?xml version="1.0" encoding="utf-8"?>
<p:tagLst xmlns:p="http://schemas.openxmlformats.org/presentationml/2006/main">
  <p:tag name="KSO_WM_DIAGRAM_VIRTUALLY_FRAME" val="{&quot;height&quot;:540.0000787401575,&quot;left&quot;:0.1251181102362205,&quot;top&quot;:0,&quot;width&quot;:959.75}"/>
</p:tagLst>
</file>

<file path=ppt/tags/tag282.xml><?xml version="1.0" encoding="utf-8"?>
<p:tagLst xmlns:p="http://schemas.openxmlformats.org/presentationml/2006/main">
  <p:tag name="KSO_WM_DIAGRAM_VIRTUALLY_FRAME" val="{&quot;height&quot;:540.0000787401575,&quot;left&quot;:0.1251181102362205,&quot;top&quot;:0,&quot;width&quot;:959.75}"/>
</p:tagLst>
</file>

<file path=ppt/tags/tag283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84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85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86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87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88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89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90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91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92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93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94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95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96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97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98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299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00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01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02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03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04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05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06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07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08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09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10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11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12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13.xml><?xml version="1.0" encoding="utf-8"?>
<p:tagLst xmlns:p="http://schemas.openxmlformats.org/presentationml/2006/main">
  <p:tag name="KSO_WM_DIAGRAM_VIRTUALLY_FRAME" val="{&quot;height&quot;:394.5729921259843,&quot;left&quot;:52,&quot;top&quot;:89,&quot;width&quot;:855.0627559055117}"/>
</p:tagLst>
</file>

<file path=ppt/tags/tag314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15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16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17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18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19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20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21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22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23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24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25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26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27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28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29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30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31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32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33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34.xml><?xml version="1.0" encoding="utf-8"?>
<p:tagLst xmlns:p="http://schemas.openxmlformats.org/presentationml/2006/main">
  <p:tag name="KSO_WM_DIAGRAM_VIRTUALLY_FRAME" val="{&quot;height&quot;:338.99992125984255,&quot;left&quot;:0,&quot;top&quot;:116.50007874015748,&quot;width&quot;:960}"/>
</p:tagLst>
</file>

<file path=ppt/tags/tag335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36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37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38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39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40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41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42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43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44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45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46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47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48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49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50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51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52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53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54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55.xml><?xml version="1.0" encoding="utf-8"?>
<p:tagLst xmlns:p="http://schemas.openxmlformats.org/presentationml/2006/main">
  <p:tag name="KSO_WM_DIAGRAM_VIRTUALLY_FRAME" val="{&quot;height&quot;:395.00007874015745,&quot;left&quot;:53,&quot;top&quot;:89,&quot;width&quot;:854}"/>
</p:tagLst>
</file>

<file path=ppt/tags/tag356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57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58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59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60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61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62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63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64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65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66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67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68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69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70.xml><?xml version="1.0" encoding="utf-8"?>
<p:tagLst xmlns:p="http://schemas.openxmlformats.org/presentationml/2006/main">
  <p:tag name="KSO_WM_DIAGRAM_VIRTUALLY_FRAME" val="{&quot;height&quot;:394,&quot;left&quot;:52,&quot;top&quot;:89,&quot;width&quot;:856.1250393700788}"/>
</p:tagLst>
</file>

<file path=ppt/tags/tag371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72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73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74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75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76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77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78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79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80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81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82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83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84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85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86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87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88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89.xml><?xml version="1.0" encoding="utf-8"?>
<p:tagLst xmlns:p="http://schemas.openxmlformats.org/presentationml/2006/main">
  <p:tag name="KSO_WM_DIAGRAM_VIRTUALLY_FRAME" val="{&quot;height&quot;:380.05259842519683,&quot;left&quot;:43.46062992125984,&quot;top&quot;:89,&quot;width&quot;:873.4722834645669}"/>
</p:tagLst>
</file>

<file path=ppt/tags/tag390.xml><?xml version="1.0" encoding="utf-8"?>
<p:tagLst xmlns:p="http://schemas.openxmlformats.org/presentationml/2006/main">
  <p:tag name="KSO_WM_DIAGRAM_VIRTUALLY_FRAME" val="{&quot;height&quot;:374.68314960629925,&quot;left&quot;:52,&quot;top&quot;:89,&quot;width&quot;:855}"/>
</p:tagLst>
</file>

<file path=ppt/tags/tag391.xml><?xml version="1.0" encoding="utf-8"?>
<p:tagLst xmlns:p="http://schemas.openxmlformats.org/presentationml/2006/main">
  <p:tag name="KSO_WM_DIAGRAM_VIRTUALLY_FRAME" val="{&quot;height&quot;:374.68314960629925,&quot;left&quot;:52,&quot;top&quot;:89,&quot;width&quot;:855}"/>
</p:tagLst>
</file>

<file path=ppt/tags/tag392.xml><?xml version="1.0" encoding="utf-8"?>
<p:tagLst xmlns:p="http://schemas.openxmlformats.org/presentationml/2006/main">
  <p:tag name="KSO_WM_DIAGRAM_VIRTUALLY_FRAME" val="{&quot;height&quot;:374.68314960629925,&quot;left&quot;:52,&quot;top&quot;:89,&quot;width&quot;:855}"/>
</p:tagLst>
</file>

<file path=ppt/tags/tag393.xml><?xml version="1.0" encoding="utf-8"?>
<p:tagLst xmlns:p="http://schemas.openxmlformats.org/presentationml/2006/main">
  <p:tag name="KSO_WM_DIAGRAM_VIRTUALLY_FRAME" val="{&quot;height&quot;:374.68314960629925,&quot;left&quot;:52,&quot;top&quot;:89,&quot;width&quot;:855}"/>
</p:tagLst>
</file>

<file path=ppt/tags/tag394.xml><?xml version="1.0" encoding="utf-8"?>
<p:tagLst xmlns:p="http://schemas.openxmlformats.org/presentationml/2006/main">
  <p:tag name="KSO_WM_DIAGRAM_VIRTUALLY_FRAME" val="{&quot;height&quot;:374.68314960629925,&quot;left&quot;:52,&quot;top&quot;:89,&quot;width&quot;:855}"/>
</p:tagLst>
</file>

<file path=ppt/tags/tag395.xml><?xml version="1.0" encoding="utf-8"?>
<p:tagLst xmlns:p="http://schemas.openxmlformats.org/presentationml/2006/main">
  <p:tag name="KSO_WM_DIAGRAM_VIRTUALLY_FRAME" val="{&quot;height&quot;:374.68314960629925,&quot;left&quot;:52,&quot;top&quot;:89,&quot;width&quot;:855}"/>
</p:tagLst>
</file>

<file path=ppt/tags/tag396.xml><?xml version="1.0" encoding="utf-8"?>
<p:tagLst xmlns:p="http://schemas.openxmlformats.org/presentationml/2006/main">
  <p:tag name="KSO_WM_DIAGRAM_VIRTUALLY_FRAME" val="{&quot;height&quot;:374.68314960629925,&quot;left&quot;:52,&quot;top&quot;:89,&quot;width&quot;:855}"/>
</p:tagLst>
</file>

<file path=ppt/tags/tag397.xml><?xml version="1.0" encoding="utf-8"?>
<p:tagLst xmlns:p="http://schemas.openxmlformats.org/presentationml/2006/main">
  <p:tag name="KSO_WM_DIAGRAM_VIRTUALLY_FRAME" val="{&quot;height&quot;:374.68314960629925,&quot;left&quot;:52,&quot;top&quot;:89,&quot;width&quot;:855}"/>
</p:tagLst>
</file>

<file path=ppt/tags/tag398.xml><?xml version="1.0" encoding="utf-8"?>
<p:tagLst xmlns:p="http://schemas.openxmlformats.org/presentationml/2006/main">
  <p:tag name="KSO_WM_DIAGRAM_VIRTUALLY_FRAME" val="{&quot;height&quot;:374.68314960629925,&quot;left&quot;:52,&quot;top&quot;:89,&quot;width&quot;:855}"/>
</p:tagLst>
</file>

<file path=ppt/tags/tag399.xml><?xml version="1.0" encoding="utf-8"?>
<p:tagLst xmlns:p="http://schemas.openxmlformats.org/presentationml/2006/main">
  <p:tag name="KSO_WM_DIAGRAM_VIRTUALLY_FRAME" val="{&quot;height&quot;:374.68314960629925,&quot;left&quot;:52,&quot;top&quot;:89,&quot;width&quot;:855}"/>
</p:tagLst>
</file>

<file path=ppt/tags/tag400.xml><?xml version="1.0" encoding="utf-8"?>
<p:tagLst xmlns:p="http://schemas.openxmlformats.org/presentationml/2006/main">
  <p:tag name="KSO_WM_DIAGRAM_VIRTUALLY_FRAME" val="{&quot;height&quot;:374.68314960629925,&quot;left&quot;:52,&quot;top&quot;:89,&quot;width&quot;:855}"/>
</p:tagLst>
</file>

<file path=ppt/tags/tag401.xml><?xml version="1.0" encoding="utf-8"?>
<p:tagLst xmlns:p="http://schemas.openxmlformats.org/presentationml/2006/main">
  <p:tag name="KSO_WM_DIAGRAM_VIRTUALLY_FRAME" val="{&quot;height&quot;:374.68314960629925,&quot;left&quot;:52,&quot;top&quot;:89,&quot;width&quot;:855}"/>
</p:tagLst>
</file>

<file path=ppt/tags/tag402.xml><?xml version="1.0" encoding="utf-8"?>
<p:tagLst xmlns:p="http://schemas.openxmlformats.org/presentationml/2006/main">
  <p:tag name="KSO_WM_DIAGRAM_VIRTUALLY_FRAME" val="{&quot;height&quot;:374.68314960629925,&quot;left&quot;:52,&quot;top&quot;:89,&quot;width&quot;:855}"/>
</p:tagLst>
</file>

<file path=ppt/tags/tag403.xml><?xml version="1.0" encoding="utf-8"?>
<p:tagLst xmlns:p="http://schemas.openxmlformats.org/presentationml/2006/main">
  <p:tag name="KSO_WM_DIAGRAM_VIRTUALLY_FRAME" val="{&quot;height&quot;:374.68314960629925,&quot;left&quot;:52,&quot;top&quot;:89,&quot;width&quot;:855}"/>
</p:tagLst>
</file>

<file path=ppt/tags/tag404.xml><?xml version="1.0" encoding="utf-8"?>
<p:tagLst xmlns:p="http://schemas.openxmlformats.org/presentationml/2006/main">
  <p:tag name="KSO_WM_DIAGRAM_VIRTUALLY_FRAME" val="{&quot;height&quot;:394.0075590551181,&quot;left&quot;:52,&quot;top&quot;:89,&quot;width&quot;:855}"/>
</p:tagLst>
</file>

<file path=ppt/tags/tag405.xml><?xml version="1.0" encoding="utf-8"?>
<p:tagLst xmlns:p="http://schemas.openxmlformats.org/presentationml/2006/main">
  <p:tag name="KSO_WM_DIAGRAM_VIRTUALLY_FRAME" val="{&quot;height&quot;:394.0075590551181,&quot;left&quot;:52,&quot;top&quot;:89,&quot;width&quot;:855}"/>
</p:tagLst>
</file>

<file path=ppt/tags/tag406.xml><?xml version="1.0" encoding="utf-8"?>
<p:tagLst xmlns:p="http://schemas.openxmlformats.org/presentationml/2006/main">
  <p:tag name="KSO_WM_DIAGRAM_VIRTUALLY_FRAME" val="{&quot;height&quot;:394.0075590551181,&quot;left&quot;:52,&quot;top&quot;:89,&quot;width&quot;:855}"/>
</p:tagLst>
</file>

<file path=ppt/tags/tag407.xml><?xml version="1.0" encoding="utf-8"?>
<p:tagLst xmlns:p="http://schemas.openxmlformats.org/presentationml/2006/main">
  <p:tag name="KSO_WM_DIAGRAM_VIRTUALLY_FRAME" val="{&quot;height&quot;:394.0075590551181,&quot;left&quot;:52,&quot;top&quot;:89,&quot;width&quot;:855}"/>
</p:tagLst>
</file>

<file path=ppt/tags/tag408.xml><?xml version="1.0" encoding="utf-8"?>
<p:tagLst xmlns:p="http://schemas.openxmlformats.org/presentationml/2006/main">
  <p:tag name="KSO_WM_DIAGRAM_VIRTUALLY_FRAME" val="{&quot;height&quot;:394.0075590551181,&quot;left&quot;:52,&quot;top&quot;:89,&quot;width&quot;:855}"/>
</p:tagLst>
</file>

<file path=ppt/tags/tag409.xml><?xml version="1.0" encoding="utf-8"?>
<p:tagLst xmlns:p="http://schemas.openxmlformats.org/presentationml/2006/main">
  <p:tag name="KSO_WM_DIAGRAM_VIRTUALLY_FRAME" val="{&quot;height&quot;:394.0075590551181,&quot;left&quot;:52,&quot;top&quot;:89,&quot;width&quot;:855}"/>
</p:tagLst>
</file>

<file path=ppt/tags/tag410.xml><?xml version="1.0" encoding="utf-8"?>
<p:tagLst xmlns:p="http://schemas.openxmlformats.org/presentationml/2006/main">
  <p:tag name="KSO_WM_DIAGRAM_VIRTUALLY_FRAME" val="{&quot;height&quot;:394.0075590551181,&quot;left&quot;:52,&quot;top&quot;:89,&quot;width&quot;:855}"/>
</p:tagLst>
</file>

<file path=ppt/theme/theme1.xml><?xml version="1.0" encoding="utf-8"?>
<a:theme xmlns:a="http://schemas.openxmlformats.org/drawingml/2006/main" name="2cdfc0bf-ce78-42a2-8277-54c2131dc5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2665</Words>
  <Application>WPS 演示</Application>
  <PresentationFormat>On-screen Show (4:3)</PresentationFormat>
  <Paragraphs>533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微软雅黑 Light</vt:lpstr>
      <vt:lpstr>Aptos</vt:lpstr>
      <vt:lpstr>Segoe UI</vt:lpstr>
      <vt:lpstr>2cdfc0bf-ce78-42a2-8277-54c2131dc511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Larry</cp:lastModifiedBy>
  <cp:revision>12</cp:revision>
  <dcterms:created xsi:type="dcterms:W3CDTF">2006-08-16T00:00:00Z</dcterms:created>
  <dcterms:modified xsi:type="dcterms:W3CDTF">2026-04-24T04:55:37Z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5EF484B326C446638E756482E23A7491_13</vt:lpwstr>
  </property>
</Properties>
</file>